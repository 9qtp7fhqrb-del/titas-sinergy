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8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1552" y="-2971800"/>
            <a:ext cx="5029200" cy="5029200"/>
          </a:xfrm>
          <a:prstGeom prst="ellipse">
            <a:avLst/>
          </a:prstGeom>
          <a:ln w="31750">
            <a:solidFill>
              <a:srgbClr val="3A8C4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34472" y="-2468880"/>
            <a:ext cx="4023360" cy="4023360"/>
          </a:xfrm>
          <a:prstGeom prst="ellipse">
            <a:avLst/>
          </a:prstGeom>
          <a:ln w="31750">
            <a:solidFill>
              <a:srgbClr val="5EB05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37392" y="-1965960"/>
            <a:ext cx="3017520" cy="3017520"/>
          </a:xfrm>
          <a:prstGeom prst="ellipse">
            <a:avLst/>
          </a:prstGeom>
          <a:ln w="31750">
            <a:solidFill>
              <a:srgbClr val="96C85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88920" y="5532120"/>
            <a:ext cx="4114800" cy="4114800"/>
          </a:xfrm>
          <a:prstGeom prst="ellipse">
            <a:avLst/>
          </a:prstGeom>
          <a:ln w="31750">
            <a:solidFill>
              <a:srgbClr val="3A8C4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377440" y="5943600"/>
            <a:ext cx="3291840" cy="3291840"/>
          </a:xfrm>
          <a:prstGeom prst="ellipse">
            <a:avLst/>
          </a:prstGeom>
          <a:ln w="31750">
            <a:solidFill>
              <a:srgbClr val="5EB054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965960" y="6355080"/>
            <a:ext cx="2468880" cy="2468880"/>
          </a:xfrm>
          <a:prstGeom prst="ellipse">
            <a:avLst/>
          </a:prstGeom>
          <a:ln w="31750">
            <a:solidFill>
              <a:srgbClr val="96C85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74236" y="105156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pic>
        <p:nvPicPr>
          <p:cNvPr id="9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396" y="1188720"/>
            <a:ext cx="3566160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50749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CED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DE CONSULTA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0" y="5486400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CAUTELAR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1979676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Valores, coberturas, acionamentos, franquias e regras comerciais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ESTE MATERIAL EXISTE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treinamento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3383280"/>
          </a:xfrm>
          <a:prstGeom prst="roundRect">
            <a:avLst>
              <a:gd name="adj" fmla="val 3243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6888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Alinhar toda a equipe de vendas sobre as regras corretas de venda, acionamento de sinistro e cobrança de franquia da Cautelar — evitando prejuízo para a operação e problemas para o cliente.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977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final, você saberá: quanto cobrar em cada serviço, quais documentos exigir em cada tipo de acionamento, quando (e quando não) cobrar franquia, e quais vendas são proibidas.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pic>
        <p:nvPicPr>
          <p:cNvPr id="11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REFERÊNCIA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dos serviços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2377440"/>
        </p:xfrm>
        <a:graphic>
          <a:graphicData uri="http://schemas.openxmlformats.org/drawingml/2006/table">
            <a:tbl>
              <a:tblPr/>
              <a:tblGrid>
                <a:gridCol w="539496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Percentual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 (aparelho R$ 1.000)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8C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Proteção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R$ 300,00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estendida — 1 ano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R$ 150,00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estendida — 2 anos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R$ 250,00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Franquia da proteção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R$ 200,00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501091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17320" y="4782312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cobrança de franquia para a garantia estendida — a franquia de 20% se aplica somente à proteção.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EXIGIDA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Acionamento de sinistro — Quebra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enviar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6309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560320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e do verso do celular quebrado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3127248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e do verso do documento do cliente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3694176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484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nota do celular e da proteção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0120" y="4261104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153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contrato assinado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2694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envio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2606040"/>
            <a:ext cx="502920" cy="50292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documentos devem ser enviados juntos, em um único documento PDF.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pic>
        <p:nvPicPr>
          <p:cNvPr id="27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EXIGIDA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Acionamento — Roubo, furto simples ou qualificado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enviar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6309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560320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boletim de ocorrência (com causa, IMEI e assinatura do cliente)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3127248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e do verso do documento do cliente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3694176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484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nota do celular e da proteção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0120" y="4261104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153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contrato assinado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2694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envio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2606040"/>
            <a:ext cx="502920" cy="50292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documentos devem ser enviados juntos, em um único documento PDF.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pic>
        <p:nvPicPr>
          <p:cNvPr id="27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EXIGIDA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Acionamento — Garantia estendida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enviar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6309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560320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e do verso do celular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3127248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frente e do verso do documento do cliente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3694176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484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da nota do celular e da garantia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0120" y="4261104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153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contrato assinado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2694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envio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4251960" cy="3566160"/>
          </a:xfrm>
          <a:prstGeom prst="roundRect">
            <a:avLst>
              <a:gd name="adj" fmla="val 3077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2606040"/>
            <a:ext cx="502920" cy="50292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documentos devem ser enviados juntos, em um único documento PDF.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pic>
        <p:nvPicPr>
          <p:cNvPr id="27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da garantia estendida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garantia estendida passa a valer somente após o encerramento da garantia do fabricante.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3840480"/>
            <a:ext cx="7132320" cy="0"/>
          </a:xfrm>
          <a:prstGeom prst="line">
            <a:avLst/>
          </a:prstGeom>
          <a:noFill/>
          <a:ln w="25400">
            <a:solidFill>
              <a:srgbClr val="CBD9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3383280"/>
            <a:ext cx="914400" cy="91440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01/01/2025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do celular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914400" cy="914400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2336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01/01/2026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4800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garantia do fabricante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3383280"/>
            <a:ext cx="914400" cy="914400"/>
          </a:xfrm>
          <a:prstGeom prst="ellipse">
            <a:avLst/>
          </a:prstGeom>
          <a:solidFill>
            <a:srgbClr val="96C85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364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8952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02/01/2026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4800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garantia estendida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pic>
        <p:nvPicPr>
          <p:cNvPr id="22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E COBRANÇA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Franquia da proteção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0848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lançar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47457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franquia deve ser sempre lançada no login da Cautelar: cautelar.franquia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9672" y="20848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cobrar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2450592"/>
            <a:ext cx="47457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franquia só deve ser cobrada do cliente depois da autorização da diretoria da Cautelar.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64515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4050792"/>
            <a:ext cx="99212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AGUARDAR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Aguardar a autorização evita cobrança indevida e a necessidade de estorno em casos de divergência contratual, expiração ou sinistro fora do enquadramento.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18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INCLUSO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Coberturas da proteção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199132"/>
            <a:ext cx="402336" cy="40233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965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 parcial (ex.: trinca de tela)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2199132"/>
            <a:ext cx="402336" cy="40233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 total (sem conserto)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342132"/>
            <a:ext cx="402336" cy="40233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108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Roubo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342132"/>
            <a:ext cx="402336" cy="40233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108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Furto simples e qualificado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446227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/ extravio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4828032"/>
            <a:ext cx="47457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autorizado em caso de renovação do serviço. Caso contrário, não será autorizado.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2976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480517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47868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40880" y="4370832"/>
            <a:ext cx="42976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perda total por contato com líquidos, o acionamento NÃO é autorizado (informar o cliente na venda).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pic>
        <p:nvPicPr>
          <p:cNvPr id="31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E VALORES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comerciais essenciais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130552"/>
            <a:ext cx="10369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dos contratos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103692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contratos de proteção e de garantia devem estar totalmente preenchidos, com informações corretas do cliente e do produto.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423367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776472"/>
            <a:ext cx="9921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COBRADOS NA VENDA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proibido cobrar do cliente valor superior ao referente ao produto na venda de franquia, garantia ou proteção — o sistema gera o valor correto e ele não pode ser alterado.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15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DE VENDA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Aparelhos vinculados a financeira e iPhones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0848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47457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de proteção autorizada somente para Odres Cred. O pagamento pode ser financiado no contrato ou feito de forma externa (dinheiro, PIX ou cartão).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autorizada para aparelhos vinculados a PayJoy e Parcelex.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257800" cy="3337560"/>
          </a:xfrm>
          <a:prstGeom prst="roundRect">
            <a:avLst>
              <a:gd name="adj" fmla="val 2740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338785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3369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1993392"/>
            <a:ext cx="429768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IPHONES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proibida a venda de proteção ou garantia estendida em iPhones, em qualquer condição.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15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A TROCA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Ressarcimento e uso do crédito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Cautelar garante o ressarcimento no mesmo valor investido — não necessariamente no mesmo produto. O crédito deve ser usado em um único aparelho, de valor igual ou superior. Nunca direcione o cliente para um aparelho de valor menor.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25980" y="3337560"/>
            <a:ext cx="548640" cy="54864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0" name="Text 8"/>
          <p:cNvSpPr/>
          <p:nvPr/>
        </p:nvSpPr>
        <p:spPr>
          <a:xfrm>
            <a:off x="212598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por aparelho de valor MAIOR do mesmo modelo: desconto permitido.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30632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29300" y="3337560"/>
            <a:ext cx="548640" cy="54864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4" name="Text 12"/>
          <p:cNvSpPr/>
          <p:nvPr/>
        </p:nvSpPr>
        <p:spPr>
          <a:xfrm>
            <a:off x="58293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por OUTRO modelo: valor igual, sem custo extra. Valor maior, cliente paga a diferença.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306324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2620" y="3337560"/>
            <a:ext cx="548640" cy="548640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8" name="Text 16"/>
          <p:cNvSpPr/>
          <p:nvPr/>
        </p:nvSpPr>
        <p:spPr>
          <a:xfrm>
            <a:off x="953262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75320" y="41605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Vinculado à Odres Cred: a troca só pode ser por modelos disponíveis na financeira.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 COMERCIAL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do acionamento e cancelamento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084832"/>
            <a:ext cx="10369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Priorize a margem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10369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momento do acionamento, trabalhe a conversão para produtos “Super Bonificados” ou “Bonificados” — modelos com margem mais alta.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CED65C"/>
          </a:solidFill>
          <a:ln w="15875">
            <a:solidFill>
              <a:srgbClr val="3A8C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4027932"/>
            <a:ext cx="402336" cy="402336"/>
          </a:xfrm>
          <a:prstGeom prst="ellipse">
            <a:avLst/>
          </a:prstGeom>
          <a:solidFill>
            <a:srgbClr val="3A8C4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0096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593592"/>
            <a:ext cx="99212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induza ou incentive a troca por aparelhos “Sem Margem”, mesmo de baixo giro: pode gerar despesa maior que o próprio acionamento e prejuízo direto para a Cautelar.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3F8ED"/>
          </a:solidFill>
          <a:ln w="12700">
            <a:solidFill>
              <a:srgbClr val="DCEBD2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5285232"/>
            <a:ext cx="10369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cancelamento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369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prazo de cancelamento ou desistência do contrato da Cautelar é de até 7 dias após a adesão.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1554480"/>
            <a:ext cx="2377440" cy="2377440"/>
          </a:xfrm>
          <a:prstGeom prst="ellipse">
            <a:avLst/>
          </a:prstGeom>
          <a:ln w="31750">
            <a:solidFill>
              <a:srgbClr val="3A8C4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40312" y="-1280160"/>
            <a:ext cx="1828800" cy="1828800"/>
          </a:xfrm>
          <a:prstGeom prst="ellipse">
            <a:avLst/>
          </a:prstGeom>
          <a:ln w="31750">
            <a:solidFill>
              <a:srgbClr val="5EB05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2" y="-1051560"/>
            <a:ext cx="1371600" cy="1371600"/>
          </a:xfrm>
          <a:prstGeom prst="ellipse">
            <a:avLst/>
          </a:prstGeom>
          <a:ln w="31750">
            <a:solidFill>
              <a:srgbClr val="96C85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B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TREINAMENTO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rápido antes do acionamento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92024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EDD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2194560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corretamente o tipo de sinistro (quebra, roubo/furto/extravio ou garantia estendida)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0120" y="2761488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715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se todos os documentos exigidos estão completos e legíveis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3328416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826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Junte toda a documentação em um único PDF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0120" y="3895344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8496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que o contrato está totalmente preenchido e correto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0" y="2194560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148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cobre a franquia antes da autorização da diretoria da Cautelar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83680" y="2761488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2715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as regras de elegibilidade do aparelho e do serviço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583680" y="3328416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32826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caso de crédito, utilize-o em apenas um aparelho de valor igual ou superior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583680" y="3895344"/>
            <a:ext cx="310896" cy="310896"/>
          </a:xfrm>
          <a:prstGeom prst="ellipse">
            <a:avLst/>
          </a:prstGeom>
          <a:solidFill>
            <a:srgbClr val="5EB054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384962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conversão, priorize os modelos indicados no comunicado, sem induzir a produtos sem margem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34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910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A8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1552" y="-2971800"/>
            <a:ext cx="5029200" cy="5029200"/>
          </a:xfrm>
          <a:prstGeom prst="ellipse">
            <a:avLst/>
          </a:prstGeom>
          <a:ln w="31750">
            <a:solidFill>
              <a:srgbClr val="3A8C4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34472" y="-2468880"/>
            <a:ext cx="4023360" cy="4023360"/>
          </a:xfrm>
          <a:prstGeom prst="ellipse">
            <a:avLst/>
          </a:prstGeom>
          <a:ln w="31750">
            <a:solidFill>
              <a:srgbClr val="5EB05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37392" y="-1965960"/>
            <a:ext cx="3017520" cy="3017520"/>
          </a:xfrm>
          <a:prstGeom prst="ellipse">
            <a:avLst/>
          </a:prstGeom>
          <a:ln w="31750">
            <a:solidFill>
              <a:srgbClr val="96C85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88920" y="5532120"/>
            <a:ext cx="4114800" cy="4114800"/>
          </a:xfrm>
          <a:prstGeom prst="ellipse">
            <a:avLst/>
          </a:prstGeom>
          <a:ln w="31750">
            <a:solidFill>
              <a:srgbClr val="3A8C4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377440" y="5943600"/>
            <a:ext cx="3291840" cy="3291840"/>
          </a:xfrm>
          <a:prstGeom prst="ellipse">
            <a:avLst/>
          </a:prstGeom>
          <a:ln w="31750">
            <a:solidFill>
              <a:srgbClr val="5EB054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965960" y="6355080"/>
            <a:ext cx="2468880" cy="2468880"/>
          </a:xfrm>
          <a:prstGeom prst="ellipse">
            <a:avLst/>
          </a:prstGeom>
          <a:ln w="31750">
            <a:solidFill>
              <a:srgbClr val="96C85A">
                <a:alpha val="15000"/>
              </a:srgbClr>
            </a:solidFill>
            <a:prstDash val="solid"/>
          </a:ln>
        </p:spPr>
      </p:sp>
      <p:pic>
        <p:nvPicPr>
          <p:cNvPr id="8" name="Image 0" descr="/private/tmp/claude-501/-Users-marcelolima-Documents-Claude-Projects-titas-sinergy/0928342b-9056-449f-b3ff-09da66f5774b/scratchpad/cautelar/logo_caute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756" y="685800"/>
            <a:ext cx="237744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33375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979676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sua gerência ou com a diretoria da Cautelar.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0" y="5989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D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pela atenção!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2026-09-14T16:07:54Z</dcterms:created>
  <dcterms:modified xsi:type="dcterms:W3CDTF">2026-09-14T16:07:54Z</dcterms:modified>
</cp:coreProperties>
</file>