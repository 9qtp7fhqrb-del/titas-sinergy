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7" r:id="rId18"/>
    <p:sldId id="273" r:id="rId24"/>
    <p:sldId id="275" r:id="rId26"/>
    <p:sldId id="274" r:id="rId25"/>
    <p:sldId id="272" r:id="rId23"/>
    <p:sldId id="261" r:id="rId7"/>
    <p:sldId id="262" r:id="rId8"/>
    <p:sldId id="263" r:id="rId9"/>
    <p:sldId id="264" r:id="rId10"/>
    <p:sldId id="265" r:id="rId11"/>
    <p:sldId id="266" r:id="rId12"/>
    <p:sldId id="268" r:id="rId19"/>
    <p:sldId id="269" r:id="rId20"/>
    <p:sldId id="270" r:id="rId21"/>
    <p:sldId id="271" r:id="rId2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11.xml"/><Relationship Id="rId8" Type="http://schemas.openxmlformats.org/officeDocument/2006/relationships/slide" Target="slides/slide12.xml"/><Relationship Id="rId9" Type="http://schemas.openxmlformats.org/officeDocument/2006/relationships/slide" Target="slides/slide13.xml"/><Relationship Id="rId10" Type="http://schemas.openxmlformats.org/officeDocument/2006/relationships/slide" Target="slides/slide14.xml"/><Relationship Id="rId11" Type="http://schemas.openxmlformats.org/officeDocument/2006/relationships/slide" Target="slides/slide15.xml"/><Relationship Id="rId12" Type="http://schemas.openxmlformats.org/officeDocument/2006/relationships/slide" Target="slides/slide16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18" Type="http://schemas.openxmlformats.org/officeDocument/2006/relationships/slide" Target="slides/slide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10.xml"/><Relationship Id="rId24" Type="http://schemas.openxmlformats.org/officeDocument/2006/relationships/slide" Target="slides/slide7.xml"/><Relationship Id="rId25" Type="http://schemas.openxmlformats.org/officeDocument/2006/relationships/slide" Target="slides/slide9.xml"/><Relationship Id="rId26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0"/>
            <a:ext cx="2286000" cy="2011680"/>
          </a:xfrm>
          <a:prstGeom prst="rect">
            <a:avLst/>
          </a:prstGeom>
          <a:solidFill>
            <a:srgbClr val="1A3A6E"/>
          </a:solidFill>
          <a:ln w="12700">
            <a:solidFill>
              <a:srgbClr val="1A3A6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0" y="0"/>
            <a:ext cx="1371600" cy="109728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4617720"/>
            <a:ext cx="9144000" cy="525780"/>
          </a:xfrm>
          <a:prstGeom prst="rect">
            <a:avLst/>
          </a:prstGeom>
          <a:solidFill>
            <a:srgbClr val="1A3A6E"/>
          </a:solidFill>
          <a:ln w="12700">
            <a:solidFill>
              <a:srgbClr val="1A3A6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9728" y="4617720"/>
            <a:ext cx="2560320" cy="52578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0" y="2286000"/>
            <a:ext cx="2743200" cy="2331720"/>
          </a:xfrm>
          <a:prstGeom prst="rect">
            <a:avLst/>
          </a:prstGeom>
          <a:solidFill>
            <a:srgbClr val="0A1530"/>
          </a:solidFill>
          <a:ln w="12700">
            <a:solidFill>
              <a:srgbClr val="0A153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45720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8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 TITÃS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20040" y="1051560"/>
            <a:ext cx="65836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Planejamento</a:t>
            </a:r>
            <a:endParaRPr lang="en-US" sz="5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Estratégico</a:t>
            </a:r>
            <a:endParaRPr lang="en-US" sz="5200" dirty="0"/>
          </a:p>
        </p:txBody>
      </p:sp>
      <p:sp>
        <p:nvSpPr>
          <p:cNvPr id="10" name="Text 8"/>
          <p:cNvSpPr/>
          <p:nvPr/>
        </p:nvSpPr>
        <p:spPr>
          <a:xfrm>
            <a:off x="320040" y="301752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D6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2º Trimestre 2026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20040" y="352044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Abril · Maio · Junho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492240" y="24231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A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do Trimestre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492240" y="269748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R$ 9.680.000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492240" y="32461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+40% de run rate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92240" y="354787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6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até junho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834640" y="46634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Melo &amp; Neto — Diretoria Rede Titãs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164592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VISÃO MACRO — A ESTRATÉGIA DAS TRÊS ONDAS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82880" y="914400"/>
            <a:ext cx="8778240" cy="9144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82880" y="914400"/>
            <a:ext cx="8778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De R$ 2,5 mi </a:t>
            </a:r>
            <a:pPr algn="ctr" indent="0" marL="0">
              <a:buNone/>
            </a:pPr>
            <a:r>
              <a:rPr lang="en-US" sz="18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→ R$ 3,5 mi/mês </a:t>
            </a:r>
            <a:pPr algn="ctr" indent="0" marL="0">
              <a:buNone/>
            </a:pPr>
            <a:r>
              <a:rPr lang="en-US" sz="1800" dirty="0">
                <a:solidFill>
                  <a:srgbClr val="D6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| Acumulado: </a:t>
            </a:r>
            <a:pPr algn="ctr" indent="0" marL="0">
              <a:buNone/>
            </a:pPr>
            <a:r>
              <a:rPr lang="en-US" sz="18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R$ 9.680.000 </a:t>
            </a:r>
            <a:pPr algn="ctr" indent="0" marL="0">
              <a:buNone/>
            </a:pPr>
            <a:r>
              <a:rPr lang="en-US" sz="1800" dirty="0">
                <a:solidFill>
                  <a:srgbClr val="D6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| Crescimento: </a:t>
            </a:r>
            <a:pPr algn="ctr" indent="0" marL="0">
              <a:buNone/>
            </a:pPr>
            <a:r>
              <a:rPr lang="en-US" sz="18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+40% de run rate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82880" y="2011680"/>
            <a:ext cx="283464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82880" y="2011680"/>
            <a:ext cx="2834640" cy="502920"/>
          </a:xfrm>
          <a:prstGeom prst="rect">
            <a:avLst/>
          </a:prstGeom>
          <a:solidFill>
            <a:srgbClr val="1A5C8A"/>
          </a:solidFill>
          <a:ln w="12700">
            <a:solidFill>
              <a:srgbClr val="1A5C8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2608" y="2011680"/>
            <a:ext cx="26151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ONDA 1 · ABRIL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92608" y="2606040"/>
            <a:ext cx="2615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Construção de Base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92608" y="3017520"/>
            <a:ext cx="26151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R$ 2.980.000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92608" y="3566160"/>
            <a:ext cx="26151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Treinar equipe, implantar campanhas, ritmo diário e correção rápida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154680" y="2011680"/>
            <a:ext cx="283464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154680" y="2011680"/>
            <a:ext cx="2834640" cy="502920"/>
          </a:xfrm>
          <a:prstGeom prst="rect">
            <a:avLst/>
          </a:prstGeom>
          <a:solidFill>
            <a:srgbClr val="0F7B5B"/>
          </a:solidFill>
          <a:ln w="12700">
            <a:solidFill>
              <a:srgbClr val="0F7B5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64408" y="2011680"/>
            <a:ext cx="26151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ONDA 2 · MAIO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264408" y="2606040"/>
            <a:ext cx="2615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Ganho de Escala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264408" y="3017520"/>
            <a:ext cx="26151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7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R$ 3.200.000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3264408" y="3566160"/>
            <a:ext cx="26151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Transformar fluxo em volume com Dia das Mães e campanhas agressivas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126480" y="2011680"/>
            <a:ext cx="283464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126480" y="2011680"/>
            <a:ext cx="2834640" cy="502920"/>
          </a:xfrm>
          <a:prstGeom prst="rect">
            <a:avLst/>
          </a:prstGeom>
          <a:solidFill>
            <a:srgbClr val="8B2FC9"/>
          </a:solidFill>
          <a:ln w="12700">
            <a:solidFill>
              <a:srgbClr val="8B2FC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36208" y="2011680"/>
            <a:ext cx="26151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ONDA 3 · JUNHO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236208" y="2606040"/>
            <a:ext cx="2615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Pico de Tração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236208" y="3017520"/>
            <a:ext cx="26151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8B2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R$ 3.500.000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6236208" y="3566160"/>
            <a:ext cx="26151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Consolidar novo patamar, Dia dos Namorados, fechamento de trimestre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3419856" y="3154680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6391656" y="3154680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164592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GOVERNANÇA — KPIs E CADÊNCIA DE COBRANÇA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82880" y="960120"/>
            <a:ext cx="27432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82880" y="960120"/>
            <a:ext cx="502920" cy="82296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880" y="960120"/>
            <a:ext cx="502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77240" y="96012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Faturamento Bruto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154680" y="960120"/>
            <a:ext cx="27432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154680" y="960120"/>
            <a:ext cx="502920" cy="822960"/>
          </a:xfrm>
          <a:prstGeom prst="rect">
            <a:avLst/>
          </a:prstGeom>
          <a:solidFill>
            <a:srgbClr val="1A3A6E"/>
          </a:solidFill>
          <a:ln w="12700">
            <a:solidFill>
              <a:srgbClr val="1A3A6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154680" y="960120"/>
            <a:ext cx="502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749040" y="96012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Atingimento da Meta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126480" y="960120"/>
            <a:ext cx="27432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26480" y="960120"/>
            <a:ext cx="502920" cy="822960"/>
          </a:xfrm>
          <a:prstGeom prst="rect">
            <a:avLst/>
          </a:prstGeom>
          <a:solidFill>
            <a:srgbClr val="8B2FC9"/>
          </a:solidFill>
          <a:ln w="12700">
            <a:solidFill>
              <a:srgbClr val="8B2FC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26480" y="960120"/>
            <a:ext cx="502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720840" y="96012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Celulares Vendidos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182880" y="2011680"/>
            <a:ext cx="27432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182880" y="2011680"/>
            <a:ext cx="502920" cy="822960"/>
          </a:xfrm>
          <a:prstGeom prst="rect">
            <a:avLst/>
          </a:prstGeom>
          <a:solidFill>
            <a:srgbClr val="0F7B5B"/>
          </a:solidFill>
          <a:ln w="12700">
            <a:solidFill>
              <a:srgbClr val="0F7B5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2880" y="2011680"/>
            <a:ext cx="502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77240" y="20116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Attach Rate Acessórios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154680" y="2011680"/>
            <a:ext cx="27432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154680" y="2011680"/>
            <a:ext cx="502920" cy="822960"/>
          </a:xfrm>
          <a:prstGeom prst="rect">
            <a:avLst/>
          </a:prstGeom>
          <a:solidFill>
            <a:srgbClr val="E8601C"/>
          </a:solidFill>
          <a:ln w="12700">
            <a:solidFill>
              <a:srgbClr val="E8601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154680" y="2011680"/>
            <a:ext cx="502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3749040" y="20116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Médio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126480" y="2011680"/>
            <a:ext cx="27432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126480" y="2011680"/>
            <a:ext cx="502920" cy="822960"/>
          </a:xfrm>
          <a:prstGeom prst="rect">
            <a:avLst/>
          </a:prstGeom>
          <a:solidFill>
            <a:srgbClr val="1A5C8A"/>
          </a:solidFill>
          <a:ln w="12700">
            <a:solidFill>
              <a:srgbClr val="1A5C8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126480" y="2011680"/>
            <a:ext cx="502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720840" y="20116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Margem &amp; Mix de Produtos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182880" y="3108960"/>
            <a:ext cx="8778240" cy="3200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28600" y="310896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CADÊNCIA DE COBRANÇA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82880" y="3520440"/>
            <a:ext cx="283464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182880" y="3520440"/>
            <a:ext cx="2834640" cy="320040"/>
          </a:xfrm>
          <a:prstGeom prst="rect">
            <a:avLst/>
          </a:prstGeom>
          <a:solidFill>
            <a:srgbClr val="0F7B5B"/>
          </a:solidFill>
          <a:ln w="12700">
            <a:solidFill>
              <a:srgbClr val="0F7B5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74320" y="352044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DIÁRIO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274320" y="388620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Faturamento do dia, % da meta, celulares, attach, ticket médio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274320" y="452628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7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Gestores + Gerentes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3154680" y="3520440"/>
            <a:ext cx="283464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3154680" y="3520440"/>
            <a:ext cx="2834640" cy="320040"/>
          </a:xfrm>
          <a:prstGeom prst="rect">
            <a:avLst/>
          </a:prstGeom>
          <a:solidFill>
            <a:srgbClr val="1A5C8A"/>
          </a:solidFill>
          <a:ln w="12700">
            <a:solidFill>
              <a:srgbClr val="1A5C8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246120" y="352044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SEMANAL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3246120" y="388620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Comparação sub-redes, plano corretivo por loja, estoque, campanhas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3246120" y="452628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Melo, Neto + Gestores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6126480" y="3520440"/>
            <a:ext cx="283464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6126480" y="3520440"/>
            <a:ext cx="2834640" cy="320040"/>
          </a:xfrm>
          <a:prstGeom prst="rect">
            <a:avLst/>
          </a:prstGeom>
          <a:solidFill>
            <a:srgbClr val="E8601C"/>
          </a:solidFill>
          <a:ln w="12700">
            <a:solidFill>
              <a:srgbClr val="E8601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217920" y="352044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D-10 → D-0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6217920" y="388620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Recuperação de gap, blitz, CRM, renegociação de mix e ofertas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6217920" y="452628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86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Diretores + Gestores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2761"/>
        </a:solidFill>
      </p:bgPr>
    </p:bg>
    <p:spTree>
      <p:sp>
        <p:nvSpPr>
          <p:cNvPr id="1" name="Rectangle 0"/>
          <p:cNvSpPr/>
          <p:nvPr/>
        </p:nvSpPr>
        <p:spPr>
          <a:xfrm>
            <a:off x="0" y="0"/>
            <a:ext cx="411480" cy="512064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411480" y="0"/>
            <a:ext cx="8732520" cy="640080"/>
          </a:xfrm>
          <a:prstGeom prst="rect">
            <a:avLst/>
          </a:prstGeom>
          <a:solidFill>
            <a:srgbClr val="141C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914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A623"/>
                </a:solidFill>
              </a:rPr>
              <a:t>METAS POR SUB-REDE — ABRIL A JUNHO 2026  ✏️  MAIO REVISADO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CADCFC"/>
                </a:solidFill>
              </a:rPr>
              <a:t>Meta Mai revisada: R$ 3,000,000  ·  Meta Jun: R$ 3,500,000  ·  Total Trimestre: R$ 9,480,000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777240"/>
            <a:ext cx="2743200" cy="4572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804672"/>
            <a:ext cx="25968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E2761"/>
                </a:solidFill>
              </a:rPr>
              <a:t>TITÃS 1  ·  Talysson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1060704"/>
            <a:ext cx="259689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1E2761"/>
                </a:solidFill>
              </a:rPr>
              <a:t>Aceleração Agressiva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280160"/>
            <a:ext cx="25968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1">
                <a:solidFill>
                  <a:srgbClr val="CADCFC"/>
                </a:solidFill>
              </a:rPr>
              <a:t>Cariacica · Itabuna · Moxuara · Praia da Costa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627632"/>
            <a:ext cx="2743200" cy="594360"/>
          </a:xfrm>
          <a:prstGeom prst="rect">
            <a:avLst/>
          </a:prstGeom>
          <a:solidFill>
            <a:srgbClr val="141C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0352" y="1664208"/>
            <a:ext cx="259689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5A623"/>
                </a:solidFill>
              </a:rPr>
              <a:t>ABRIL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1837944"/>
            <a:ext cx="25968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5A623"/>
                </a:solidFill>
              </a:rPr>
              <a:t>R$ 1,240,000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" y="2093976"/>
            <a:ext cx="2596896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1">
                <a:solidFill>
                  <a:srgbClr val="CADCFC"/>
                </a:solidFill>
              </a:rPr>
              <a:t>Real: R$ 1,004,636 (81%)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267712"/>
            <a:ext cx="2743200" cy="59436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0352" y="2304288"/>
            <a:ext cx="259689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MAIO ✏️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" y="2478024"/>
            <a:ext cx="25968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E2761"/>
                </a:solidFill>
              </a:rPr>
              <a:t>R$ 1,240,000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352" y="2734056"/>
            <a:ext cx="2596896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1">
                <a:solidFill>
                  <a:srgbClr val="FFFFFF"/>
                </a:solidFill>
              </a:rPr>
              <a:t>Meta revisada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2907792"/>
            <a:ext cx="2743200" cy="594360"/>
          </a:xfrm>
          <a:prstGeom prst="rect">
            <a:avLst/>
          </a:prstGeom>
          <a:solidFill>
            <a:srgbClr val="141C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0352" y="2944368"/>
            <a:ext cx="259689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5A623"/>
                </a:solidFill>
              </a:rPr>
              <a:t>JUNHO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352" y="3118104"/>
            <a:ext cx="25968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5A623"/>
                </a:solidFill>
              </a:rPr>
              <a:t>R$ 1,480,000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0352" y="3374136"/>
            <a:ext cx="2596896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1">
                <a:solidFill>
                  <a:srgbClr val="CADCFC"/>
                </a:solidFill>
              </a:rPr>
              <a:t>Meta mantida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3639312"/>
            <a:ext cx="2743200" cy="384048"/>
          </a:xfrm>
          <a:prstGeom prst="rect">
            <a:avLst/>
          </a:prstGeom>
          <a:solidFill>
            <a:srgbClr val="145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30352" y="3694176"/>
            <a:ext cx="25968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TOTAL TRIMESTRE: R$ 3,960,000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364992" y="777240"/>
            <a:ext cx="2743200" cy="4572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438144" y="804672"/>
            <a:ext cx="25968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E2761"/>
                </a:solidFill>
              </a:rPr>
              <a:t>TITÃS 2  ·  Adriel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38144" y="1060704"/>
            <a:ext cx="259689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1E2761"/>
                </a:solidFill>
              </a:rPr>
              <a:t>Consistência e Disciplina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38144" y="1280160"/>
            <a:ext cx="25968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1">
                <a:solidFill>
                  <a:srgbClr val="CADCFC"/>
                </a:solidFill>
              </a:rPr>
              <a:t>Barreiras · Laranjeiras · Teixeira de Freitas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364992" y="1627632"/>
            <a:ext cx="2743200" cy="594360"/>
          </a:xfrm>
          <a:prstGeom prst="rect">
            <a:avLst/>
          </a:prstGeom>
          <a:solidFill>
            <a:srgbClr val="141C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438144" y="1664208"/>
            <a:ext cx="259689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5A623"/>
                </a:solidFill>
              </a:rPr>
              <a:t>ABRIL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38144" y="1837944"/>
            <a:ext cx="25968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5A623"/>
                </a:solidFill>
              </a:rPr>
              <a:t>R$ 710,000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38144" y="2093976"/>
            <a:ext cx="2596896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1">
                <a:solidFill>
                  <a:srgbClr val="CADCFC"/>
                </a:solidFill>
              </a:rPr>
              <a:t>Real: R$ 645,952 (91%)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364992" y="2267712"/>
            <a:ext cx="2743200" cy="59436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438144" y="2304288"/>
            <a:ext cx="259689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MAIO ✏️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438144" y="2478024"/>
            <a:ext cx="25968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E2761"/>
                </a:solidFill>
              </a:rPr>
              <a:t>R$ 725,000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438144" y="2734056"/>
            <a:ext cx="2596896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1">
                <a:solidFill>
                  <a:srgbClr val="FFFFFF"/>
                </a:solidFill>
              </a:rPr>
              <a:t>Meta revisada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364992" y="2907792"/>
            <a:ext cx="2743200" cy="594360"/>
          </a:xfrm>
          <a:prstGeom prst="rect">
            <a:avLst/>
          </a:prstGeom>
          <a:solidFill>
            <a:srgbClr val="141C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438144" y="2944368"/>
            <a:ext cx="259689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5A623"/>
                </a:solidFill>
              </a:rPr>
              <a:t>JUNHO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438144" y="3118104"/>
            <a:ext cx="25968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5A623"/>
                </a:solidFill>
              </a:rPr>
              <a:t>R$ 830,000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438144" y="3374136"/>
            <a:ext cx="2596896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1">
                <a:solidFill>
                  <a:srgbClr val="CADCFC"/>
                </a:solidFill>
              </a:rPr>
              <a:t>Meta mantida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364992" y="3639312"/>
            <a:ext cx="2743200" cy="384048"/>
          </a:xfrm>
          <a:prstGeom prst="rect">
            <a:avLst/>
          </a:prstGeom>
          <a:solidFill>
            <a:srgbClr val="145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438144" y="3694176"/>
            <a:ext cx="25968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TOTAL TRIMESTRE: R$ 2,265,000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272784" y="777240"/>
            <a:ext cx="2743200" cy="4572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345936" y="804672"/>
            <a:ext cx="25968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E2761"/>
                </a:solidFill>
              </a:rPr>
              <a:t>TITÃS 3  ·  Arthur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45936" y="1060704"/>
            <a:ext cx="259689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1E2761"/>
                </a:solidFill>
              </a:rPr>
              <a:t>Equilíbrio e Sustentação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345936" y="1280160"/>
            <a:ext cx="25968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1">
                <a:solidFill>
                  <a:srgbClr val="CADCFC"/>
                </a:solidFill>
              </a:rPr>
              <a:t>São Mateus · Linhares · Serra · Montserrat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272784" y="1627632"/>
            <a:ext cx="2743200" cy="594360"/>
          </a:xfrm>
          <a:prstGeom prst="rect">
            <a:avLst/>
          </a:prstGeom>
          <a:solidFill>
            <a:srgbClr val="141C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345936" y="1664208"/>
            <a:ext cx="259689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5A623"/>
                </a:solidFill>
              </a:rPr>
              <a:t>ABRIL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345936" y="1837944"/>
            <a:ext cx="25968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5A623"/>
                </a:solidFill>
              </a:rPr>
              <a:t>R$ 1,030,000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345936" y="2093976"/>
            <a:ext cx="2596896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1">
                <a:solidFill>
                  <a:srgbClr val="CADCFC"/>
                </a:solidFill>
              </a:rPr>
              <a:t>Real: R$ 918,223 (89%)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272784" y="2267712"/>
            <a:ext cx="2743200" cy="59436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345936" y="2304288"/>
            <a:ext cx="259689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MAIO ✏️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345936" y="2478024"/>
            <a:ext cx="25968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E2761"/>
                </a:solidFill>
              </a:rPr>
              <a:t>R$ 1,035,000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345936" y="2734056"/>
            <a:ext cx="2596896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1">
                <a:solidFill>
                  <a:srgbClr val="FFFFFF"/>
                </a:solidFill>
              </a:rPr>
              <a:t>Meta revisada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272784" y="2907792"/>
            <a:ext cx="2743200" cy="594360"/>
          </a:xfrm>
          <a:prstGeom prst="rect">
            <a:avLst/>
          </a:prstGeom>
          <a:solidFill>
            <a:srgbClr val="141C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345936" y="2944368"/>
            <a:ext cx="259689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5A623"/>
                </a:solidFill>
              </a:rPr>
              <a:t>JUNHO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345936" y="3118104"/>
            <a:ext cx="25968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5A623"/>
                </a:solidFill>
              </a:rPr>
              <a:t>R$ 1,190,000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345936" y="3374136"/>
            <a:ext cx="2596896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1">
                <a:solidFill>
                  <a:srgbClr val="CADCFC"/>
                </a:solidFill>
              </a:rPr>
              <a:t>Meta mantida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272784" y="3639312"/>
            <a:ext cx="2743200" cy="384048"/>
          </a:xfrm>
          <a:prstGeom prst="rect">
            <a:avLst/>
          </a:prstGeom>
          <a:solidFill>
            <a:srgbClr val="145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345936" y="3694176"/>
            <a:ext cx="25968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TOTAL TRIMESTRE: R$ 3,255,000</a:t>
            </a:r>
          </a:p>
        </p:txBody>
      </p:sp>
      <p:sp>
        <p:nvSpPr>
          <p:cNvPr id="59" name="Rectangle 58"/>
          <p:cNvSpPr/>
          <p:nvPr/>
        </p:nvSpPr>
        <p:spPr>
          <a:xfrm>
            <a:off x="0" y="4800600"/>
            <a:ext cx="9144000" cy="320040"/>
          </a:xfrm>
          <a:prstGeom prst="rect">
            <a:avLst/>
          </a:prstGeom>
          <a:solidFill>
            <a:srgbClr val="141C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48640" y="4846320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CADCFC"/>
                </a:solidFill>
              </a:rPr>
              <a:t>REDE TITÃS  ·  PLANEJAMENTO Q2 2026  ·  METAS ATUALIZADAS MAIO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761"/>
        </a:solidFill>
      </p:bgPr>
    </p:bg>
    <p:spTree>
      <p:sp>
        <p:nvSpPr>
          <p:cNvPr id="1" name="Rectangle 0"/>
          <p:cNvSpPr/>
          <p:nvPr/>
        </p:nvSpPr>
        <p:spPr>
          <a:xfrm>
            <a:off x="0" y="0"/>
            <a:ext cx="411480" cy="512064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411480" y="0"/>
            <a:ext cx="8732520" cy="640080"/>
          </a:xfrm>
          <a:prstGeom prst="rect">
            <a:avLst/>
          </a:prstGeom>
          <a:solidFill>
            <a:srgbClr val="141C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914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A623"/>
                </a:solidFill>
              </a:rPr>
              <a:t>METAS INDIVIDUAIS POR LOJA — Q2 2026  ✏️  METAS MAIO ATUALIZADAS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CADCFC"/>
                </a:solidFill>
              </a:rPr>
              <a:t>Meta ABR: R$ 2,980,000  ·  Nova Meta MAI: R$ 3,000,000  ·  Meta JUN: R$ 3,500,000  ·  Total Tri: R$ 9,480,000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749808"/>
            <a:ext cx="1783080" cy="347472"/>
          </a:xfrm>
          <a:prstGeom prst="rect">
            <a:avLst/>
          </a:prstGeom>
          <a:solidFill>
            <a:srgbClr val="141C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93192" y="795528"/>
            <a:ext cx="17282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5A623"/>
                </a:solidFill>
              </a:rPr>
              <a:t>LOJA — GERENTE</a:t>
            </a:r>
          </a:p>
        </p:txBody>
      </p:sp>
      <p:sp>
        <p:nvSpPr>
          <p:cNvPr id="7" name="Rectangle 6"/>
          <p:cNvSpPr/>
          <p:nvPr/>
        </p:nvSpPr>
        <p:spPr>
          <a:xfrm>
            <a:off x="2167128" y="749808"/>
            <a:ext cx="1554480" cy="347472"/>
          </a:xfrm>
          <a:prstGeom prst="rect">
            <a:avLst/>
          </a:prstGeom>
          <a:solidFill>
            <a:srgbClr val="141C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194560" y="795528"/>
            <a:ext cx="14996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5A623"/>
                </a:solidFill>
              </a:rPr>
              <a:t>PAPEL ESTRATÉGICO</a:t>
            </a:r>
          </a:p>
        </p:txBody>
      </p:sp>
      <p:sp>
        <p:nvSpPr>
          <p:cNvPr id="9" name="Rectangle 8"/>
          <p:cNvSpPr/>
          <p:nvPr/>
        </p:nvSpPr>
        <p:spPr>
          <a:xfrm>
            <a:off x="3739896" y="749808"/>
            <a:ext cx="868680" cy="34747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67328" y="795528"/>
            <a:ext cx="8138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1E2761"/>
                </a:solidFill>
              </a:rPr>
              <a:t>META ABRIL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626864" y="749808"/>
            <a:ext cx="868680" cy="34747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54296" y="795528"/>
            <a:ext cx="8138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1E2761"/>
                </a:solidFill>
              </a:rPr>
              <a:t>REAL ABRIL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513832" y="749808"/>
            <a:ext cx="548640" cy="34747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541264" y="795528"/>
            <a:ext cx="4937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1E2761"/>
                </a:solidFill>
              </a:rPr>
              <a:t>% ABR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80760" y="749808"/>
            <a:ext cx="868680" cy="347472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08192" y="795528"/>
            <a:ext cx="8138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META MAIO ✏️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967728" y="749808"/>
            <a:ext cx="868680" cy="34747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95160" y="795528"/>
            <a:ext cx="8138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1E2761"/>
                </a:solidFill>
              </a:rPr>
              <a:t>META JUNHO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854696" y="749808"/>
            <a:ext cx="868680" cy="34747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882128" y="795528"/>
            <a:ext cx="8138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1E2761"/>
                </a:solidFill>
              </a:rPr>
              <a:t>TOTAL TRI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1152144"/>
            <a:ext cx="1783080" cy="301752"/>
          </a:xfrm>
          <a:prstGeom prst="rect">
            <a:avLst/>
          </a:prstGeom>
          <a:solidFill>
            <a:srgbClr val="141C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93192" y="1188720"/>
            <a:ext cx="172821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ADCFC"/>
                </a:solidFill>
              </a:rPr>
              <a:t>Cariacica — Gabriel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167128" y="1152144"/>
            <a:ext cx="1554480" cy="301752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194560" y="1188720"/>
            <a:ext cx="149961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ADCFC"/>
                </a:solidFill>
              </a:rPr>
              <a:t>Âncora de volume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739896" y="1152144"/>
            <a:ext cx="868680" cy="301752"/>
          </a:xfrm>
          <a:prstGeom prst="rect">
            <a:avLst/>
          </a:prstGeom>
          <a:solidFill>
            <a:srgbClr val="FFE4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767328" y="1188720"/>
            <a:ext cx="81381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1E2761"/>
                </a:solidFill>
              </a:rPr>
              <a:t>R$ 450,000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626864" y="1152144"/>
            <a:ext cx="868680" cy="301752"/>
          </a:xfrm>
          <a:prstGeom prst="rect">
            <a:avLst/>
          </a:prstGeom>
          <a:solidFill>
            <a:srgbClr val="FFE4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654296" y="1188720"/>
            <a:ext cx="81381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1E2761"/>
                </a:solidFill>
              </a:rPr>
              <a:t>R$ 342,923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513832" y="1152144"/>
            <a:ext cx="548640" cy="30175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541264" y="1188720"/>
            <a:ext cx="49377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FFFFFF"/>
                </a:solidFill>
              </a:rPr>
              <a:t>76%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080760" y="1152144"/>
            <a:ext cx="868680" cy="301752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108192" y="1188720"/>
            <a:ext cx="81381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R$ 450,000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967728" y="1152144"/>
            <a:ext cx="868680" cy="301752"/>
          </a:xfrm>
          <a:prstGeom prst="rect">
            <a:avLst/>
          </a:prstGeom>
          <a:solidFill>
            <a:srgbClr val="FFE4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995160" y="1188720"/>
            <a:ext cx="81381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1E2761"/>
                </a:solidFill>
              </a:rPr>
              <a:t>R$ 530,000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854696" y="1152144"/>
            <a:ext cx="868680" cy="301752"/>
          </a:xfrm>
          <a:prstGeom prst="rect">
            <a:avLst/>
          </a:prstGeom>
          <a:solidFill>
            <a:srgbClr val="FFE4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882128" y="1188720"/>
            <a:ext cx="81381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1E2761"/>
                </a:solidFill>
              </a:rPr>
              <a:t>R$ 1,430,000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65760" y="1481328"/>
            <a:ext cx="1783080" cy="301752"/>
          </a:xfrm>
          <a:prstGeom prst="rect">
            <a:avLst/>
          </a:prstGeom>
          <a:solidFill>
            <a:srgbClr val="141C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93192" y="1517904"/>
            <a:ext cx="172821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ADCFC"/>
                </a:solidFill>
              </a:rPr>
              <a:t>São Mateus — Juliana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167128" y="1481328"/>
            <a:ext cx="1554480" cy="301752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194560" y="1517904"/>
            <a:ext cx="149961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ADCFC"/>
                </a:solidFill>
              </a:rPr>
              <a:t>Âncora de escala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739896" y="1481328"/>
            <a:ext cx="868680" cy="301752"/>
          </a:xfrm>
          <a:prstGeom prst="rect">
            <a:avLst/>
          </a:prstGeom>
          <a:solidFill>
            <a:srgbClr val="E8ED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767328" y="1517904"/>
            <a:ext cx="81381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1E2761"/>
                </a:solidFill>
              </a:rPr>
              <a:t>R$ 450,000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626864" y="1481328"/>
            <a:ext cx="868680" cy="301752"/>
          </a:xfrm>
          <a:prstGeom prst="rect">
            <a:avLst/>
          </a:prstGeom>
          <a:solidFill>
            <a:srgbClr val="E8ED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654296" y="1517904"/>
            <a:ext cx="81381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1E2761"/>
                </a:solidFill>
              </a:rPr>
              <a:t>R$ 417,851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513832" y="1481328"/>
            <a:ext cx="548640" cy="301752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541264" y="1517904"/>
            <a:ext cx="49377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1E2761"/>
                </a:solidFill>
              </a:rPr>
              <a:t>93%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080760" y="1481328"/>
            <a:ext cx="868680" cy="301752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108192" y="1517904"/>
            <a:ext cx="81381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R$ 450,000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967728" y="1481328"/>
            <a:ext cx="868680" cy="301752"/>
          </a:xfrm>
          <a:prstGeom prst="rect">
            <a:avLst/>
          </a:prstGeom>
          <a:solidFill>
            <a:srgbClr val="E8ED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995160" y="1517904"/>
            <a:ext cx="81381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1E2761"/>
                </a:solidFill>
              </a:rPr>
              <a:t>R$ 500,000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854696" y="1481328"/>
            <a:ext cx="868680" cy="301752"/>
          </a:xfrm>
          <a:prstGeom prst="rect">
            <a:avLst/>
          </a:prstGeom>
          <a:solidFill>
            <a:srgbClr val="E8ED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882128" y="1517904"/>
            <a:ext cx="81381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1E2761"/>
                </a:solidFill>
              </a:rPr>
              <a:t>R$ 1,400,000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65760" y="1810512"/>
            <a:ext cx="1783080" cy="301752"/>
          </a:xfrm>
          <a:prstGeom prst="rect">
            <a:avLst/>
          </a:prstGeom>
          <a:solidFill>
            <a:srgbClr val="141C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93192" y="1847088"/>
            <a:ext cx="172821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ADCFC"/>
                </a:solidFill>
              </a:rPr>
              <a:t>Itabuna — Reinan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167128" y="1810512"/>
            <a:ext cx="1554480" cy="301752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194560" y="1847088"/>
            <a:ext cx="149961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ADCFC"/>
                </a:solidFill>
              </a:rPr>
              <a:t>Loja de aceleração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739896" y="1810512"/>
            <a:ext cx="868680" cy="301752"/>
          </a:xfrm>
          <a:prstGeom prst="rect">
            <a:avLst/>
          </a:prstGeom>
          <a:solidFill>
            <a:srgbClr val="FFE4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767328" y="1847088"/>
            <a:ext cx="81381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1E2761"/>
                </a:solidFill>
              </a:rPr>
              <a:t>R$ 390,000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626864" y="1810512"/>
            <a:ext cx="868680" cy="301752"/>
          </a:xfrm>
          <a:prstGeom prst="rect">
            <a:avLst/>
          </a:prstGeom>
          <a:solidFill>
            <a:srgbClr val="FFE4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654296" y="1847088"/>
            <a:ext cx="81381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1E2761"/>
                </a:solidFill>
              </a:rPr>
              <a:t>R$ 321,077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513832" y="1810512"/>
            <a:ext cx="548640" cy="30175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541264" y="1847088"/>
            <a:ext cx="49377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FFFFFF"/>
                </a:solidFill>
              </a:rPr>
              <a:t>82%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080760" y="1810512"/>
            <a:ext cx="868680" cy="301752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108192" y="1847088"/>
            <a:ext cx="81381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R$ 390,000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967728" y="1810512"/>
            <a:ext cx="868680" cy="301752"/>
          </a:xfrm>
          <a:prstGeom prst="rect">
            <a:avLst/>
          </a:prstGeom>
          <a:solidFill>
            <a:srgbClr val="FFE4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995160" y="1847088"/>
            <a:ext cx="81381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1E2761"/>
                </a:solidFill>
              </a:rPr>
              <a:t>R$ 460,000</a:t>
            </a:r>
          </a:p>
        </p:txBody>
      </p:sp>
      <p:sp>
        <p:nvSpPr>
          <p:cNvPr id="67" name="Rectangle 66"/>
          <p:cNvSpPr/>
          <p:nvPr/>
        </p:nvSpPr>
        <p:spPr>
          <a:xfrm>
            <a:off x="7854696" y="1810512"/>
            <a:ext cx="868680" cy="301752"/>
          </a:xfrm>
          <a:prstGeom prst="rect">
            <a:avLst/>
          </a:prstGeom>
          <a:solidFill>
            <a:srgbClr val="FFE4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882128" y="1847088"/>
            <a:ext cx="81381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1E2761"/>
                </a:solidFill>
              </a:rPr>
              <a:t>R$ 1,240,000</a:t>
            </a:r>
          </a:p>
        </p:txBody>
      </p:sp>
      <p:sp>
        <p:nvSpPr>
          <p:cNvPr id="69" name="Rectangle 68"/>
          <p:cNvSpPr/>
          <p:nvPr/>
        </p:nvSpPr>
        <p:spPr>
          <a:xfrm>
            <a:off x="365760" y="2139696"/>
            <a:ext cx="1783080" cy="301752"/>
          </a:xfrm>
          <a:prstGeom prst="rect">
            <a:avLst/>
          </a:prstGeom>
          <a:solidFill>
            <a:srgbClr val="141C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393192" y="2176272"/>
            <a:ext cx="172821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ADCFC"/>
                </a:solidFill>
              </a:rPr>
              <a:t>Moxuara — Ana</a:t>
            </a:r>
          </a:p>
        </p:txBody>
      </p:sp>
      <p:sp>
        <p:nvSpPr>
          <p:cNvPr id="71" name="Rectangle 70"/>
          <p:cNvSpPr/>
          <p:nvPr/>
        </p:nvSpPr>
        <p:spPr>
          <a:xfrm>
            <a:off x="2167128" y="2139696"/>
            <a:ext cx="1554480" cy="301752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2194560" y="2176272"/>
            <a:ext cx="149961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ADCFC"/>
                </a:solidFill>
              </a:rPr>
              <a:t>Crescimento e share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739896" y="2139696"/>
            <a:ext cx="868680" cy="301752"/>
          </a:xfrm>
          <a:prstGeom prst="rect">
            <a:avLst/>
          </a:prstGeom>
          <a:solidFill>
            <a:srgbClr val="E8ED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767328" y="2176272"/>
            <a:ext cx="81381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1E2761"/>
                </a:solidFill>
              </a:rPr>
              <a:t>R$ 270,000</a:t>
            </a:r>
          </a:p>
        </p:txBody>
      </p:sp>
      <p:sp>
        <p:nvSpPr>
          <p:cNvPr id="75" name="Rectangle 74"/>
          <p:cNvSpPr/>
          <p:nvPr/>
        </p:nvSpPr>
        <p:spPr>
          <a:xfrm>
            <a:off x="4626864" y="2139696"/>
            <a:ext cx="868680" cy="301752"/>
          </a:xfrm>
          <a:prstGeom prst="rect">
            <a:avLst/>
          </a:prstGeom>
          <a:solidFill>
            <a:srgbClr val="E8ED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4654296" y="2176272"/>
            <a:ext cx="81381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1E2761"/>
                </a:solidFill>
              </a:rPr>
              <a:t>R$ 247,959</a:t>
            </a:r>
          </a:p>
        </p:txBody>
      </p:sp>
      <p:sp>
        <p:nvSpPr>
          <p:cNvPr id="77" name="Rectangle 76"/>
          <p:cNvSpPr/>
          <p:nvPr/>
        </p:nvSpPr>
        <p:spPr>
          <a:xfrm>
            <a:off x="5513832" y="2139696"/>
            <a:ext cx="548640" cy="301752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5541264" y="2176272"/>
            <a:ext cx="49377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1E2761"/>
                </a:solidFill>
              </a:rPr>
              <a:t>92%</a:t>
            </a:r>
          </a:p>
        </p:txBody>
      </p:sp>
      <p:sp>
        <p:nvSpPr>
          <p:cNvPr id="79" name="Rectangle 78"/>
          <p:cNvSpPr/>
          <p:nvPr/>
        </p:nvSpPr>
        <p:spPr>
          <a:xfrm>
            <a:off x="6080760" y="2139696"/>
            <a:ext cx="868680" cy="301752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6108192" y="2176272"/>
            <a:ext cx="81381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R$ 270,000</a:t>
            </a:r>
          </a:p>
        </p:txBody>
      </p:sp>
      <p:sp>
        <p:nvSpPr>
          <p:cNvPr id="81" name="Rectangle 80"/>
          <p:cNvSpPr/>
          <p:nvPr/>
        </p:nvSpPr>
        <p:spPr>
          <a:xfrm>
            <a:off x="6967728" y="2139696"/>
            <a:ext cx="868680" cy="301752"/>
          </a:xfrm>
          <a:prstGeom prst="rect">
            <a:avLst/>
          </a:prstGeom>
          <a:solidFill>
            <a:srgbClr val="E8ED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6995160" y="2176272"/>
            <a:ext cx="81381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1E2761"/>
                </a:solidFill>
              </a:rPr>
              <a:t>R$ 340,000</a:t>
            </a:r>
          </a:p>
        </p:txBody>
      </p:sp>
      <p:sp>
        <p:nvSpPr>
          <p:cNvPr id="83" name="Rectangle 82"/>
          <p:cNvSpPr/>
          <p:nvPr/>
        </p:nvSpPr>
        <p:spPr>
          <a:xfrm>
            <a:off x="7854696" y="2139696"/>
            <a:ext cx="868680" cy="301752"/>
          </a:xfrm>
          <a:prstGeom prst="rect">
            <a:avLst/>
          </a:prstGeom>
          <a:solidFill>
            <a:srgbClr val="E8ED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7882128" y="2176272"/>
            <a:ext cx="81381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1E2761"/>
                </a:solidFill>
              </a:rPr>
              <a:t>R$ 880,000</a:t>
            </a:r>
          </a:p>
        </p:txBody>
      </p:sp>
      <p:sp>
        <p:nvSpPr>
          <p:cNvPr id="85" name="Rectangle 84"/>
          <p:cNvSpPr/>
          <p:nvPr/>
        </p:nvSpPr>
        <p:spPr>
          <a:xfrm>
            <a:off x="365760" y="2468880"/>
            <a:ext cx="1783080" cy="301752"/>
          </a:xfrm>
          <a:prstGeom prst="rect">
            <a:avLst/>
          </a:prstGeom>
          <a:solidFill>
            <a:srgbClr val="141C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393192" y="2505456"/>
            <a:ext cx="172821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ADCFC"/>
                </a:solidFill>
              </a:rPr>
              <a:t>Barreiras — Daniela</a:t>
            </a:r>
          </a:p>
        </p:txBody>
      </p:sp>
      <p:sp>
        <p:nvSpPr>
          <p:cNvPr id="87" name="Rectangle 86"/>
          <p:cNvSpPr/>
          <p:nvPr/>
        </p:nvSpPr>
        <p:spPr>
          <a:xfrm>
            <a:off x="2167128" y="2468880"/>
            <a:ext cx="1554480" cy="301752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2194560" y="2505456"/>
            <a:ext cx="149961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ADCFC"/>
                </a:solidFill>
              </a:rPr>
              <a:t>Consistência + expansão</a:t>
            </a:r>
          </a:p>
        </p:txBody>
      </p:sp>
      <p:sp>
        <p:nvSpPr>
          <p:cNvPr id="89" name="Rectangle 88"/>
          <p:cNvSpPr/>
          <p:nvPr/>
        </p:nvSpPr>
        <p:spPr>
          <a:xfrm>
            <a:off x="3739896" y="2468880"/>
            <a:ext cx="868680" cy="301752"/>
          </a:xfrm>
          <a:prstGeom prst="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3767328" y="2505456"/>
            <a:ext cx="81381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1E2761"/>
                </a:solidFill>
              </a:rPr>
              <a:t>R$ 270,000</a:t>
            </a:r>
          </a:p>
        </p:txBody>
      </p:sp>
      <p:sp>
        <p:nvSpPr>
          <p:cNvPr id="91" name="Rectangle 90"/>
          <p:cNvSpPr/>
          <p:nvPr/>
        </p:nvSpPr>
        <p:spPr>
          <a:xfrm>
            <a:off x="4626864" y="2468880"/>
            <a:ext cx="868680" cy="301752"/>
          </a:xfrm>
          <a:prstGeom prst="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4654296" y="2505456"/>
            <a:ext cx="81381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1E2761"/>
                </a:solidFill>
              </a:rPr>
              <a:t>R$ 272,298</a:t>
            </a:r>
          </a:p>
        </p:txBody>
      </p:sp>
      <p:sp>
        <p:nvSpPr>
          <p:cNvPr id="93" name="Rectangle 92"/>
          <p:cNvSpPr/>
          <p:nvPr/>
        </p:nvSpPr>
        <p:spPr>
          <a:xfrm>
            <a:off x="5513832" y="2468880"/>
            <a:ext cx="548640" cy="301752"/>
          </a:xfrm>
          <a:prstGeom prst="rect">
            <a:avLst/>
          </a:prstGeom>
          <a:solidFill>
            <a:srgbClr val="145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5541264" y="2505456"/>
            <a:ext cx="49377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1E2761"/>
                </a:solidFill>
              </a:rPr>
              <a:t>101%</a:t>
            </a:r>
          </a:p>
        </p:txBody>
      </p:sp>
      <p:sp>
        <p:nvSpPr>
          <p:cNvPr id="95" name="Rectangle 94"/>
          <p:cNvSpPr/>
          <p:nvPr/>
        </p:nvSpPr>
        <p:spPr>
          <a:xfrm>
            <a:off x="6080760" y="2468880"/>
            <a:ext cx="868680" cy="301752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6108192" y="2505456"/>
            <a:ext cx="81381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R$ 280,000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967728" y="2468880"/>
            <a:ext cx="868680" cy="301752"/>
          </a:xfrm>
          <a:prstGeom prst="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995160" y="2505456"/>
            <a:ext cx="81381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1E2761"/>
                </a:solidFill>
              </a:rPr>
              <a:t>R$ 330,000</a:t>
            </a:r>
          </a:p>
        </p:txBody>
      </p:sp>
      <p:sp>
        <p:nvSpPr>
          <p:cNvPr id="99" name="Rectangle 98"/>
          <p:cNvSpPr/>
          <p:nvPr/>
        </p:nvSpPr>
        <p:spPr>
          <a:xfrm>
            <a:off x="7854696" y="2468880"/>
            <a:ext cx="868680" cy="301752"/>
          </a:xfrm>
          <a:prstGeom prst="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7882128" y="2505456"/>
            <a:ext cx="81381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1E2761"/>
                </a:solidFill>
              </a:rPr>
              <a:t>R$ 880,000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365760" y="2798064"/>
            <a:ext cx="1783080" cy="301752"/>
          </a:xfrm>
          <a:prstGeom prst="rect">
            <a:avLst/>
          </a:prstGeom>
          <a:solidFill>
            <a:srgbClr val="141C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393192" y="2834640"/>
            <a:ext cx="172821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ADCFC"/>
                </a:solidFill>
              </a:rPr>
              <a:t>Laranjeiras — Jhenifer E.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2167128" y="2798064"/>
            <a:ext cx="1554480" cy="301752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2194560" y="2834640"/>
            <a:ext cx="149961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ADCFC"/>
                </a:solidFill>
              </a:rPr>
              <a:t>Regularidade e mix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3739896" y="2798064"/>
            <a:ext cx="868680" cy="301752"/>
          </a:xfrm>
          <a:prstGeom prst="rect">
            <a:avLst/>
          </a:prstGeom>
          <a:solidFill>
            <a:srgbClr val="FFE4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3767328" y="2834640"/>
            <a:ext cx="81381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1E2761"/>
                </a:solidFill>
              </a:rPr>
              <a:t>R$ 220,000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4626864" y="2798064"/>
            <a:ext cx="868680" cy="301752"/>
          </a:xfrm>
          <a:prstGeom prst="rect">
            <a:avLst/>
          </a:prstGeom>
          <a:solidFill>
            <a:srgbClr val="FFE4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4654296" y="2834640"/>
            <a:ext cx="81381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1E2761"/>
                </a:solidFill>
              </a:rPr>
              <a:t>R$ 150,032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5513832" y="2798064"/>
            <a:ext cx="548640" cy="30175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5541264" y="2834640"/>
            <a:ext cx="49377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FFFFFF"/>
                </a:solidFill>
              </a:rPr>
              <a:t>68%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080760" y="2798064"/>
            <a:ext cx="868680" cy="301752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108192" y="2834640"/>
            <a:ext cx="81381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R$ 220,000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6967728" y="2798064"/>
            <a:ext cx="868680" cy="301752"/>
          </a:xfrm>
          <a:prstGeom prst="rect">
            <a:avLst/>
          </a:prstGeom>
          <a:solidFill>
            <a:srgbClr val="FFE4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6995160" y="2834640"/>
            <a:ext cx="81381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1E2761"/>
                </a:solidFill>
              </a:rPr>
              <a:t>R$ 245,000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7854696" y="2798064"/>
            <a:ext cx="868680" cy="301752"/>
          </a:xfrm>
          <a:prstGeom prst="rect">
            <a:avLst/>
          </a:prstGeom>
          <a:solidFill>
            <a:srgbClr val="FFE4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7882128" y="2834640"/>
            <a:ext cx="81381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1E2761"/>
                </a:solidFill>
              </a:rPr>
              <a:t>R$ 685,000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365760" y="3127248"/>
            <a:ext cx="1783080" cy="301752"/>
          </a:xfrm>
          <a:prstGeom prst="rect">
            <a:avLst/>
          </a:prstGeom>
          <a:solidFill>
            <a:srgbClr val="141C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393192" y="3163824"/>
            <a:ext cx="172821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ADCFC"/>
                </a:solidFill>
              </a:rPr>
              <a:t>Teixeira — Junior Dias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2167128" y="3127248"/>
            <a:ext cx="1554480" cy="301752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2194560" y="3163824"/>
            <a:ext cx="149961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ADCFC"/>
                </a:solidFill>
              </a:rPr>
              <a:t>Estabilidade controlada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3739896" y="3127248"/>
            <a:ext cx="868680" cy="301752"/>
          </a:xfrm>
          <a:prstGeom prst="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3767328" y="3163824"/>
            <a:ext cx="81381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1E2761"/>
                </a:solidFill>
              </a:rPr>
              <a:t>R$ 220,000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4626864" y="3127248"/>
            <a:ext cx="868680" cy="301752"/>
          </a:xfrm>
          <a:prstGeom prst="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4654296" y="3163824"/>
            <a:ext cx="81381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1E2761"/>
                </a:solidFill>
              </a:rPr>
              <a:t>R$ 223,622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5513832" y="3127248"/>
            <a:ext cx="548640" cy="301752"/>
          </a:xfrm>
          <a:prstGeom prst="rect">
            <a:avLst/>
          </a:prstGeom>
          <a:solidFill>
            <a:srgbClr val="145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5541264" y="3163824"/>
            <a:ext cx="49377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1E2761"/>
                </a:solidFill>
              </a:rPr>
              <a:t>102%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6080760" y="3127248"/>
            <a:ext cx="868680" cy="301752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6108192" y="3163824"/>
            <a:ext cx="81381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R$ 225,000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6967728" y="3127248"/>
            <a:ext cx="868680" cy="301752"/>
          </a:xfrm>
          <a:prstGeom prst="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6995160" y="3163824"/>
            <a:ext cx="81381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1E2761"/>
                </a:solidFill>
              </a:rPr>
              <a:t>R$ 255,000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7854696" y="3127248"/>
            <a:ext cx="868680" cy="301752"/>
          </a:xfrm>
          <a:prstGeom prst="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7882128" y="3163824"/>
            <a:ext cx="81381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1E2761"/>
                </a:solidFill>
              </a:rPr>
              <a:t>R$ 700,000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365760" y="3456432"/>
            <a:ext cx="1783080" cy="301752"/>
          </a:xfrm>
          <a:prstGeom prst="rect">
            <a:avLst/>
          </a:prstGeom>
          <a:solidFill>
            <a:srgbClr val="141C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393192" y="3493008"/>
            <a:ext cx="172821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ADCFC"/>
                </a:solidFill>
              </a:rPr>
              <a:t>Linhares — Kristian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2167128" y="3456432"/>
            <a:ext cx="1554480" cy="301752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2194560" y="3493008"/>
            <a:ext cx="149961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ADCFC"/>
                </a:solidFill>
              </a:rPr>
              <a:t>Recuperação produtiva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3739896" y="3456432"/>
            <a:ext cx="868680" cy="301752"/>
          </a:xfrm>
          <a:prstGeom prst="rect">
            <a:avLst/>
          </a:prstGeom>
          <a:solidFill>
            <a:srgbClr val="FFE4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3767328" y="3493008"/>
            <a:ext cx="81381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1E2761"/>
                </a:solidFill>
              </a:rPr>
              <a:t>R$ 210,000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4626864" y="3456432"/>
            <a:ext cx="868680" cy="301752"/>
          </a:xfrm>
          <a:prstGeom prst="rect">
            <a:avLst/>
          </a:prstGeom>
          <a:solidFill>
            <a:srgbClr val="FFE4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4654296" y="3493008"/>
            <a:ext cx="81381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1E2761"/>
                </a:solidFill>
              </a:rPr>
              <a:t>R$ 157,512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5513832" y="3456432"/>
            <a:ext cx="548640" cy="30175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5541264" y="3493008"/>
            <a:ext cx="49377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FFFFFF"/>
                </a:solidFill>
              </a:rPr>
              <a:t>75%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6080760" y="3456432"/>
            <a:ext cx="868680" cy="301752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6108192" y="3493008"/>
            <a:ext cx="81381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R$ 210,000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6967728" y="3456432"/>
            <a:ext cx="868680" cy="301752"/>
          </a:xfrm>
          <a:prstGeom prst="rect">
            <a:avLst/>
          </a:prstGeom>
          <a:solidFill>
            <a:srgbClr val="FFE4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6995160" y="3493008"/>
            <a:ext cx="81381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1E2761"/>
                </a:solidFill>
              </a:rPr>
              <a:t>R$ 260,000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7854696" y="3456432"/>
            <a:ext cx="868680" cy="301752"/>
          </a:xfrm>
          <a:prstGeom prst="rect">
            <a:avLst/>
          </a:prstGeom>
          <a:solidFill>
            <a:srgbClr val="FFE4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TextBox 147"/>
          <p:cNvSpPr txBox="1"/>
          <p:nvPr/>
        </p:nvSpPr>
        <p:spPr>
          <a:xfrm>
            <a:off x="7882128" y="3493008"/>
            <a:ext cx="81381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1E2761"/>
                </a:solidFill>
              </a:rPr>
              <a:t>R$ 680,000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365760" y="3785616"/>
            <a:ext cx="1783080" cy="301752"/>
          </a:xfrm>
          <a:prstGeom prst="rect">
            <a:avLst/>
          </a:prstGeom>
          <a:solidFill>
            <a:srgbClr val="141C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393192" y="3822192"/>
            <a:ext cx="172821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ADCFC"/>
                </a:solidFill>
              </a:rPr>
              <a:t>Serra — Luiz</a:t>
            </a:r>
          </a:p>
        </p:txBody>
      </p:sp>
      <p:sp>
        <p:nvSpPr>
          <p:cNvPr id="151" name="Rectangle 150"/>
          <p:cNvSpPr/>
          <p:nvPr/>
        </p:nvSpPr>
        <p:spPr>
          <a:xfrm>
            <a:off x="2167128" y="3785616"/>
            <a:ext cx="1554480" cy="301752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TextBox 151"/>
          <p:cNvSpPr txBox="1"/>
          <p:nvPr/>
        </p:nvSpPr>
        <p:spPr>
          <a:xfrm>
            <a:off x="2194560" y="3822192"/>
            <a:ext cx="149961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ADCFC"/>
                </a:solidFill>
              </a:rPr>
              <a:t>Recuperação comercial</a:t>
            </a:r>
          </a:p>
        </p:txBody>
      </p:sp>
      <p:sp>
        <p:nvSpPr>
          <p:cNvPr id="153" name="Rectangle 152"/>
          <p:cNvSpPr/>
          <p:nvPr/>
        </p:nvSpPr>
        <p:spPr>
          <a:xfrm>
            <a:off x="3739896" y="3785616"/>
            <a:ext cx="868680" cy="301752"/>
          </a:xfrm>
          <a:prstGeom prst="rect">
            <a:avLst/>
          </a:prstGeom>
          <a:solidFill>
            <a:srgbClr val="FFE4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TextBox 153"/>
          <p:cNvSpPr txBox="1"/>
          <p:nvPr/>
        </p:nvSpPr>
        <p:spPr>
          <a:xfrm>
            <a:off x="3767328" y="3822192"/>
            <a:ext cx="81381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1E2761"/>
                </a:solidFill>
              </a:rPr>
              <a:t>R$ 210,000</a:t>
            </a:r>
          </a:p>
        </p:txBody>
      </p:sp>
      <p:sp>
        <p:nvSpPr>
          <p:cNvPr id="155" name="Rectangle 154"/>
          <p:cNvSpPr/>
          <p:nvPr/>
        </p:nvSpPr>
        <p:spPr>
          <a:xfrm>
            <a:off x="4626864" y="3785616"/>
            <a:ext cx="868680" cy="301752"/>
          </a:xfrm>
          <a:prstGeom prst="rect">
            <a:avLst/>
          </a:prstGeom>
          <a:solidFill>
            <a:srgbClr val="FFE4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4654296" y="3822192"/>
            <a:ext cx="81381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1E2761"/>
                </a:solidFill>
              </a:rPr>
              <a:t>R$ 177,799</a:t>
            </a:r>
          </a:p>
        </p:txBody>
      </p:sp>
      <p:sp>
        <p:nvSpPr>
          <p:cNvPr id="157" name="Rectangle 156"/>
          <p:cNvSpPr/>
          <p:nvPr/>
        </p:nvSpPr>
        <p:spPr>
          <a:xfrm>
            <a:off x="5513832" y="3785616"/>
            <a:ext cx="548640" cy="30175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TextBox 157"/>
          <p:cNvSpPr txBox="1"/>
          <p:nvPr/>
        </p:nvSpPr>
        <p:spPr>
          <a:xfrm>
            <a:off x="5541264" y="3822192"/>
            <a:ext cx="49377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FFFFFF"/>
                </a:solidFill>
              </a:rPr>
              <a:t>85%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6080760" y="3785616"/>
            <a:ext cx="868680" cy="301752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6108192" y="3822192"/>
            <a:ext cx="81381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R$ 210,000</a:t>
            </a:r>
          </a:p>
        </p:txBody>
      </p:sp>
      <p:sp>
        <p:nvSpPr>
          <p:cNvPr id="161" name="Rectangle 160"/>
          <p:cNvSpPr/>
          <p:nvPr/>
        </p:nvSpPr>
        <p:spPr>
          <a:xfrm>
            <a:off x="6967728" y="3785616"/>
            <a:ext cx="868680" cy="301752"/>
          </a:xfrm>
          <a:prstGeom prst="rect">
            <a:avLst/>
          </a:prstGeom>
          <a:solidFill>
            <a:srgbClr val="FFE4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TextBox 161"/>
          <p:cNvSpPr txBox="1"/>
          <p:nvPr/>
        </p:nvSpPr>
        <p:spPr>
          <a:xfrm>
            <a:off x="6995160" y="3822192"/>
            <a:ext cx="81381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1E2761"/>
                </a:solidFill>
              </a:rPr>
              <a:t>R$ 240,000</a:t>
            </a:r>
          </a:p>
        </p:txBody>
      </p:sp>
      <p:sp>
        <p:nvSpPr>
          <p:cNvPr id="163" name="Rectangle 162"/>
          <p:cNvSpPr/>
          <p:nvPr/>
        </p:nvSpPr>
        <p:spPr>
          <a:xfrm>
            <a:off x="7854696" y="3785616"/>
            <a:ext cx="868680" cy="301752"/>
          </a:xfrm>
          <a:prstGeom prst="rect">
            <a:avLst/>
          </a:prstGeom>
          <a:solidFill>
            <a:srgbClr val="FFE4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TextBox 163"/>
          <p:cNvSpPr txBox="1"/>
          <p:nvPr/>
        </p:nvSpPr>
        <p:spPr>
          <a:xfrm>
            <a:off x="7882128" y="3822192"/>
            <a:ext cx="81381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1E2761"/>
                </a:solidFill>
              </a:rPr>
              <a:t>R$ 660,000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365760" y="4114800"/>
            <a:ext cx="1783080" cy="301752"/>
          </a:xfrm>
          <a:prstGeom prst="rect">
            <a:avLst/>
          </a:prstGeom>
          <a:solidFill>
            <a:srgbClr val="141C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393192" y="4151376"/>
            <a:ext cx="172821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ADCFC"/>
                </a:solidFill>
              </a:rPr>
              <a:t>Montserrat — Jhenifer</a:t>
            </a:r>
          </a:p>
        </p:txBody>
      </p:sp>
      <p:sp>
        <p:nvSpPr>
          <p:cNvPr id="167" name="Rectangle 166"/>
          <p:cNvSpPr/>
          <p:nvPr/>
        </p:nvSpPr>
        <p:spPr>
          <a:xfrm>
            <a:off x="2167128" y="4114800"/>
            <a:ext cx="1554480" cy="301752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TextBox 167"/>
          <p:cNvSpPr txBox="1"/>
          <p:nvPr/>
        </p:nvSpPr>
        <p:spPr>
          <a:xfrm>
            <a:off x="2194560" y="4151376"/>
            <a:ext cx="149961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ADCFC"/>
                </a:solidFill>
              </a:rPr>
              <a:t>Meta progressiva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3739896" y="4114800"/>
            <a:ext cx="868680" cy="301752"/>
          </a:xfrm>
          <a:prstGeom prst="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3767328" y="4151376"/>
            <a:ext cx="81381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1E2761"/>
                </a:solidFill>
              </a:rPr>
              <a:t>R$ 160,000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4626864" y="4114800"/>
            <a:ext cx="868680" cy="301752"/>
          </a:xfrm>
          <a:prstGeom prst="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4654296" y="4151376"/>
            <a:ext cx="81381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1E2761"/>
                </a:solidFill>
              </a:rPr>
              <a:t>R$ 165,061</a:t>
            </a:r>
          </a:p>
        </p:txBody>
      </p:sp>
      <p:sp>
        <p:nvSpPr>
          <p:cNvPr id="173" name="Rectangle 172"/>
          <p:cNvSpPr/>
          <p:nvPr/>
        </p:nvSpPr>
        <p:spPr>
          <a:xfrm>
            <a:off x="5513832" y="4114800"/>
            <a:ext cx="548640" cy="301752"/>
          </a:xfrm>
          <a:prstGeom prst="rect">
            <a:avLst/>
          </a:prstGeom>
          <a:solidFill>
            <a:srgbClr val="145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TextBox 173"/>
          <p:cNvSpPr txBox="1"/>
          <p:nvPr/>
        </p:nvSpPr>
        <p:spPr>
          <a:xfrm>
            <a:off x="5541264" y="4151376"/>
            <a:ext cx="49377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1E2761"/>
                </a:solidFill>
              </a:rPr>
              <a:t>103%</a:t>
            </a:r>
          </a:p>
        </p:txBody>
      </p:sp>
      <p:sp>
        <p:nvSpPr>
          <p:cNvPr id="175" name="Rectangle 174"/>
          <p:cNvSpPr/>
          <p:nvPr/>
        </p:nvSpPr>
        <p:spPr>
          <a:xfrm>
            <a:off x="6080760" y="4114800"/>
            <a:ext cx="868680" cy="301752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TextBox 175"/>
          <p:cNvSpPr txBox="1"/>
          <p:nvPr/>
        </p:nvSpPr>
        <p:spPr>
          <a:xfrm>
            <a:off x="6108192" y="4151376"/>
            <a:ext cx="81381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R$ 165,000</a:t>
            </a:r>
          </a:p>
        </p:txBody>
      </p:sp>
      <p:sp>
        <p:nvSpPr>
          <p:cNvPr id="177" name="Rectangle 176"/>
          <p:cNvSpPr/>
          <p:nvPr/>
        </p:nvSpPr>
        <p:spPr>
          <a:xfrm>
            <a:off x="6967728" y="4114800"/>
            <a:ext cx="868680" cy="301752"/>
          </a:xfrm>
          <a:prstGeom prst="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TextBox 177"/>
          <p:cNvSpPr txBox="1"/>
          <p:nvPr/>
        </p:nvSpPr>
        <p:spPr>
          <a:xfrm>
            <a:off x="6995160" y="4151376"/>
            <a:ext cx="81381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1E2761"/>
                </a:solidFill>
              </a:rPr>
              <a:t>R$ 190,000</a:t>
            </a:r>
          </a:p>
        </p:txBody>
      </p:sp>
      <p:sp>
        <p:nvSpPr>
          <p:cNvPr id="179" name="Rectangle 178"/>
          <p:cNvSpPr/>
          <p:nvPr/>
        </p:nvSpPr>
        <p:spPr>
          <a:xfrm>
            <a:off x="7854696" y="4114800"/>
            <a:ext cx="868680" cy="301752"/>
          </a:xfrm>
          <a:prstGeom prst="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TextBox 179"/>
          <p:cNvSpPr txBox="1"/>
          <p:nvPr/>
        </p:nvSpPr>
        <p:spPr>
          <a:xfrm>
            <a:off x="7882128" y="4151376"/>
            <a:ext cx="81381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1E2761"/>
                </a:solidFill>
              </a:rPr>
              <a:t>R$ 515,000</a:t>
            </a:r>
          </a:p>
        </p:txBody>
      </p:sp>
      <p:sp>
        <p:nvSpPr>
          <p:cNvPr id="181" name="Rectangle 180"/>
          <p:cNvSpPr/>
          <p:nvPr/>
        </p:nvSpPr>
        <p:spPr>
          <a:xfrm>
            <a:off x="365760" y="4443984"/>
            <a:ext cx="1783080" cy="301752"/>
          </a:xfrm>
          <a:prstGeom prst="rect">
            <a:avLst/>
          </a:prstGeom>
          <a:solidFill>
            <a:srgbClr val="141C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TextBox 181"/>
          <p:cNvSpPr txBox="1"/>
          <p:nvPr/>
        </p:nvSpPr>
        <p:spPr>
          <a:xfrm>
            <a:off x="393192" y="4480560"/>
            <a:ext cx="172821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ADCFC"/>
                </a:solidFill>
              </a:rPr>
              <a:t>Praia da Costa — Renato</a:t>
            </a:r>
          </a:p>
        </p:txBody>
      </p:sp>
      <p:sp>
        <p:nvSpPr>
          <p:cNvPr id="183" name="Rectangle 182"/>
          <p:cNvSpPr/>
          <p:nvPr/>
        </p:nvSpPr>
        <p:spPr>
          <a:xfrm>
            <a:off x="2167128" y="4443984"/>
            <a:ext cx="1554480" cy="301752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TextBox 183"/>
          <p:cNvSpPr txBox="1"/>
          <p:nvPr/>
        </p:nvSpPr>
        <p:spPr>
          <a:xfrm>
            <a:off x="2194560" y="4480560"/>
            <a:ext cx="149961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ADCFC"/>
                </a:solidFill>
              </a:rPr>
              <a:t>Rentabilidade e attach</a:t>
            </a:r>
          </a:p>
        </p:txBody>
      </p:sp>
      <p:sp>
        <p:nvSpPr>
          <p:cNvPr id="185" name="Rectangle 184"/>
          <p:cNvSpPr/>
          <p:nvPr/>
        </p:nvSpPr>
        <p:spPr>
          <a:xfrm>
            <a:off x="3739896" y="4443984"/>
            <a:ext cx="868680" cy="301752"/>
          </a:xfrm>
          <a:prstGeom prst="rect">
            <a:avLst/>
          </a:prstGeom>
          <a:solidFill>
            <a:srgbClr val="FFE4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TextBox 185"/>
          <p:cNvSpPr txBox="1"/>
          <p:nvPr/>
        </p:nvSpPr>
        <p:spPr>
          <a:xfrm>
            <a:off x="3767328" y="4480560"/>
            <a:ext cx="81381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1E2761"/>
                </a:solidFill>
              </a:rPr>
              <a:t>R$ 130,000</a:t>
            </a:r>
          </a:p>
        </p:txBody>
      </p:sp>
      <p:sp>
        <p:nvSpPr>
          <p:cNvPr id="187" name="Rectangle 186"/>
          <p:cNvSpPr/>
          <p:nvPr/>
        </p:nvSpPr>
        <p:spPr>
          <a:xfrm>
            <a:off x="4626864" y="4443984"/>
            <a:ext cx="868680" cy="301752"/>
          </a:xfrm>
          <a:prstGeom prst="rect">
            <a:avLst/>
          </a:prstGeom>
          <a:solidFill>
            <a:srgbClr val="FFE4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TextBox 187"/>
          <p:cNvSpPr txBox="1"/>
          <p:nvPr/>
        </p:nvSpPr>
        <p:spPr>
          <a:xfrm>
            <a:off x="4654296" y="4480560"/>
            <a:ext cx="81381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1E2761"/>
                </a:solidFill>
              </a:rPr>
              <a:t>R$ 92,677</a:t>
            </a:r>
          </a:p>
        </p:txBody>
      </p:sp>
      <p:sp>
        <p:nvSpPr>
          <p:cNvPr id="189" name="Rectangle 188"/>
          <p:cNvSpPr/>
          <p:nvPr/>
        </p:nvSpPr>
        <p:spPr>
          <a:xfrm>
            <a:off x="5513832" y="4443984"/>
            <a:ext cx="548640" cy="30175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TextBox 189"/>
          <p:cNvSpPr txBox="1"/>
          <p:nvPr/>
        </p:nvSpPr>
        <p:spPr>
          <a:xfrm>
            <a:off x="5541264" y="4480560"/>
            <a:ext cx="49377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FFFFFF"/>
                </a:solidFill>
              </a:rPr>
              <a:t>71%</a:t>
            </a:r>
          </a:p>
        </p:txBody>
      </p:sp>
      <p:sp>
        <p:nvSpPr>
          <p:cNvPr id="191" name="Rectangle 190"/>
          <p:cNvSpPr/>
          <p:nvPr/>
        </p:nvSpPr>
        <p:spPr>
          <a:xfrm>
            <a:off x="6080760" y="4443984"/>
            <a:ext cx="868680" cy="301752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TextBox 191"/>
          <p:cNvSpPr txBox="1"/>
          <p:nvPr/>
        </p:nvSpPr>
        <p:spPr>
          <a:xfrm>
            <a:off x="6108192" y="4480560"/>
            <a:ext cx="81381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R$ 130,000</a:t>
            </a:r>
          </a:p>
        </p:txBody>
      </p:sp>
      <p:sp>
        <p:nvSpPr>
          <p:cNvPr id="193" name="Rectangle 192"/>
          <p:cNvSpPr/>
          <p:nvPr/>
        </p:nvSpPr>
        <p:spPr>
          <a:xfrm>
            <a:off x="6967728" y="4443984"/>
            <a:ext cx="868680" cy="301752"/>
          </a:xfrm>
          <a:prstGeom prst="rect">
            <a:avLst/>
          </a:prstGeom>
          <a:solidFill>
            <a:srgbClr val="FFE4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TextBox 193"/>
          <p:cNvSpPr txBox="1"/>
          <p:nvPr/>
        </p:nvSpPr>
        <p:spPr>
          <a:xfrm>
            <a:off x="6995160" y="4480560"/>
            <a:ext cx="81381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1E2761"/>
                </a:solidFill>
              </a:rPr>
              <a:t>R$ 150,000</a:t>
            </a:r>
          </a:p>
        </p:txBody>
      </p:sp>
      <p:sp>
        <p:nvSpPr>
          <p:cNvPr id="195" name="Rectangle 194"/>
          <p:cNvSpPr/>
          <p:nvPr/>
        </p:nvSpPr>
        <p:spPr>
          <a:xfrm>
            <a:off x="7854696" y="4443984"/>
            <a:ext cx="868680" cy="301752"/>
          </a:xfrm>
          <a:prstGeom prst="rect">
            <a:avLst/>
          </a:prstGeom>
          <a:solidFill>
            <a:srgbClr val="FFE4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TextBox 195"/>
          <p:cNvSpPr txBox="1"/>
          <p:nvPr/>
        </p:nvSpPr>
        <p:spPr>
          <a:xfrm>
            <a:off x="7882128" y="4480560"/>
            <a:ext cx="81381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1E2761"/>
                </a:solidFill>
              </a:rPr>
              <a:t>R$ 410,000</a:t>
            </a:r>
          </a:p>
        </p:txBody>
      </p:sp>
      <p:sp>
        <p:nvSpPr>
          <p:cNvPr id="197" name="Rectangle 196"/>
          <p:cNvSpPr/>
          <p:nvPr/>
        </p:nvSpPr>
        <p:spPr>
          <a:xfrm>
            <a:off x="365760" y="4773168"/>
            <a:ext cx="1783080" cy="34747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TextBox 197"/>
          <p:cNvSpPr txBox="1"/>
          <p:nvPr/>
        </p:nvSpPr>
        <p:spPr>
          <a:xfrm>
            <a:off x="393192" y="4818888"/>
            <a:ext cx="17099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1E2761"/>
                </a:solidFill>
              </a:rPr>
              <a:t>TOTAL REDE</a:t>
            </a:r>
          </a:p>
        </p:txBody>
      </p:sp>
      <p:sp>
        <p:nvSpPr>
          <p:cNvPr id="199" name="Rectangle 198"/>
          <p:cNvSpPr/>
          <p:nvPr/>
        </p:nvSpPr>
        <p:spPr>
          <a:xfrm>
            <a:off x="2167128" y="4773168"/>
            <a:ext cx="1554480" cy="34747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TextBox 199"/>
          <p:cNvSpPr txBox="1"/>
          <p:nvPr/>
        </p:nvSpPr>
        <p:spPr>
          <a:xfrm>
            <a:off x="2194560" y="4818888"/>
            <a:ext cx="14813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1E2761"/>
                </a:solidFill>
              </a:rPr>
              <a:t>11 lojas</a:t>
            </a:r>
          </a:p>
        </p:txBody>
      </p:sp>
      <p:sp>
        <p:nvSpPr>
          <p:cNvPr id="201" name="Rectangle 200"/>
          <p:cNvSpPr/>
          <p:nvPr/>
        </p:nvSpPr>
        <p:spPr>
          <a:xfrm>
            <a:off x="3739896" y="4773168"/>
            <a:ext cx="868680" cy="34747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TextBox 201"/>
          <p:cNvSpPr txBox="1"/>
          <p:nvPr/>
        </p:nvSpPr>
        <p:spPr>
          <a:xfrm>
            <a:off x="3767328" y="4818888"/>
            <a:ext cx="7955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1E2761"/>
                </a:solidFill>
              </a:rPr>
              <a:t>R$ 2,980,000</a:t>
            </a:r>
          </a:p>
        </p:txBody>
      </p:sp>
      <p:sp>
        <p:nvSpPr>
          <p:cNvPr id="203" name="Rectangle 202"/>
          <p:cNvSpPr/>
          <p:nvPr/>
        </p:nvSpPr>
        <p:spPr>
          <a:xfrm>
            <a:off x="4626864" y="4773168"/>
            <a:ext cx="868680" cy="34747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TextBox 203"/>
          <p:cNvSpPr txBox="1"/>
          <p:nvPr/>
        </p:nvSpPr>
        <p:spPr>
          <a:xfrm>
            <a:off x="4654296" y="4818888"/>
            <a:ext cx="7955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1E2761"/>
                </a:solidFill>
              </a:rPr>
              <a:t>R$ 2,568,811</a:t>
            </a:r>
          </a:p>
        </p:txBody>
      </p:sp>
      <p:sp>
        <p:nvSpPr>
          <p:cNvPr id="205" name="Rectangle 204"/>
          <p:cNvSpPr/>
          <p:nvPr/>
        </p:nvSpPr>
        <p:spPr>
          <a:xfrm>
            <a:off x="5513832" y="4773168"/>
            <a:ext cx="548640" cy="34747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TextBox 205"/>
          <p:cNvSpPr txBox="1"/>
          <p:nvPr/>
        </p:nvSpPr>
        <p:spPr>
          <a:xfrm>
            <a:off x="5541264" y="4818888"/>
            <a:ext cx="47548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1E2761"/>
                </a:solidFill>
              </a:rPr>
              <a:t>86%</a:t>
            </a:r>
          </a:p>
        </p:txBody>
      </p:sp>
      <p:sp>
        <p:nvSpPr>
          <p:cNvPr id="207" name="Rectangle 206"/>
          <p:cNvSpPr/>
          <p:nvPr/>
        </p:nvSpPr>
        <p:spPr>
          <a:xfrm>
            <a:off x="6080760" y="4773168"/>
            <a:ext cx="868680" cy="347472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TextBox 207"/>
          <p:cNvSpPr txBox="1"/>
          <p:nvPr/>
        </p:nvSpPr>
        <p:spPr>
          <a:xfrm>
            <a:off x="6108192" y="4818888"/>
            <a:ext cx="7955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R$ 3,000,000</a:t>
            </a:r>
          </a:p>
        </p:txBody>
      </p:sp>
      <p:sp>
        <p:nvSpPr>
          <p:cNvPr id="209" name="Rectangle 208"/>
          <p:cNvSpPr/>
          <p:nvPr/>
        </p:nvSpPr>
        <p:spPr>
          <a:xfrm>
            <a:off x="6967728" y="4773168"/>
            <a:ext cx="868680" cy="34747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TextBox 209"/>
          <p:cNvSpPr txBox="1"/>
          <p:nvPr/>
        </p:nvSpPr>
        <p:spPr>
          <a:xfrm>
            <a:off x="6995160" y="4818888"/>
            <a:ext cx="7955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1E2761"/>
                </a:solidFill>
              </a:rPr>
              <a:t>R$ 3,500,000</a:t>
            </a:r>
          </a:p>
        </p:txBody>
      </p:sp>
      <p:sp>
        <p:nvSpPr>
          <p:cNvPr id="211" name="Rectangle 210"/>
          <p:cNvSpPr/>
          <p:nvPr/>
        </p:nvSpPr>
        <p:spPr>
          <a:xfrm>
            <a:off x="7854696" y="4773168"/>
            <a:ext cx="868680" cy="34747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TextBox 211"/>
          <p:cNvSpPr txBox="1"/>
          <p:nvPr/>
        </p:nvSpPr>
        <p:spPr>
          <a:xfrm>
            <a:off x="7882128" y="4818888"/>
            <a:ext cx="7955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1E2761"/>
                </a:solidFill>
              </a:rPr>
              <a:t>R$ 9,480,000</a:t>
            </a:r>
          </a:p>
        </p:txBody>
      </p:sp>
      <p:sp>
        <p:nvSpPr>
          <p:cNvPr id="213" name="Rectangle 212"/>
          <p:cNvSpPr/>
          <p:nvPr/>
        </p:nvSpPr>
        <p:spPr>
          <a:xfrm>
            <a:off x="365760" y="4617720"/>
            <a:ext cx="8412480" cy="164592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TextBox 213"/>
          <p:cNvSpPr txBox="1"/>
          <p:nvPr/>
        </p:nvSpPr>
        <p:spPr>
          <a:xfrm>
            <a:off x="457200" y="4626864"/>
            <a:ext cx="82296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✏️  METAS DE MAIO REVISADAS COM BASE NO DESEMPENHO DE ABRIL  ·  Meta total mai: R$ 3.000.000 (revisada de R$ 3.200.000)</a:t>
            </a:r>
          </a:p>
        </p:txBody>
      </p:sp>
      <p:sp>
        <p:nvSpPr>
          <p:cNvPr id="215" name="Rectangle 214"/>
          <p:cNvSpPr/>
          <p:nvPr/>
        </p:nvSpPr>
        <p:spPr>
          <a:xfrm>
            <a:off x="0" y="4800600"/>
            <a:ext cx="9144000" cy="320040"/>
          </a:xfrm>
          <a:prstGeom prst="rect">
            <a:avLst/>
          </a:prstGeom>
          <a:solidFill>
            <a:srgbClr val="141C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TextBox 215"/>
          <p:cNvSpPr txBox="1"/>
          <p:nvPr/>
        </p:nvSpPr>
        <p:spPr>
          <a:xfrm>
            <a:off x="548640" y="4846320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CADCFC"/>
                </a:solidFill>
              </a:rPr>
              <a:t>REDE TITÃS  ·  PLANEJAMENTO Q2 2026  ·  METAS ATUALIZADAS MAIO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</p:bgPr>
    </p:bg>
    <p:spTree>
      <p:sp>
        <p:nvSpPr>
          <p:cNvPr id="1" name="Rectangle 0"/>
          <p:cNvSpPr/>
          <p:nvPr/>
        </p:nvSpPr>
        <p:spPr>
          <a:xfrm>
            <a:off x="0" y="0"/>
            <a:ext cx="411480" cy="512064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411480" y="0"/>
            <a:ext cx="8732520" cy="640080"/>
          </a:xfrm>
          <a:prstGeom prst="rect">
            <a:avLst/>
          </a:prstGeom>
          <a:solidFill>
            <a:srgbClr val="141C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914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A623"/>
                </a:solidFill>
              </a:rPr>
              <a:t>RESULTADO FINAL — ABRIL 2026  ✅  FECHAMENTO OFICIAL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CADCFC"/>
                </a:solidFill>
              </a:rPr>
              <a:t>Total Rede: R$ 2,658,228.34  ·  Meta: R$ 2,980,000  ·  Atingimento: 89.2%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749808"/>
            <a:ext cx="320040" cy="34747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93776" y="777240"/>
            <a:ext cx="24688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1E2761"/>
                </a:solidFill>
              </a:rPr>
              <a:t>#</a:t>
            </a:r>
          </a:p>
        </p:txBody>
      </p:sp>
      <p:sp>
        <p:nvSpPr>
          <p:cNvPr id="7" name="Rectangle 6"/>
          <p:cNvSpPr/>
          <p:nvPr/>
        </p:nvSpPr>
        <p:spPr>
          <a:xfrm>
            <a:off x="813816" y="749808"/>
            <a:ext cx="2468880" cy="347472"/>
          </a:xfrm>
          <a:prstGeom prst="rect">
            <a:avLst/>
          </a:prstGeom>
          <a:solidFill>
            <a:srgbClr val="141C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" y="777240"/>
            <a:ext cx="239572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5A623"/>
                </a:solidFill>
              </a:rPr>
              <a:t>LOJA — GERENTE</a:t>
            </a:r>
          </a:p>
        </p:txBody>
      </p:sp>
      <p:sp>
        <p:nvSpPr>
          <p:cNvPr id="9" name="Rectangle 8"/>
          <p:cNvSpPr/>
          <p:nvPr/>
        </p:nvSpPr>
        <p:spPr>
          <a:xfrm>
            <a:off x="3319272" y="749808"/>
            <a:ext cx="1463040" cy="34747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55848" y="777240"/>
            <a:ext cx="138988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1E2761"/>
                </a:solidFill>
              </a:rPr>
              <a:t>REALIZADO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818888" y="749808"/>
            <a:ext cx="1463040" cy="34747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55464" y="777240"/>
            <a:ext cx="138988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1E2761"/>
                </a:solidFill>
              </a:rPr>
              <a:t>META ABRIL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18504" y="749808"/>
            <a:ext cx="685800" cy="34747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777240"/>
            <a:ext cx="61264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1E2761"/>
                </a:solidFill>
              </a:rPr>
              <a:t>% META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040880" y="749808"/>
            <a:ext cx="2103120" cy="34747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077456" y="777240"/>
            <a:ext cx="202996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1E2761"/>
                </a:solidFill>
              </a:rPr>
              <a:t>STATUS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1152144"/>
            <a:ext cx="320040" cy="320040"/>
          </a:xfrm>
          <a:prstGeom prst="rect">
            <a:avLst/>
          </a:prstGeom>
          <a:solidFill>
            <a:srgbClr val="E8ED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4632" y="1188720"/>
            <a:ext cx="2651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1E2761"/>
                </a:solidFill>
              </a:rPr>
              <a:t>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3816" y="1152144"/>
            <a:ext cx="2468880" cy="320040"/>
          </a:xfrm>
          <a:prstGeom prst="rect">
            <a:avLst/>
          </a:prstGeom>
          <a:solidFill>
            <a:srgbClr val="141C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8" y="1188720"/>
            <a:ext cx="24140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CADCFC"/>
                </a:solidFill>
              </a:rPr>
              <a:t>São Mateus — Juliana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319272" y="1152144"/>
            <a:ext cx="1463040" cy="320040"/>
          </a:xfrm>
          <a:prstGeom prst="rect">
            <a:avLst/>
          </a:prstGeom>
          <a:solidFill>
            <a:srgbClr val="E8ED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46704" y="1188720"/>
            <a:ext cx="14081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1E2761"/>
                </a:solidFill>
              </a:rPr>
              <a:t>R$ 450,636.93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818888" y="1152144"/>
            <a:ext cx="1463040" cy="320040"/>
          </a:xfrm>
          <a:prstGeom prst="rect">
            <a:avLst/>
          </a:prstGeom>
          <a:solidFill>
            <a:srgbClr val="E8ED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46320" y="1188720"/>
            <a:ext cx="14081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1E2761"/>
                </a:solidFill>
              </a:rPr>
              <a:t>R$ 450,000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18504" y="1152144"/>
            <a:ext cx="685800" cy="32004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45936" y="1188720"/>
            <a:ext cx="6309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1E2761"/>
                </a:solidFill>
              </a:rPr>
              <a:t>100.1%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040880" y="1152144"/>
            <a:ext cx="2103120" cy="32004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068312" y="1188720"/>
            <a:ext cx="20482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✅ META BATIDA!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1499616"/>
            <a:ext cx="320040" cy="320040"/>
          </a:xfrm>
          <a:prstGeom prst="rect">
            <a:avLst/>
          </a:prstGeom>
          <a:solidFill>
            <a:srgbClr val="D5D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84632" y="1536192"/>
            <a:ext cx="2651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1E2761"/>
                </a:solidFill>
              </a:rPr>
              <a:t>2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13816" y="1499616"/>
            <a:ext cx="2468880" cy="320040"/>
          </a:xfrm>
          <a:prstGeom prst="rect">
            <a:avLst/>
          </a:prstGeom>
          <a:solidFill>
            <a:srgbClr val="141C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41248" y="1536192"/>
            <a:ext cx="24140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CADCFC"/>
                </a:solidFill>
              </a:rPr>
              <a:t>Cariacica — Gabriel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319272" y="1499616"/>
            <a:ext cx="1463040" cy="320040"/>
          </a:xfrm>
          <a:prstGeom prst="rect">
            <a:avLst/>
          </a:prstGeom>
          <a:solidFill>
            <a:srgbClr val="D5D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346704" y="1536192"/>
            <a:ext cx="14081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1E2761"/>
                </a:solidFill>
              </a:rPr>
              <a:t>R$ 356,233.15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818888" y="1499616"/>
            <a:ext cx="1463040" cy="320040"/>
          </a:xfrm>
          <a:prstGeom prst="rect">
            <a:avLst/>
          </a:prstGeom>
          <a:solidFill>
            <a:srgbClr val="D5D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846320" y="1536192"/>
            <a:ext cx="14081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1E2761"/>
                </a:solidFill>
              </a:rPr>
              <a:t>R$ 450,000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318504" y="1499616"/>
            <a:ext cx="685800" cy="32004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45936" y="1536192"/>
            <a:ext cx="6309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FFFFFF"/>
                </a:solidFill>
              </a:rPr>
              <a:t>79.2%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040880" y="1499616"/>
            <a:ext cx="2103120" cy="32004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068312" y="1536192"/>
            <a:ext cx="20482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FFFFFF"/>
                </a:solidFill>
              </a:rPr>
              <a:t>⚠ ABAIXO META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7200" y="1847088"/>
            <a:ext cx="320040" cy="320040"/>
          </a:xfrm>
          <a:prstGeom prst="rect">
            <a:avLst/>
          </a:prstGeom>
          <a:solidFill>
            <a:srgbClr val="E8ED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84632" y="1883664"/>
            <a:ext cx="2651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1E2761"/>
                </a:solidFill>
              </a:rPr>
              <a:t>3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13816" y="1847088"/>
            <a:ext cx="2468880" cy="320040"/>
          </a:xfrm>
          <a:prstGeom prst="rect">
            <a:avLst/>
          </a:prstGeom>
          <a:solidFill>
            <a:srgbClr val="141C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41248" y="1883664"/>
            <a:ext cx="24140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CADCFC"/>
                </a:solidFill>
              </a:rPr>
              <a:t>Itabuna — Reinan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319272" y="1847088"/>
            <a:ext cx="1463040" cy="320040"/>
          </a:xfrm>
          <a:prstGeom prst="rect">
            <a:avLst/>
          </a:prstGeom>
          <a:solidFill>
            <a:srgbClr val="E8ED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346704" y="1883664"/>
            <a:ext cx="14081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1E2761"/>
                </a:solidFill>
              </a:rPr>
              <a:t>R$ 327,096.92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818888" y="1847088"/>
            <a:ext cx="1463040" cy="320040"/>
          </a:xfrm>
          <a:prstGeom prst="rect">
            <a:avLst/>
          </a:prstGeom>
          <a:solidFill>
            <a:srgbClr val="E8ED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846320" y="1883664"/>
            <a:ext cx="14081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1E2761"/>
                </a:solidFill>
              </a:rPr>
              <a:t>R$ 390,000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318504" y="1847088"/>
            <a:ext cx="685800" cy="320040"/>
          </a:xfrm>
          <a:prstGeom prst="rect">
            <a:avLst/>
          </a:prstGeom>
          <a:solidFill>
            <a:srgbClr val="FFF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345936" y="1883664"/>
            <a:ext cx="6309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1E2761"/>
                </a:solidFill>
              </a:rPr>
              <a:t>83.9%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040880" y="1847088"/>
            <a:ext cx="2103120" cy="320040"/>
          </a:xfrm>
          <a:prstGeom prst="rect">
            <a:avLst/>
          </a:prstGeom>
          <a:solidFill>
            <a:srgbClr val="FFF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068312" y="1883664"/>
            <a:ext cx="20482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1E2761"/>
                </a:solidFill>
              </a:rPr>
              <a:t>● EM RITMO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57200" y="2194560"/>
            <a:ext cx="320040" cy="320040"/>
          </a:xfrm>
          <a:prstGeom prst="rect">
            <a:avLst/>
          </a:prstGeom>
          <a:solidFill>
            <a:srgbClr val="D5D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84632" y="2231136"/>
            <a:ext cx="2651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1E2761"/>
                </a:solidFill>
              </a:rPr>
              <a:t>4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13816" y="2194560"/>
            <a:ext cx="2468880" cy="320040"/>
          </a:xfrm>
          <a:prstGeom prst="rect">
            <a:avLst/>
          </a:prstGeom>
          <a:solidFill>
            <a:srgbClr val="141C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41248" y="2231136"/>
            <a:ext cx="24140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CADCFC"/>
                </a:solidFill>
              </a:rPr>
              <a:t>Barreiras — Daniela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319272" y="2194560"/>
            <a:ext cx="1463040" cy="320040"/>
          </a:xfrm>
          <a:prstGeom prst="rect">
            <a:avLst/>
          </a:prstGeom>
          <a:solidFill>
            <a:srgbClr val="D5D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346704" y="2231136"/>
            <a:ext cx="14081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1E2761"/>
                </a:solidFill>
              </a:rPr>
              <a:t>R$ 277,032.06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818888" y="2194560"/>
            <a:ext cx="1463040" cy="320040"/>
          </a:xfrm>
          <a:prstGeom prst="rect">
            <a:avLst/>
          </a:prstGeom>
          <a:solidFill>
            <a:srgbClr val="D5D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846320" y="2231136"/>
            <a:ext cx="14081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1E2761"/>
                </a:solidFill>
              </a:rPr>
              <a:t>R$ 270,000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318504" y="2194560"/>
            <a:ext cx="685800" cy="32004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345936" y="2231136"/>
            <a:ext cx="6309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1E2761"/>
                </a:solidFill>
              </a:rPr>
              <a:t>102.6%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040880" y="2194560"/>
            <a:ext cx="2103120" cy="32004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068312" y="2231136"/>
            <a:ext cx="20482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✅ META BATIDA!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57200" y="2542032"/>
            <a:ext cx="320040" cy="320040"/>
          </a:xfrm>
          <a:prstGeom prst="rect">
            <a:avLst/>
          </a:prstGeom>
          <a:solidFill>
            <a:srgbClr val="E8ED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84632" y="2578608"/>
            <a:ext cx="2651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1E2761"/>
                </a:solidFill>
              </a:rPr>
              <a:t>5</a:t>
            </a:r>
          </a:p>
        </p:txBody>
      </p:sp>
      <p:sp>
        <p:nvSpPr>
          <p:cNvPr id="67" name="Rectangle 66"/>
          <p:cNvSpPr/>
          <p:nvPr/>
        </p:nvSpPr>
        <p:spPr>
          <a:xfrm>
            <a:off x="813816" y="2542032"/>
            <a:ext cx="2468880" cy="320040"/>
          </a:xfrm>
          <a:prstGeom prst="rect">
            <a:avLst/>
          </a:prstGeom>
          <a:solidFill>
            <a:srgbClr val="141C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41248" y="2578608"/>
            <a:ext cx="24140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CADCFC"/>
                </a:solidFill>
              </a:rPr>
              <a:t>Moxuara — Ana</a:t>
            </a:r>
          </a:p>
        </p:txBody>
      </p:sp>
      <p:sp>
        <p:nvSpPr>
          <p:cNvPr id="69" name="Rectangle 68"/>
          <p:cNvSpPr/>
          <p:nvPr/>
        </p:nvSpPr>
        <p:spPr>
          <a:xfrm>
            <a:off x="3319272" y="2542032"/>
            <a:ext cx="1463040" cy="320040"/>
          </a:xfrm>
          <a:prstGeom prst="rect">
            <a:avLst/>
          </a:prstGeom>
          <a:solidFill>
            <a:srgbClr val="E8ED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3346704" y="2578608"/>
            <a:ext cx="14081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1E2761"/>
                </a:solidFill>
              </a:rPr>
              <a:t>R$ 259,657.60</a:t>
            </a:r>
          </a:p>
        </p:txBody>
      </p:sp>
      <p:sp>
        <p:nvSpPr>
          <p:cNvPr id="71" name="Rectangle 70"/>
          <p:cNvSpPr/>
          <p:nvPr/>
        </p:nvSpPr>
        <p:spPr>
          <a:xfrm>
            <a:off x="4818888" y="2542032"/>
            <a:ext cx="1463040" cy="320040"/>
          </a:xfrm>
          <a:prstGeom prst="rect">
            <a:avLst/>
          </a:prstGeom>
          <a:solidFill>
            <a:srgbClr val="E8ED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4846320" y="2578608"/>
            <a:ext cx="14081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1E2761"/>
                </a:solidFill>
              </a:rPr>
              <a:t>R$ 270,000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318504" y="2542032"/>
            <a:ext cx="685800" cy="320040"/>
          </a:xfrm>
          <a:prstGeom prst="rect">
            <a:avLst/>
          </a:prstGeom>
          <a:solidFill>
            <a:srgbClr val="E8ED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345936" y="2578608"/>
            <a:ext cx="6309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1E2761"/>
                </a:solidFill>
              </a:rPr>
              <a:t>96.2%</a:t>
            </a:r>
          </a:p>
        </p:txBody>
      </p:sp>
      <p:sp>
        <p:nvSpPr>
          <p:cNvPr id="75" name="Rectangle 74"/>
          <p:cNvSpPr/>
          <p:nvPr/>
        </p:nvSpPr>
        <p:spPr>
          <a:xfrm>
            <a:off x="7040880" y="2542032"/>
            <a:ext cx="2103120" cy="320040"/>
          </a:xfrm>
          <a:prstGeom prst="rect">
            <a:avLst/>
          </a:prstGeom>
          <a:solidFill>
            <a:srgbClr val="E8ED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7068312" y="2578608"/>
            <a:ext cx="20482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1E2761"/>
                </a:solidFill>
              </a:rPr>
              <a:t>▲ ACIMA 90%</a:t>
            </a:r>
          </a:p>
        </p:txBody>
      </p:sp>
      <p:sp>
        <p:nvSpPr>
          <p:cNvPr id="77" name="Rectangle 76"/>
          <p:cNvSpPr/>
          <p:nvPr/>
        </p:nvSpPr>
        <p:spPr>
          <a:xfrm>
            <a:off x="457200" y="2889504"/>
            <a:ext cx="320040" cy="320040"/>
          </a:xfrm>
          <a:prstGeom prst="rect">
            <a:avLst/>
          </a:prstGeom>
          <a:solidFill>
            <a:srgbClr val="D5D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484632" y="2926080"/>
            <a:ext cx="2651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1E2761"/>
                </a:solidFill>
              </a:rPr>
              <a:t>6</a:t>
            </a:r>
          </a:p>
        </p:txBody>
      </p:sp>
      <p:sp>
        <p:nvSpPr>
          <p:cNvPr id="79" name="Rectangle 78"/>
          <p:cNvSpPr/>
          <p:nvPr/>
        </p:nvSpPr>
        <p:spPr>
          <a:xfrm>
            <a:off x="813816" y="2889504"/>
            <a:ext cx="2468880" cy="320040"/>
          </a:xfrm>
          <a:prstGeom prst="rect">
            <a:avLst/>
          </a:prstGeom>
          <a:solidFill>
            <a:srgbClr val="141C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841248" y="2926080"/>
            <a:ext cx="24140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CADCFC"/>
                </a:solidFill>
              </a:rPr>
              <a:t>Teixeira — Junior Dias</a:t>
            </a:r>
          </a:p>
        </p:txBody>
      </p:sp>
      <p:sp>
        <p:nvSpPr>
          <p:cNvPr id="81" name="Rectangle 80"/>
          <p:cNvSpPr/>
          <p:nvPr/>
        </p:nvSpPr>
        <p:spPr>
          <a:xfrm>
            <a:off x="3319272" y="2889504"/>
            <a:ext cx="1463040" cy="320040"/>
          </a:xfrm>
          <a:prstGeom prst="rect">
            <a:avLst/>
          </a:prstGeom>
          <a:solidFill>
            <a:srgbClr val="D5D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3346704" y="2926080"/>
            <a:ext cx="14081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1E2761"/>
                </a:solidFill>
              </a:rPr>
              <a:t>R$ 226,941.59</a:t>
            </a:r>
          </a:p>
        </p:txBody>
      </p:sp>
      <p:sp>
        <p:nvSpPr>
          <p:cNvPr id="83" name="Rectangle 82"/>
          <p:cNvSpPr/>
          <p:nvPr/>
        </p:nvSpPr>
        <p:spPr>
          <a:xfrm>
            <a:off x="4818888" y="2889504"/>
            <a:ext cx="1463040" cy="320040"/>
          </a:xfrm>
          <a:prstGeom prst="rect">
            <a:avLst/>
          </a:prstGeom>
          <a:solidFill>
            <a:srgbClr val="D5D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4846320" y="2926080"/>
            <a:ext cx="14081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1E2761"/>
                </a:solidFill>
              </a:rPr>
              <a:t>R$ 220,000</a:t>
            </a:r>
          </a:p>
        </p:txBody>
      </p:sp>
      <p:sp>
        <p:nvSpPr>
          <p:cNvPr id="85" name="Rectangle 84"/>
          <p:cNvSpPr/>
          <p:nvPr/>
        </p:nvSpPr>
        <p:spPr>
          <a:xfrm>
            <a:off x="6318504" y="2889504"/>
            <a:ext cx="685800" cy="32004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6345936" y="2926080"/>
            <a:ext cx="6309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1E2761"/>
                </a:solidFill>
              </a:rPr>
              <a:t>103.2%</a:t>
            </a:r>
          </a:p>
        </p:txBody>
      </p:sp>
      <p:sp>
        <p:nvSpPr>
          <p:cNvPr id="87" name="Rectangle 86"/>
          <p:cNvSpPr/>
          <p:nvPr/>
        </p:nvSpPr>
        <p:spPr>
          <a:xfrm>
            <a:off x="7040880" y="2889504"/>
            <a:ext cx="2103120" cy="32004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7068312" y="2926080"/>
            <a:ext cx="20482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✅ META BATIDA!</a:t>
            </a:r>
          </a:p>
        </p:txBody>
      </p:sp>
      <p:sp>
        <p:nvSpPr>
          <p:cNvPr id="89" name="Rectangle 88"/>
          <p:cNvSpPr/>
          <p:nvPr/>
        </p:nvSpPr>
        <p:spPr>
          <a:xfrm>
            <a:off x="457200" y="3236976"/>
            <a:ext cx="320040" cy="320040"/>
          </a:xfrm>
          <a:prstGeom prst="rect">
            <a:avLst/>
          </a:prstGeom>
          <a:solidFill>
            <a:srgbClr val="E8ED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484632" y="3273552"/>
            <a:ext cx="2651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1E2761"/>
                </a:solidFill>
              </a:rPr>
              <a:t>7</a:t>
            </a:r>
          </a:p>
        </p:txBody>
      </p:sp>
      <p:sp>
        <p:nvSpPr>
          <p:cNvPr id="91" name="Rectangle 90"/>
          <p:cNvSpPr/>
          <p:nvPr/>
        </p:nvSpPr>
        <p:spPr>
          <a:xfrm>
            <a:off x="813816" y="3236976"/>
            <a:ext cx="2468880" cy="320040"/>
          </a:xfrm>
          <a:prstGeom prst="rect">
            <a:avLst/>
          </a:prstGeom>
          <a:solidFill>
            <a:srgbClr val="141C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841248" y="3273552"/>
            <a:ext cx="24140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CADCFC"/>
                </a:solidFill>
              </a:rPr>
              <a:t>Serra — Luiz</a:t>
            </a:r>
          </a:p>
        </p:txBody>
      </p:sp>
      <p:sp>
        <p:nvSpPr>
          <p:cNvPr id="93" name="Rectangle 92"/>
          <p:cNvSpPr/>
          <p:nvPr/>
        </p:nvSpPr>
        <p:spPr>
          <a:xfrm>
            <a:off x="3319272" y="3236976"/>
            <a:ext cx="1463040" cy="320040"/>
          </a:xfrm>
          <a:prstGeom prst="rect">
            <a:avLst/>
          </a:prstGeom>
          <a:solidFill>
            <a:srgbClr val="E8ED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3346704" y="3273552"/>
            <a:ext cx="14081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1E2761"/>
                </a:solidFill>
              </a:rPr>
              <a:t>R$ 179,877.96</a:t>
            </a:r>
          </a:p>
        </p:txBody>
      </p:sp>
      <p:sp>
        <p:nvSpPr>
          <p:cNvPr id="95" name="Rectangle 94"/>
          <p:cNvSpPr/>
          <p:nvPr/>
        </p:nvSpPr>
        <p:spPr>
          <a:xfrm>
            <a:off x="4818888" y="3236976"/>
            <a:ext cx="1463040" cy="320040"/>
          </a:xfrm>
          <a:prstGeom prst="rect">
            <a:avLst/>
          </a:prstGeom>
          <a:solidFill>
            <a:srgbClr val="E8ED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4846320" y="3273552"/>
            <a:ext cx="14081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1E2761"/>
                </a:solidFill>
              </a:rPr>
              <a:t>R$ 210,000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318504" y="3236976"/>
            <a:ext cx="685800" cy="320040"/>
          </a:xfrm>
          <a:prstGeom prst="rect">
            <a:avLst/>
          </a:prstGeom>
          <a:solidFill>
            <a:srgbClr val="FFF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345936" y="3273552"/>
            <a:ext cx="6309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1E2761"/>
                </a:solidFill>
              </a:rPr>
              <a:t>85.7%</a:t>
            </a:r>
          </a:p>
        </p:txBody>
      </p:sp>
      <p:sp>
        <p:nvSpPr>
          <p:cNvPr id="99" name="Rectangle 98"/>
          <p:cNvSpPr/>
          <p:nvPr/>
        </p:nvSpPr>
        <p:spPr>
          <a:xfrm>
            <a:off x="7040880" y="3236976"/>
            <a:ext cx="2103120" cy="320040"/>
          </a:xfrm>
          <a:prstGeom prst="rect">
            <a:avLst/>
          </a:prstGeom>
          <a:solidFill>
            <a:srgbClr val="FFF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7068312" y="3273552"/>
            <a:ext cx="20482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1E2761"/>
                </a:solidFill>
              </a:rPr>
              <a:t>● EM RITMO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457200" y="3584448"/>
            <a:ext cx="320040" cy="320040"/>
          </a:xfrm>
          <a:prstGeom prst="rect">
            <a:avLst/>
          </a:prstGeom>
          <a:solidFill>
            <a:srgbClr val="D5D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484632" y="3621024"/>
            <a:ext cx="2651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1E2761"/>
                </a:solidFill>
              </a:rPr>
              <a:t>8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813816" y="3584448"/>
            <a:ext cx="2468880" cy="320040"/>
          </a:xfrm>
          <a:prstGeom prst="rect">
            <a:avLst/>
          </a:prstGeom>
          <a:solidFill>
            <a:srgbClr val="141C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841248" y="3621024"/>
            <a:ext cx="24140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CADCFC"/>
                </a:solidFill>
              </a:rPr>
              <a:t>Montserrat — Jhenifer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3319272" y="3584448"/>
            <a:ext cx="1463040" cy="320040"/>
          </a:xfrm>
          <a:prstGeom prst="rect">
            <a:avLst/>
          </a:prstGeom>
          <a:solidFill>
            <a:srgbClr val="D5D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3346704" y="3621024"/>
            <a:ext cx="14081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1E2761"/>
                </a:solidFill>
              </a:rPr>
              <a:t>R$ 169,456.00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4818888" y="3584448"/>
            <a:ext cx="1463040" cy="320040"/>
          </a:xfrm>
          <a:prstGeom prst="rect">
            <a:avLst/>
          </a:prstGeom>
          <a:solidFill>
            <a:srgbClr val="D5D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4846320" y="3621024"/>
            <a:ext cx="14081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1E2761"/>
                </a:solidFill>
              </a:rPr>
              <a:t>R$ 160,000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6318504" y="3584448"/>
            <a:ext cx="685800" cy="32004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6345936" y="3621024"/>
            <a:ext cx="6309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1E2761"/>
                </a:solidFill>
              </a:rPr>
              <a:t>105.9%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7040880" y="3584448"/>
            <a:ext cx="2103120" cy="32004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7068312" y="3621024"/>
            <a:ext cx="20482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✅ META BATIDA!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457200" y="3931920"/>
            <a:ext cx="320040" cy="320040"/>
          </a:xfrm>
          <a:prstGeom prst="rect">
            <a:avLst/>
          </a:prstGeom>
          <a:solidFill>
            <a:srgbClr val="E8ED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484632" y="3968496"/>
            <a:ext cx="2651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1E2761"/>
                </a:solidFill>
              </a:rPr>
              <a:t>9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813816" y="3931920"/>
            <a:ext cx="2468880" cy="320040"/>
          </a:xfrm>
          <a:prstGeom prst="rect">
            <a:avLst/>
          </a:prstGeom>
          <a:solidFill>
            <a:srgbClr val="141C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841248" y="3968496"/>
            <a:ext cx="24140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CADCFC"/>
                </a:solidFill>
              </a:rPr>
              <a:t>Linhares — Kristian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3319272" y="3931920"/>
            <a:ext cx="1463040" cy="320040"/>
          </a:xfrm>
          <a:prstGeom prst="rect">
            <a:avLst/>
          </a:prstGeom>
          <a:solidFill>
            <a:srgbClr val="E8ED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3346704" y="3968496"/>
            <a:ext cx="14081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1E2761"/>
                </a:solidFill>
              </a:rPr>
              <a:t>R$ 157,681.99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4818888" y="3931920"/>
            <a:ext cx="1463040" cy="320040"/>
          </a:xfrm>
          <a:prstGeom prst="rect">
            <a:avLst/>
          </a:prstGeom>
          <a:solidFill>
            <a:srgbClr val="E8ED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4846320" y="3968496"/>
            <a:ext cx="14081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1E2761"/>
                </a:solidFill>
              </a:rPr>
              <a:t>R$ 210,000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6318504" y="3931920"/>
            <a:ext cx="685800" cy="32004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6345936" y="3968496"/>
            <a:ext cx="6309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FFFFFF"/>
                </a:solidFill>
              </a:rPr>
              <a:t>75.1%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7040880" y="3931920"/>
            <a:ext cx="2103120" cy="32004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7068312" y="3968496"/>
            <a:ext cx="20482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FFFFFF"/>
                </a:solidFill>
              </a:rPr>
              <a:t>⚠ ABAIXO META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457200" y="4279392"/>
            <a:ext cx="320040" cy="320040"/>
          </a:xfrm>
          <a:prstGeom prst="rect">
            <a:avLst/>
          </a:prstGeom>
          <a:solidFill>
            <a:srgbClr val="D5D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484632" y="4315968"/>
            <a:ext cx="2651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1E2761"/>
                </a:solidFill>
              </a:rPr>
              <a:t>10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813816" y="4279392"/>
            <a:ext cx="2468880" cy="320040"/>
          </a:xfrm>
          <a:prstGeom prst="rect">
            <a:avLst/>
          </a:prstGeom>
          <a:solidFill>
            <a:srgbClr val="141C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841248" y="4315968"/>
            <a:ext cx="24140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CADCFC"/>
                </a:solidFill>
              </a:rPr>
              <a:t>Laranjeiras — Jhenifer E.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3319272" y="4279392"/>
            <a:ext cx="1463040" cy="320040"/>
          </a:xfrm>
          <a:prstGeom prst="rect">
            <a:avLst/>
          </a:prstGeom>
          <a:solidFill>
            <a:srgbClr val="D5D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3346704" y="4315968"/>
            <a:ext cx="14081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1E2761"/>
                </a:solidFill>
              </a:rPr>
              <a:t>R$ 153,937.15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4818888" y="4279392"/>
            <a:ext cx="1463040" cy="320040"/>
          </a:xfrm>
          <a:prstGeom prst="rect">
            <a:avLst/>
          </a:prstGeom>
          <a:solidFill>
            <a:srgbClr val="D5D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4846320" y="4315968"/>
            <a:ext cx="14081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1E2761"/>
                </a:solidFill>
              </a:rPr>
              <a:t>R$ 220,000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6318504" y="4279392"/>
            <a:ext cx="685800" cy="32004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6345936" y="4315968"/>
            <a:ext cx="6309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FFFFFF"/>
                </a:solidFill>
              </a:rPr>
              <a:t>70.0%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7040880" y="4279392"/>
            <a:ext cx="2103120" cy="32004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7068312" y="4315968"/>
            <a:ext cx="20482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FFFFFF"/>
                </a:solidFill>
              </a:rPr>
              <a:t>⚠ ABAIXO META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457200" y="4626864"/>
            <a:ext cx="320040" cy="320040"/>
          </a:xfrm>
          <a:prstGeom prst="rect">
            <a:avLst/>
          </a:prstGeom>
          <a:solidFill>
            <a:srgbClr val="E8ED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484632" y="4663440"/>
            <a:ext cx="2651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1E2761"/>
                </a:solidFill>
              </a:rPr>
              <a:t>11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813816" y="4626864"/>
            <a:ext cx="2468880" cy="320040"/>
          </a:xfrm>
          <a:prstGeom prst="rect">
            <a:avLst/>
          </a:prstGeom>
          <a:solidFill>
            <a:srgbClr val="141C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841248" y="4663440"/>
            <a:ext cx="24140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CADCFC"/>
                </a:solidFill>
              </a:rPr>
              <a:t>Praia da Costa — Renato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3319272" y="4626864"/>
            <a:ext cx="1463040" cy="320040"/>
          </a:xfrm>
          <a:prstGeom prst="rect">
            <a:avLst/>
          </a:prstGeom>
          <a:solidFill>
            <a:srgbClr val="E8ED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3346704" y="4663440"/>
            <a:ext cx="14081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1E2761"/>
                </a:solidFill>
              </a:rPr>
              <a:t>R$ 99,676.99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4818888" y="4626864"/>
            <a:ext cx="1463040" cy="320040"/>
          </a:xfrm>
          <a:prstGeom prst="rect">
            <a:avLst/>
          </a:prstGeom>
          <a:solidFill>
            <a:srgbClr val="E8ED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4846320" y="4663440"/>
            <a:ext cx="14081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1E2761"/>
                </a:solidFill>
              </a:rPr>
              <a:t>R$ 130,000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6318504" y="4626864"/>
            <a:ext cx="685800" cy="32004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6345936" y="4663440"/>
            <a:ext cx="6309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FFFFFF"/>
                </a:solidFill>
              </a:rPr>
              <a:t>76.7%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7040880" y="4626864"/>
            <a:ext cx="2103120" cy="32004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TextBox 147"/>
          <p:cNvSpPr txBox="1"/>
          <p:nvPr/>
        </p:nvSpPr>
        <p:spPr>
          <a:xfrm>
            <a:off x="7068312" y="4663440"/>
            <a:ext cx="20482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FFFFFF"/>
                </a:solidFill>
              </a:rPr>
              <a:t>⚠ ABAIXO META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457200" y="4974336"/>
            <a:ext cx="320040" cy="34747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493776" y="5029200"/>
            <a:ext cx="24688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1E2761"/>
                </a:solidFill>
              </a:rPr>
              <a:t>—</a:t>
            </a:r>
          </a:p>
        </p:txBody>
      </p:sp>
      <p:sp>
        <p:nvSpPr>
          <p:cNvPr id="151" name="Rectangle 150"/>
          <p:cNvSpPr/>
          <p:nvPr/>
        </p:nvSpPr>
        <p:spPr>
          <a:xfrm>
            <a:off x="813816" y="4974336"/>
            <a:ext cx="2468880" cy="34747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TextBox 151"/>
          <p:cNvSpPr txBox="1"/>
          <p:nvPr/>
        </p:nvSpPr>
        <p:spPr>
          <a:xfrm>
            <a:off x="850392" y="5029200"/>
            <a:ext cx="23957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1E2761"/>
                </a:solidFill>
              </a:rPr>
              <a:t>TOTAL REDE — 11 LOJAS</a:t>
            </a:r>
          </a:p>
        </p:txBody>
      </p:sp>
      <p:sp>
        <p:nvSpPr>
          <p:cNvPr id="153" name="Rectangle 152"/>
          <p:cNvSpPr/>
          <p:nvPr/>
        </p:nvSpPr>
        <p:spPr>
          <a:xfrm>
            <a:off x="3319272" y="4974336"/>
            <a:ext cx="1463040" cy="34747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TextBox 153"/>
          <p:cNvSpPr txBox="1"/>
          <p:nvPr/>
        </p:nvSpPr>
        <p:spPr>
          <a:xfrm>
            <a:off x="3355848" y="5029200"/>
            <a:ext cx="138988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1E2761"/>
                </a:solidFill>
              </a:rPr>
              <a:t>R$ 2,658,228.34</a:t>
            </a:r>
          </a:p>
        </p:txBody>
      </p:sp>
      <p:sp>
        <p:nvSpPr>
          <p:cNvPr id="155" name="Rectangle 154"/>
          <p:cNvSpPr/>
          <p:nvPr/>
        </p:nvSpPr>
        <p:spPr>
          <a:xfrm>
            <a:off x="4818888" y="4974336"/>
            <a:ext cx="1463040" cy="34747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4855464" y="5029200"/>
            <a:ext cx="138988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1E2761"/>
                </a:solidFill>
              </a:rPr>
              <a:t>R$ 2,980,000</a:t>
            </a:r>
          </a:p>
        </p:txBody>
      </p:sp>
      <p:sp>
        <p:nvSpPr>
          <p:cNvPr id="157" name="Rectangle 156"/>
          <p:cNvSpPr/>
          <p:nvPr/>
        </p:nvSpPr>
        <p:spPr>
          <a:xfrm>
            <a:off x="6318504" y="4974336"/>
            <a:ext cx="685800" cy="34747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TextBox 157"/>
          <p:cNvSpPr txBox="1"/>
          <p:nvPr/>
        </p:nvSpPr>
        <p:spPr>
          <a:xfrm>
            <a:off x="6355080" y="5029200"/>
            <a:ext cx="6126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1E2761"/>
                </a:solidFill>
              </a:rPr>
              <a:t>89.2%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7040880" y="4974336"/>
            <a:ext cx="2103120" cy="34747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7077456" y="5029200"/>
            <a:ext cx="20299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1E2761"/>
                </a:solidFill>
              </a:rPr>
              <a:t>89,2% REDE</a:t>
            </a:r>
          </a:p>
        </p:txBody>
      </p:sp>
      <p:sp>
        <p:nvSpPr>
          <p:cNvPr id="161" name="Rectangle 160"/>
          <p:cNvSpPr/>
          <p:nvPr/>
        </p:nvSpPr>
        <p:spPr>
          <a:xfrm>
            <a:off x="0" y="4800600"/>
            <a:ext cx="9144000" cy="320040"/>
          </a:xfrm>
          <a:prstGeom prst="rect">
            <a:avLst/>
          </a:prstGeom>
          <a:solidFill>
            <a:srgbClr val="141C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TextBox 161"/>
          <p:cNvSpPr txBox="1"/>
          <p:nvPr/>
        </p:nvSpPr>
        <p:spPr>
          <a:xfrm>
            <a:off x="548640" y="4846320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CADCFC"/>
                </a:solidFill>
              </a:rPr>
              <a:t>REDE TITÃS  ·  RESULTADO FINAL ABRIL 2026  ·  PLANEJAMENTO Q2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sp>
        <p:nvSpPr>
          <p:cNvPr id="1" name="Rectangle 0"/>
          <p:cNvSpPr/>
          <p:nvPr/>
        </p:nvSpPr>
        <p:spPr>
          <a:xfrm>
            <a:off x="0" y="0"/>
            <a:ext cx="411480" cy="512064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411480" y="0"/>
            <a:ext cx="8732520" cy="640080"/>
          </a:xfrm>
          <a:prstGeom prst="rect">
            <a:avLst/>
          </a:prstGeom>
          <a:solidFill>
            <a:srgbClr val="141C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914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A623"/>
                </a:solidFill>
              </a:rPr>
              <a:t>STATUS MAIO 2026 — SEMANA 11/05  ·  ACUMULADO 01–10/MAI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CADCFC"/>
                </a:solidFill>
              </a:rPr>
              <a:t>10 de 31 dias (32.3% do mês)  ·  Total: R$ 950,638.21  ·  Ritmo geral: 92.1% do esperado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749808"/>
            <a:ext cx="2011680" cy="320040"/>
          </a:xfrm>
          <a:prstGeom prst="rect">
            <a:avLst/>
          </a:prstGeom>
          <a:solidFill>
            <a:srgbClr val="141C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777240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5A623"/>
                </a:solidFill>
              </a:rPr>
              <a:t>TITÃS 1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115568"/>
            <a:ext cx="2011680" cy="502920"/>
          </a:xfrm>
          <a:prstGeom prst="rect">
            <a:avLst/>
          </a:prstGeom>
          <a:solidFill>
            <a:srgbClr val="E8ED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161288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E2761"/>
                </a:solidFill>
              </a:rPr>
              <a:t>R$ 399,276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408176"/>
            <a:ext cx="1920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1E2761"/>
                </a:solidFill>
              </a:rPr>
              <a:t>Ritmo: 91.7%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664208"/>
            <a:ext cx="2011680" cy="292608"/>
          </a:xfrm>
          <a:prstGeom prst="rect">
            <a:avLst/>
          </a:prstGeom>
          <a:solidFill>
            <a:srgbClr val="141C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691640"/>
            <a:ext cx="1920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CADCFC"/>
                </a:solidFill>
              </a:rPr>
              <a:t>Proj: R$ 1,237,754  ·  Meta: R$ 1,350,000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0" y="749808"/>
            <a:ext cx="2011680" cy="320040"/>
          </a:xfrm>
          <a:prstGeom prst="rect">
            <a:avLst/>
          </a:prstGeom>
          <a:solidFill>
            <a:srgbClr val="141C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88920" y="777240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5A623"/>
                </a:solidFill>
              </a:rPr>
              <a:t>TITÃS 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0" y="1115568"/>
            <a:ext cx="2011680" cy="502920"/>
          </a:xfrm>
          <a:prstGeom prst="rect">
            <a:avLst/>
          </a:prstGeom>
          <a:solidFill>
            <a:srgbClr val="E8ED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88920" y="1161288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E2761"/>
                </a:solidFill>
              </a:rPr>
              <a:t>R$ 232,326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88920" y="1408176"/>
            <a:ext cx="1920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1E2761"/>
                </a:solidFill>
              </a:rPr>
              <a:t>Ritmo: 94.8%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0" y="1664208"/>
            <a:ext cx="2011680" cy="292608"/>
          </a:xfrm>
          <a:prstGeom prst="rect">
            <a:avLst/>
          </a:prstGeom>
          <a:solidFill>
            <a:srgbClr val="141C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88920" y="1691640"/>
            <a:ext cx="1920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CADCFC"/>
                </a:solidFill>
              </a:rPr>
              <a:t>Proj: R$ 720,211  ·  Meta: R$ 760,000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983480" y="749808"/>
            <a:ext cx="2011680" cy="320040"/>
          </a:xfrm>
          <a:prstGeom prst="rect">
            <a:avLst/>
          </a:prstGeom>
          <a:solidFill>
            <a:srgbClr val="141C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0" y="777240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5A623"/>
                </a:solidFill>
              </a:rPr>
              <a:t>TITÃS 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983480" y="1115568"/>
            <a:ext cx="2011680" cy="502920"/>
          </a:xfrm>
          <a:prstGeom prst="rect">
            <a:avLst/>
          </a:prstGeom>
          <a:solidFill>
            <a:srgbClr val="E8ED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0" y="1161288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E2761"/>
                </a:solidFill>
              </a:rPr>
              <a:t>R$ 319,037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0" y="1408176"/>
            <a:ext cx="1920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1E2761"/>
                </a:solidFill>
              </a:rPr>
              <a:t>Ritmo: 90.7%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983480" y="1664208"/>
            <a:ext cx="2011680" cy="292608"/>
          </a:xfrm>
          <a:prstGeom prst="rect">
            <a:avLst/>
          </a:prstGeom>
          <a:solidFill>
            <a:srgbClr val="141C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0" y="1691640"/>
            <a:ext cx="1920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CADCFC"/>
                </a:solidFill>
              </a:rPr>
              <a:t>Proj: R$ 989,014  ·  Meta: R$ 1,090,000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858000" y="749808"/>
            <a:ext cx="1920240" cy="320040"/>
          </a:xfrm>
          <a:prstGeom prst="rect">
            <a:avLst/>
          </a:prstGeom>
          <a:solidFill>
            <a:srgbClr val="141C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03720" y="777240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5A623"/>
                </a:solidFill>
              </a:rPr>
              <a:t>REDE TOTAL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858000" y="1115568"/>
            <a:ext cx="1920240" cy="502920"/>
          </a:xfrm>
          <a:prstGeom prst="rect">
            <a:avLst/>
          </a:prstGeom>
          <a:solidFill>
            <a:srgbClr val="E8ED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903720" y="1161288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E2761"/>
                </a:solidFill>
              </a:rPr>
              <a:t>R$ 950,638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03720" y="1408176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1E2761"/>
                </a:solidFill>
              </a:rPr>
              <a:t>Ritmo: 92.1%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858000" y="1664208"/>
            <a:ext cx="1920240" cy="292608"/>
          </a:xfrm>
          <a:prstGeom prst="rect">
            <a:avLst/>
          </a:prstGeom>
          <a:solidFill>
            <a:srgbClr val="141C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903720" y="1691640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CADCFC"/>
                </a:solidFill>
              </a:rPr>
              <a:t>Proj: R$ 2,946,978  ·  Meta: R$ 3,200,000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2084831"/>
            <a:ext cx="274320" cy="29260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84632" y="2121407"/>
            <a:ext cx="21945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1E2761"/>
                </a:solidFill>
              </a:rPr>
              <a:t>#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58952" y="2084831"/>
            <a:ext cx="2103120" cy="292608"/>
          </a:xfrm>
          <a:prstGeom prst="rect">
            <a:avLst/>
          </a:prstGeom>
          <a:solidFill>
            <a:srgbClr val="141C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86384" y="2121407"/>
            <a:ext cx="204825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5A623"/>
                </a:solidFill>
              </a:rPr>
              <a:t>LOJA — GERENTE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889504" y="2084831"/>
            <a:ext cx="1234440" cy="29260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916936" y="2121407"/>
            <a:ext cx="117957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1E2761"/>
                </a:solidFill>
              </a:rPr>
              <a:t>REAL 10d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151376" y="2084831"/>
            <a:ext cx="1097280" cy="29260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178808" y="2121407"/>
            <a:ext cx="104241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1E2761"/>
                </a:solidFill>
              </a:rPr>
              <a:t>META MAI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276088" y="2084831"/>
            <a:ext cx="777240" cy="29260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303520" y="2121407"/>
            <a:ext cx="72237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1E2761"/>
                </a:solidFill>
              </a:rPr>
              <a:t>% RITMO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080760" y="2084831"/>
            <a:ext cx="1234440" cy="29260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108192" y="2121407"/>
            <a:ext cx="117957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1E2761"/>
                </a:solidFill>
              </a:rPr>
              <a:t>PROJ. MAIO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342632" y="2084831"/>
            <a:ext cx="1097280" cy="29260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370064" y="2121407"/>
            <a:ext cx="104241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1E2761"/>
                </a:solidFill>
              </a:rPr>
              <a:t>% META PROJ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57200" y="2423160"/>
            <a:ext cx="274320" cy="274320"/>
          </a:xfrm>
          <a:prstGeom prst="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75488" y="2459736"/>
            <a:ext cx="23774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1E2761"/>
                </a:solidFill>
              </a:rPr>
              <a:t>1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58952" y="2423160"/>
            <a:ext cx="2103120" cy="274320"/>
          </a:xfrm>
          <a:prstGeom prst="rect">
            <a:avLst/>
          </a:prstGeom>
          <a:solidFill>
            <a:srgbClr val="141C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77240" y="2459736"/>
            <a:ext cx="206654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CADCFC"/>
                </a:solidFill>
              </a:rPr>
              <a:t>São Mateus — Juliana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889504" y="2423160"/>
            <a:ext cx="1234440" cy="274320"/>
          </a:xfrm>
          <a:prstGeom prst="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907792" y="2459736"/>
            <a:ext cx="119786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1E2761"/>
                </a:solidFill>
              </a:rPr>
              <a:t>R$ 160,671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151376" y="2423160"/>
            <a:ext cx="1097280" cy="274320"/>
          </a:xfrm>
          <a:prstGeom prst="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169664" y="2459736"/>
            <a:ext cx="106070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1E2761"/>
                </a:solidFill>
              </a:rPr>
              <a:t>R$ 470,000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276088" y="2423160"/>
            <a:ext cx="777240" cy="27432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294376" y="2459736"/>
            <a:ext cx="74066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106.0%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080760" y="2423160"/>
            <a:ext cx="1234440" cy="274320"/>
          </a:xfrm>
          <a:prstGeom prst="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099048" y="2459736"/>
            <a:ext cx="119786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1E2761"/>
                </a:solidFill>
              </a:rPr>
              <a:t>R$ 498,079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342632" y="2423160"/>
            <a:ext cx="1097280" cy="27432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360920" y="2459736"/>
            <a:ext cx="106070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106.0%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57200" y="2724912"/>
            <a:ext cx="274320" cy="274320"/>
          </a:xfrm>
          <a:prstGeom prst="rect">
            <a:avLst/>
          </a:prstGeom>
          <a:solidFill>
            <a:srgbClr val="E8ED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75488" y="2761488"/>
            <a:ext cx="23774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1E2761"/>
                </a:solidFill>
              </a:rPr>
              <a:t>2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58952" y="2724912"/>
            <a:ext cx="2103120" cy="274320"/>
          </a:xfrm>
          <a:prstGeom prst="rect">
            <a:avLst/>
          </a:prstGeom>
          <a:solidFill>
            <a:srgbClr val="141C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77240" y="2761488"/>
            <a:ext cx="206654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ADCFC"/>
                </a:solidFill>
              </a:rPr>
              <a:t>Cariacica — Gabriel</a:t>
            </a:r>
          </a:p>
        </p:txBody>
      </p:sp>
      <p:sp>
        <p:nvSpPr>
          <p:cNvPr id="65" name="Rectangle 64"/>
          <p:cNvSpPr/>
          <p:nvPr/>
        </p:nvSpPr>
        <p:spPr>
          <a:xfrm>
            <a:off x="2889504" y="2724912"/>
            <a:ext cx="1234440" cy="274320"/>
          </a:xfrm>
          <a:prstGeom prst="rect">
            <a:avLst/>
          </a:prstGeom>
          <a:solidFill>
            <a:srgbClr val="E8ED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2907792" y="2761488"/>
            <a:ext cx="119786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1E2761"/>
                </a:solidFill>
              </a:rPr>
              <a:t>R$ 144,250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151376" y="2724912"/>
            <a:ext cx="1097280" cy="274320"/>
          </a:xfrm>
          <a:prstGeom prst="rect">
            <a:avLst/>
          </a:prstGeom>
          <a:solidFill>
            <a:srgbClr val="E8ED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4169664" y="2761488"/>
            <a:ext cx="106070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1E2761"/>
                </a:solidFill>
              </a:rPr>
              <a:t>R$ 480,000</a:t>
            </a:r>
          </a:p>
        </p:txBody>
      </p:sp>
      <p:sp>
        <p:nvSpPr>
          <p:cNvPr id="69" name="Rectangle 68"/>
          <p:cNvSpPr/>
          <p:nvPr/>
        </p:nvSpPr>
        <p:spPr>
          <a:xfrm>
            <a:off x="5276088" y="2724912"/>
            <a:ext cx="777240" cy="274320"/>
          </a:xfrm>
          <a:prstGeom prst="rect">
            <a:avLst/>
          </a:prstGeom>
          <a:solidFill>
            <a:srgbClr val="E8ED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5294376" y="2761488"/>
            <a:ext cx="74066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1E2761"/>
                </a:solidFill>
              </a:rPr>
              <a:t>93.2%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080760" y="2724912"/>
            <a:ext cx="1234440" cy="274320"/>
          </a:xfrm>
          <a:prstGeom prst="rect">
            <a:avLst/>
          </a:prstGeom>
          <a:solidFill>
            <a:srgbClr val="E8ED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099048" y="2761488"/>
            <a:ext cx="119786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1E2761"/>
                </a:solidFill>
              </a:rPr>
              <a:t>R$ 447,175</a:t>
            </a:r>
          </a:p>
        </p:txBody>
      </p:sp>
      <p:sp>
        <p:nvSpPr>
          <p:cNvPr id="73" name="Rectangle 72"/>
          <p:cNvSpPr/>
          <p:nvPr/>
        </p:nvSpPr>
        <p:spPr>
          <a:xfrm>
            <a:off x="7342632" y="2724912"/>
            <a:ext cx="1097280" cy="274320"/>
          </a:xfrm>
          <a:prstGeom prst="rect">
            <a:avLst/>
          </a:prstGeom>
          <a:solidFill>
            <a:srgbClr val="E8ED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7360920" y="2761488"/>
            <a:ext cx="106070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1E2761"/>
                </a:solidFill>
              </a:rPr>
              <a:t>93.2%</a:t>
            </a:r>
          </a:p>
        </p:txBody>
      </p:sp>
      <p:sp>
        <p:nvSpPr>
          <p:cNvPr id="75" name="Rectangle 74"/>
          <p:cNvSpPr/>
          <p:nvPr/>
        </p:nvSpPr>
        <p:spPr>
          <a:xfrm>
            <a:off x="457200" y="3026664"/>
            <a:ext cx="274320" cy="274320"/>
          </a:xfrm>
          <a:prstGeom prst="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475488" y="3063240"/>
            <a:ext cx="23774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1E2761"/>
                </a:solidFill>
              </a:rPr>
              <a:t>3</a:t>
            </a:r>
          </a:p>
        </p:txBody>
      </p:sp>
      <p:sp>
        <p:nvSpPr>
          <p:cNvPr id="77" name="Rectangle 76"/>
          <p:cNvSpPr/>
          <p:nvPr/>
        </p:nvSpPr>
        <p:spPr>
          <a:xfrm>
            <a:off x="758952" y="3026664"/>
            <a:ext cx="2103120" cy="274320"/>
          </a:xfrm>
          <a:prstGeom prst="rect">
            <a:avLst/>
          </a:prstGeom>
          <a:solidFill>
            <a:srgbClr val="141C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777240" y="3063240"/>
            <a:ext cx="206654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CADCFC"/>
                </a:solidFill>
              </a:rPr>
              <a:t>Moxuara — Ana</a:t>
            </a:r>
          </a:p>
        </p:txBody>
      </p:sp>
      <p:sp>
        <p:nvSpPr>
          <p:cNvPr id="79" name="Rectangle 78"/>
          <p:cNvSpPr/>
          <p:nvPr/>
        </p:nvSpPr>
        <p:spPr>
          <a:xfrm>
            <a:off x="2889504" y="3026664"/>
            <a:ext cx="1234440" cy="274320"/>
          </a:xfrm>
          <a:prstGeom prst="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2907792" y="3063240"/>
            <a:ext cx="119786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1E2761"/>
                </a:solidFill>
              </a:rPr>
              <a:t>R$ 111,866</a:t>
            </a:r>
          </a:p>
        </p:txBody>
      </p:sp>
      <p:sp>
        <p:nvSpPr>
          <p:cNvPr id="81" name="Rectangle 80"/>
          <p:cNvSpPr/>
          <p:nvPr/>
        </p:nvSpPr>
        <p:spPr>
          <a:xfrm>
            <a:off x="4151376" y="3026664"/>
            <a:ext cx="1097280" cy="274320"/>
          </a:xfrm>
          <a:prstGeom prst="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4169664" y="3063240"/>
            <a:ext cx="106070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1E2761"/>
                </a:solidFill>
              </a:rPr>
              <a:t>R$ 310,000</a:t>
            </a:r>
          </a:p>
        </p:txBody>
      </p:sp>
      <p:sp>
        <p:nvSpPr>
          <p:cNvPr id="83" name="Rectangle 82"/>
          <p:cNvSpPr/>
          <p:nvPr/>
        </p:nvSpPr>
        <p:spPr>
          <a:xfrm>
            <a:off x="5276088" y="3026664"/>
            <a:ext cx="777240" cy="27432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5294376" y="3063240"/>
            <a:ext cx="74066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111.9%</a:t>
            </a:r>
          </a:p>
        </p:txBody>
      </p:sp>
      <p:sp>
        <p:nvSpPr>
          <p:cNvPr id="85" name="Rectangle 84"/>
          <p:cNvSpPr/>
          <p:nvPr/>
        </p:nvSpPr>
        <p:spPr>
          <a:xfrm>
            <a:off x="6080760" y="3026664"/>
            <a:ext cx="1234440" cy="274320"/>
          </a:xfrm>
          <a:prstGeom prst="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6099048" y="3063240"/>
            <a:ext cx="119786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1E2761"/>
                </a:solidFill>
              </a:rPr>
              <a:t>R$ 346,783</a:t>
            </a:r>
          </a:p>
        </p:txBody>
      </p:sp>
      <p:sp>
        <p:nvSpPr>
          <p:cNvPr id="87" name="Rectangle 86"/>
          <p:cNvSpPr/>
          <p:nvPr/>
        </p:nvSpPr>
        <p:spPr>
          <a:xfrm>
            <a:off x="7342632" y="3026664"/>
            <a:ext cx="1097280" cy="27432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7360920" y="3063240"/>
            <a:ext cx="106070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111.9%</a:t>
            </a:r>
          </a:p>
        </p:txBody>
      </p:sp>
      <p:sp>
        <p:nvSpPr>
          <p:cNvPr id="89" name="Rectangle 88"/>
          <p:cNvSpPr/>
          <p:nvPr/>
        </p:nvSpPr>
        <p:spPr>
          <a:xfrm>
            <a:off x="457200" y="3328416"/>
            <a:ext cx="274320" cy="274320"/>
          </a:xfrm>
          <a:prstGeom prst="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475488" y="3364992"/>
            <a:ext cx="23774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1E2761"/>
                </a:solidFill>
              </a:rPr>
              <a:t>4</a:t>
            </a:r>
          </a:p>
        </p:txBody>
      </p:sp>
      <p:sp>
        <p:nvSpPr>
          <p:cNvPr id="91" name="Rectangle 90"/>
          <p:cNvSpPr/>
          <p:nvPr/>
        </p:nvSpPr>
        <p:spPr>
          <a:xfrm>
            <a:off x="758952" y="3328416"/>
            <a:ext cx="2103120" cy="274320"/>
          </a:xfrm>
          <a:prstGeom prst="rect">
            <a:avLst/>
          </a:prstGeom>
          <a:solidFill>
            <a:srgbClr val="141C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777240" y="3364992"/>
            <a:ext cx="206654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CADCFC"/>
                </a:solidFill>
              </a:rPr>
              <a:t>Teixeira — Junior Dias</a:t>
            </a:r>
          </a:p>
        </p:txBody>
      </p:sp>
      <p:sp>
        <p:nvSpPr>
          <p:cNvPr id="93" name="Rectangle 92"/>
          <p:cNvSpPr/>
          <p:nvPr/>
        </p:nvSpPr>
        <p:spPr>
          <a:xfrm>
            <a:off x="2889504" y="3328416"/>
            <a:ext cx="1234440" cy="274320"/>
          </a:xfrm>
          <a:prstGeom prst="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2907792" y="3364992"/>
            <a:ext cx="119786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1E2761"/>
                </a:solidFill>
              </a:rPr>
              <a:t>R$ 95,071</a:t>
            </a:r>
          </a:p>
        </p:txBody>
      </p:sp>
      <p:sp>
        <p:nvSpPr>
          <p:cNvPr id="95" name="Rectangle 94"/>
          <p:cNvSpPr/>
          <p:nvPr/>
        </p:nvSpPr>
        <p:spPr>
          <a:xfrm>
            <a:off x="4151376" y="3328416"/>
            <a:ext cx="1097280" cy="274320"/>
          </a:xfrm>
          <a:prstGeom prst="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4169664" y="3364992"/>
            <a:ext cx="106070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1E2761"/>
                </a:solidFill>
              </a:rPr>
              <a:t>R$ 235,000</a:t>
            </a:r>
          </a:p>
        </p:txBody>
      </p:sp>
      <p:sp>
        <p:nvSpPr>
          <p:cNvPr id="97" name="Rectangle 96"/>
          <p:cNvSpPr/>
          <p:nvPr/>
        </p:nvSpPr>
        <p:spPr>
          <a:xfrm>
            <a:off x="5276088" y="3328416"/>
            <a:ext cx="777240" cy="27432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5294376" y="3364992"/>
            <a:ext cx="74066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125.4%</a:t>
            </a:r>
          </a:p>
        </p:txBody>
      </p:sp>
      <p:sp>
        <p:nvSpPr>
          <p:cNvPr id="99" name="Rectangle 98"/>
          <p:cNvSpPr/>
          <p:nvPr/>
        </p:nvSpPr>
        <p:spPr>
          <a:xfrm>
            <a:off x="6080760" y="3328416"/>
            <a:ext cx="1234440" cy="274320"/>
          </a:xfrm>
          <a:prstGeom prst="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6099048" y="3364992"/>
            <a:ext cx="119786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1E2761"/>
                </a:solidFill>
              </a:rPr>
              <a:t>R$ 294,720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7342632" y="3328416"/>
            <a:ext cx="1097280" cy="27432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7360920" y="3364992"/>
            <a:ext cx="106070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125.4%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457200" y="3630168"/>
            <a:ext cx="274320" cy="274320"/>
          </a:xfrm>
          <a:prstGeom prst="rect">
            <a:avLst/>
          </a:prstGeom>
          <a:solidFill>
            <a:srgbClr val="FFE4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475488" y="3666744"/>
            <a:ext cx="23774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1E2761"/>
                </a:solidFill>
              </a:rPr>
              <a:t>5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758952" y="3630168"/>
            <a:ext cx="2103120" cy="274320"/>
          </a:xfrm>
          <a:prstGeom prst="rect">
            <a:avLst/>
          </a:prstGeom>
          <a:solidFill>
            <a:srgbClr val="141C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777240" y="3666744"/>
            <a:ext cx="206654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ADCFC"/>
                </a:solidFill>
              </a:rPr>
              <a:t>Itabuna — Reinan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2889504" y="3630168"/>
            <a:ext cx="1234440" cy="274320"/>
          </a:xfrm>
          <a:prstGeom prst="rect">
            <a:avLst/>
          </a:prstGeom>
          <a:solidFill>
            <a:srgbClr val="FFE4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2907792" y="3666744"/>
            <a:ext cx="119786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1E2761"/>
                </a:solidFill>
              </a:rPr>
              <a:t>R$ 92,543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4151376" y="3630168"/>
            <a:ext cx="1097280" cy="274320"/>
          </a:xfrm>
          <a:prstGeom prst="rect">
            <a:avLst/>
          </a:prstGeom>
          <a:solidFill>
            <a:srgbClr val="FFE4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4169664" y="3666744"/>
            <a:ext cx="106070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1E2761"/>
                </a:solidFill>
              </a:rPr>
              <a:t>R$ 420,000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5276088" y="3630168"/>
            <a:ext cx="777240" cy="27432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5294376" y="3666744"/>
            <a:ext cx="74066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FFFFFF"/>
                </a:solidFill>
              </a:rPr>
              <a:t>68.3%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6080760" y="3630168"/>
            <a:ext cx="1234440" cy="274320"/>
          </a:xfrm>
          <a:prstGeom prst="rect">
            <a:avLst/>
          </a:prstGeom>
          <a:solidFill>
            <a:srgbClr val="FFE4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6099048" y="3666744"/>
            <a:ext cx="119786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1E2761"/>
                </a:solidFill>
              </a:rPr>
              <a:t>R$ 286,883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7342632" y="3630168"/>
            <a:ext cx="1097280" cy="27432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7360920" y="3666744"/>
            <a:ext cx="106070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FFFFFF"/>
                </a:solidFill>
              </a:rPr>
              <a:t>68.3%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457200" y="3931920"/>
            <a:ext cx="274320" cy="274320"/>
          </a:xfrm>
          <a:prstGeom prst="rect">
            <a:avLst/>
          </a:prstGeom>
          <a:solidFill>
            <a:srgbClr val="E8ED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475488" y="3968496"/>
            <a:ext cx="23774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1E2761"/>
                </a:solidFill>
              </a:rPr>
              <a:t>6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758952" y="3931920"/>
            <a:ext cx="2103120" cy="274320"/>
          </a:xfrm>
          <a:prstGeom prst="rect">
            <a:avLst/>
          </a:prstGeom>
          <a:solidFill>
            <a:srgbClr val="141C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777240" y="3968496"/>
            <a:ext cx="206654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ADCFC"/>
                </a:solidFill>
              </a:rPr>
              <a:t>Barreiras — Daniela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2889504" y="3931920"/>
            <a:ext cx="1234440" cy="274320"/>
          </a:xfrm>
          <a:prstGeom prst="rect">
            <a:avLst/>
          </a:prstGeom>
          <a:solidFill>
            <a:srgbClr val="E8ED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2907792" y="3968496"/>
            <a:ext cx="119786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1E2761"/>
                </a:solidFill>
              </a:rPr>
              <a:t>R$ 85,827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4151376" y="3931920"/>
            <a:ext cx="1097280" cy="274320"/>
          </a:xfrm>
          <a:prstGeom prst="rect">
            <a:avLst/>
          </a:prstGeom>
          <a:solidFill>
            <a:srgbClr val="E8ED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4169664" y="3968496"/>
            <a:ext cx="106070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1E2761"/>
                </a:solidFill>
              </a:rPr>
              <a:t>R$ 290,000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5276088" y="3931920"/>
            <a:ext cx="777240" cy="274320"/>
          </a:xfrm>
          <a:prstGeom prst="rect">
            <a:avLst/>
          </a:prstGeom>
          <a:solidFill>
            <a:srgbClr val="E8ED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5294376" y="3968496"/>
            <a:ext cx="74066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1E2761"/>
                </a:solidFill>
              </a:rPr>
              <a:t>91.7%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6080760" y="3931920"/>
            <a:ext cx="1234440" cy="274320"/>
          </a:xfrm>
          <a:prstGeom prst="rect">
            <a:avLst/>
          </a:prstGeom>
          <a:solidFill>
            <a:srgbClr val="E8ED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6099048" y="3968496"/>
            <a:ext cx="119786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1E2761"/>
                </a:solidFill>
              </a:rPr>
              <a:t>R$ 266,064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7342632" y="3931920"/>
            <a:ext cx="1097280" cy="274320"/>
          </a:xfrm>
          <a:prstGeom prst="rect">
            <a:avLst/>
          </a:prstGeom>
          <a:solidFill>
            <a:srgbClr val="E8ED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7360920" y="3968496"/>
            <a:ext cx="106070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1E2761"/>
                </a:solidFill>
              </a:rPr>
              <a:t>91.7%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457200" y="4233672"/>
            <a:ext cx="274320" cy="274320"/>
          </a:xfrm>
          <a:prstGeom prst="rect">
            <a:avLst/>
          </a:prstGeom>
          <a:solidFill>
            <a:srgbClr val="FFF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475488" y="4270248"/>
            <a:ext cx="23774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1E2761"/>
                </a:solidFill>
              </a:rPr>
              <a:t>7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758952" y="4233672"/>
            <a:ext cx="2103120" cy="274320"/>
          </a:xfrm>
          <a:prstGeom prst="rect">
            <a:avLst/>
          </a:prstGeom>
          <a:solidFill>
            <a:srgbClr val="141C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777240" y="4270248"/>
            <a:ext cx="206654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ADCFC"/>
                </a:solidFill>
              </a:rPr>
              <a:t>Serra — Luiz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2889504" y="4233672"/>
            <a:ext cx="1234440" cy="274320"/>
          </a:xfrm>
          <a:prstGeom prst="rect">
            <a:avLst/>
          </a:prstGeom>
          <a:solidFill>
            <a:srgbClr val="FFF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2907792" y="4270248"/>
            <a:ext cx="119786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1E2761"/>
                </a:solidFill>
              </a:rPr>
              <a:t>R$ 58,971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4151376" y="4233672"/>
            <a:ext cx="1097280" cy="274320"/>
          </a:xfrm>
          <a:prstGeom prst="rect">
            <a:avLst/>
          </a:prstGeom>
          <a:solidFill>
            <a:srgbClr val="FFF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4169664" y="4270248"/>
            <a:ext cx="106070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1E2761"/>
                </a:solidFill>
              </a:rPr>
              <a:t>R$ 220,000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5276088" y="4233672"/>
            <a:ext cx="777240" cy="274320"/>
          </a:xfrm>
          <a:prstGeom prst="rect">
            <a:avLst/>
          </a:prstGeom>
          <a:solidFill>
            <a:srgbClr val="FFF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5294376" y="4270248"/>
            <a:ext cx="74066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1E2761"/>
                </a:solidFill>
              </a:rPr>
              <a:t>83.1%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6080760" y="4233672"/>
            <a:ext cx="1234440" cy="274320"/>
          </a:xfrm>
          <a:prstGeom prst="rect">
            <a:avLst/>
          </a:prstGeom>
          <a:solidFill>
            <a:srgbClr val="FFF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6099048" y="4270248"/>
            <a:ext cx="119786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1E2761"/>
                </a:solidFill>
              </a:rPr>
              <a:t>R$ 182,810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7342632" y="4233672"/>
            <a:ext cx="1097280" cy="274320"/>
          </a:xfrm>
          <a:prstGeom prst="rect">
            <a:avLst/>
          </a:prstGeom>
          <a:solidFill>
            <a:srgbClr val="FFF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7360920" y="4270248"/>
            <a:ext cx="106070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1E2761"/>
                </a:solidFill>
              </a:rPr>
              <a:t>83.1%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457200" y="4535424"/>
            <a:ext cx="274320" cy="274320"/>
          </a:xfrm>
          <a:prstGeom prst="rect">
            <a:avLst/>
          </a:prstGeom>
          <a:solidFill>
            <a:srgbClr val="FFF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475488" y="4572000"/>
            <a:ext cx="23774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1E2761"/>
                </a:solidFill>
              </a:rPr>
              <a:t>8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758952" y="4535424"/>
            <a:ext cx="2103120" cy="274320"/>
          </a:xfrm>
          <a:prstGeom prst="rect">
            <a:avLst/>
          </a:prstGeom>
          <a:solidFill>
            <a:srgbClr val="141C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TextBox 147"/>
          <p:cNvSpPr txBox="1"/>
          <p:nvPr/>
        </p:nvSpPr>
        <p:spPr>
          <a:xfrm>
            <a:off x="777240" y="4572000"/>
            <a:ext cx="206654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ADCFC"/>
                </a:solidFill>
              </a:rPr>
              <a:t>Linhares — Kristian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2889504" y="4535424"/>
            <a:ext cx="1234440" cy="274320"/>
          </a:xfrm>
          <a:prstGeom prst="rect">
            <a:avLst/>
          </a:prstGeom>
          <a:solidFill>
            <a:srgbClr val="FFF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2907792" y="4572000"/>
            <a:ext cx="119786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1E2761"/>
                </a:solidFill>
              </a:rPr>
              <a:t>R$ 56,686</a:t>
            </a:r>
          </a:p>
        </p:txBody>
      </p:sp>
      <p:sp>
        <p:nvSpPr>
          <p:cNvPr id="151" name="Rectangle 150"/>
          <p:cNvSpPr/>
          <p:nvPr/>
        </p:nvSpPr>
        <p:spPr>
          <a:xfrm>
            <a:off x="4151376" y="4535424"/>
            <a:ext cx="1097280" cy="274320"/>
          </a:xfrm>
          <a:prstGeom prst="rect">
            <a:avLst/>
          </a:prstGeom>
          <a:solidFill>
            <a:srgbClr val="FFF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TextBox 151"/>
          <p:cNvSpPr txBox="1"/>
          <p:nvPr/>
        </p:nvSpPr>
        <p:spPr>
          <a:xfrm>
            <a:off x="4169664" y="4572000"/>
            <a:ext cx="106070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1E2761"/>
                </a:solidFill>
              </a:rPr>
              <a:t>R$ 230,000</a:t>
            </a:r>
          </a:p>
        </p:txBody>
      </p:sp>
      <p:sp>
        <p:nvSpPr>
          <p:cNvPr id="153" name="Rectangle 152"/>
          <p:cNvSpPr/>
          <p:nvPr/>
        </p:nvSpPr>
        <p:spPr>
          <a:xfrm>
            <a:off x="5276088" y="4535424"/>
            <a:ext cx="777240" cy="274320"/>
          </a:xfrm>
          <a:prstGeom prst="rect">
            <a:avLst/>
          </a:prstGeom>
          <a:solidFill>
            <a:srgbClr val="FFF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TextBox 153"/>
          <p:cNvSpPr txBox="1"/>
          <p:nvPr/>
        </p:nvSpPr>
        <p:spPr>
          <a:xfrm>
            <a:off x="5294376" y="4572000"/>
            <a:ext cx="74066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1E2761"/>
                </a:solidFill>
              </a:rPr>
              <a:t>76.4%</a:t>
            </a:r>
          </a:p>
        </p:txBody>
      </p:sp>
      <p:sp>
        <p:nvSpPr>
          <p:cNvPr id="155" name="Rectangle 154"/>
          <p:cNvSpPr/>
          <p:nvPr/>
        </p:nvSpPr>
        <p:spPr>
          <a:xfrm>
            <a:off x="6080760" y="4535424"/>
            <a:ext cx="1234440" cy="274320"/>
          </a:xfrm>
          <a:prstGeom prst="rect">
            <a:avLst/>
          </a:prstGeom>
          <a:solidFill>
            <a:srgbClr val="FFF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6099048" y="4572000"/>
            <a:ext cx="119786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1E2761"/>
                </a:solidFill>
              </a:rPr>
              <a:t>R$ 175,727</a:t>
            </a:r>
          </a:p>
        </p:txBody>
      </p:sp>
      <p:sp>
        <p:nvSpPr>
          <p:cNvPr id="157" name="Rectangle 156"/>
          <p:cNvSpPr/>
          <p:nvPr/>
        </p:nvSpPr>
        <p:spPr>
          <a:xfrm>
            <a:off x="7342632" y="4535424"/>
            <a:ext cx="1097280" cy="274320"/>
          </a:xfrm>
          <a:prstGeom prst="rect">
            <a:avLst/>
          </a:prstGeom>
          <a:solidFill>
            <a:srgbClr val="FFF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TextBox 157"/>
          <p:cNvSpPr txBox="1"/>
          <p:nvPr/>
        </p:nvSpPr>
        <p:spPr>
          <a:xfrm>
            <a:off x="7360920" y="4572000"/>
            <a:ext cx="106070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1E2761"/>
                </a:solidFill>
              </a:rPr>
              <a:t>76.4%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457200" y="4837176"/>
            <a:ext cx="274320" cy="274320"/>
          </a:xfrm>
          <a:prstGeom prst="rect">
            <a:avLst/>
          </a:prstGeom>
          <a:solidFill>
            <a:srgbClr val="FFE4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75488" y="4873752"/>
            <a:ext cx="23774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1E2761"/>
                </a:solidFill>
              </a:rPr>
              <a:t>9</a:t>
            </a:r>
          </a:p>
        </p:txBody>
      </p:sp>
      <p:sp>
        <p:nvSpPr>
          <p:cNvPr id="161" name="Rectangle 160"/>
          <p:cNvSpPr/>
          <p:nvPr/>
        </p:nvSpPr>
        <p:spPr>
          <a:xfrm>
            <a:off x="758952" y="4837176"/>
            <a:ext cx="2103120" cy="274320"/>
          </a:xfrm>
          <a:prstGeom prst="rect">
            <a:avLst/>
          </a:prstGeom>
          <a:solidFill>
            <a:srgbClr val="141C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TextBox 161"/>
          <p:cNvSpPr txBox="1"/>
          <p:nvPr/>
        </p:nvSpPr>
        <p:spPr>
          <a:xfrm>
            <a:off x="777240" y="4873752"/>
            <a:ext cx="206654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ADCFC"/>
                </a:solidFill>
              </a:rPr>
              <a:t>Laranjeiras — Jhenifer E.</a:t>
            </a:r>
          </a:p>
        </p:txBody>
      </p:sp>
      <p:sp>
        <p:nvSpPr>
          <p:cNvPr id="163" name="Rectangle 162"/>
          <p:cNvSpPr/>
          <p:nvPr/>
        </p:nvSpPr>
        <p:spPr>
          <a:xfrm>
            <a:off x="2889504" y="4837176"/>
            <a:ext cx="1234440" cy="274320"/>
          </a:xfrm>
          <a:prstGeom prst="rect">
            <a:avLst/>
          </a:prstGeom>
          <a:solidFill>
            <a:srgbClr val="FFE4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TextBox 163"/>
          <p:cNvSpPr txBox="1"/>
          <p:nvPr/>
        </p:nvSpPr>
        <p:spPr>
          <a:xfrm>
            <a:off x="2907792" y="4873752"/>
            <a:ext cx="119786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1E2761"/>
                </a:solidFill>
              </a:rPr>
              <a:t>R$ 51,428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4151376" y="4837176"/>
            <a:ext cx="1097280" cy="274320"/>
          </a:xfrm>
          <a:prstGeom prst="rect">
            <a:avLst/>
          </a:prstGeom>
          <a:solidFill>
            <a:srgbClr val="FFE4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4169664" y="4873752"/>
            <a:ext cx="106070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1E2761"/>
                </a:solidFill>
              </a:rPr>
              <a:t>R$ 235,000</a:t>
            </a:r>
          </a:p>
        </p:txBody>
      </p:sp>
      <p:sp>
        <p:nvSpPr>
          <p:cNvPr id="167" name="Rectangle 166"/>
          <p:cNvSpPr/>
          <p:nvPr/>
        </p:nvSpPr>
        <p:spPr>
          <a:xfrm>
            <a:off x="5276088" y="4837176"/>
            <a:ext cx="777240" cy="27432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TextBox 167"/>
          <p:cNvSpPr txBox="1"/>
          <p:nvPr/>
        </p:nvSpPr>
        <p:spPr>
          <a:xfrm>
            <a:off x="5294376" y="4873752"/>
            <a:ext cx="74066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FFFFFF"/>
                </a:solidFill>
              </a:rPr>
              <a:t>67.8%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6080760" y="4837176"/>
            <a:ext cx="1234440" cy="274320"/>
          </a:xfrm>
          <a:prstGeom prst="rect">
            <a:avLst/>
          </a:prstGeom>
          <a:solidFill>
            <a:srgbClr val="FFE4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6099048" y="4873752"/>
            <a:ext cx="119786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1E2761"/>
                </a:solidFill>
              </a:rPr>
              <a:t>R$ 159,427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7342632" y="4837176"/>
            <a:ext cx="1097280" cy="27432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7360920" y="4873752"/>
            <a:ext cx="106070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FFFFFF"/>
                </a:solidFill>
              </a:rPr>
              <a:t>67.8%</a:t>
            </a:r>
          </a:p>
        </p:txBody>
      </p:sp>
      <p:sp>
        <p:nvSpPr>
          <p:cNvPr id="173" name="Rectangle 172"/>
          <p:cNvSpPr/>
          <p:nvPr/>
        </p:nvSpPr>
        <p:spPr>
          <a:xfrm>
            <a:off x="457200" y="5138928"/>
            <a:ext cx="274320" cy="274320"/>
          </a:xfrm>
          <a:prstGeom prst="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TextBox 173"/>
          <p:cNvSpPr txBox="1"/>
          <p:nvPr/>
        </p:nvSpPr>
        <p:spPr>
          <a:xfrm>
            <a:off x="475488" y="5175504"/>
            <a:ext cx="23774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1E2761"/>
                </a:solidFill>
              </a:rPr>
              <a:t>10</a:t>
            </a:r>
          </a:p>
        </p:txBody>
      </p:sp>
      <p:sp>
        <p:nvSpPr>
          <p:cNvPr id="175" name="Rectangle 174"/>
          <p:cNvSpPr/>
          <p:nvPr/>
        </p:nvSpPr>
        <p:spPr>
          <a:xfrm>
            <a:off x="758952" y="5138928"/>
            <a:ext cx="2103120" cy="274320"/>
          </a:xfrm>
          <a:prstGeom prst="rect">
            <a:avLst/>
          </a:prstGeom>
          <a:solidFill>
            <a:srgbClr val="141C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TextBox 175"/>
          <p:cNvSpPr txBox="1"/>
          <p:nvPr/>
        </p:nvSpPr>
        <p:spPr>
          <a:xfrm>
            <a:off x="777240" y="5175504"/>
            <a:ext cx="206654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CADCFC"/>
                </a:solidFill>
              </a:rPr>
              <a:t>Praia da Costa — Renato</a:t>
            </a:r>
          </a:p>
        </p:txBody>
      </p:sp>
      <p:sp>
        <p:nvSpPr>
          <p:cNvPr id="177" name="Rectangle 176"/>
          <p:cNvSpPr/>
          <p:nvPr/>
        </p:nvSpPr>
        <p:spPr>
          <a:xfrm>
            <a:off x="2889504" y="5138928"/>
            <a:ext cx="1234440" cy="274320"/>
          </a:xfrm>
          <a:prstGeom prst="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TextBox 177"/>
          <p:cNvSpPr txBox="1"/>
          <p:nvPr/>
        </p:nvSpPr>
        <p:spPr>
          <a:xfrm>
            <a:off x="2907792" y="5175504"/>
            <a:ext cx="119786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1E2761"/>
                </a:solidFill>
              </a:rPr>
              <a:t>R$ 50,617</a:t>
            </a:r>
          </a:p>
        </p:txBody>
      </p:sp>
      <p:sp>
        <p:nvSpPr>
          <p:cNvPr id="179" name="Rectangle 178"/>
          <p:cNvSpPr/>
          <p:nvPr/>
        </p:nvSpPr>
        <p:spPr>
          <a:xfrm>
            <a:off x="4151376" y="5138928"/>
            <a:ext cx="1097280" cy="274320"/>
          </a:xfrm>
          <a:prstGeom prst="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TextBox 179"/>
          <p:cNvSpPr txBox="1"/>
          <p:nvPr/>
        </p:nvSpPr>
        <p:spPr>
          <a:xfrm>
            <a:off x="4169664" y="5175504"/>
            <a:ext cx="106070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1E2761"/>
                </a:solidFill>
              </a:rPr>
              <a:t>R$ 140,000</a:t>
            </a:r>
          </a:p>
        </p:txBody>
      </p:sp>
      <p:sp>
        <p:nvSpPr>
          <p:cNvPr id="181" name="Rectangle 180"/>
          <p:cNvSpPr/>
          <p:nvPr/>
        </p:nvSpPr>
        <p:spPr>
          <a:xfrm>
            <a:off x="5276088" y="5138928"/>
            <a:ext cx="777240" cy="27432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TextBox 181"/>
          <p:cNvSpPr txBox="1"/>
          <p:nvPr/>
        </p:nvSpPr>
        <p:spPr>
          <a:xfrm>
            <a:off x="5294376" y="5175504"/>
            <a:ext cx="74066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112.1%</a:t>
            </a:r>
          </a:p>
        </p:txBody>
      </p:sp>
      <p:sp>
        <p:nvSpPr>
          <p:cNvPr id="183" name="Rectangle 182"/>
          <p:cNvSpPr/>
          <p:nvPr/>
        </p:nvSpPr>
        <p:spPr>
          <a:xfrm>
            <a:off x="6080760" y="5138928"/>
            <a:ext cx="1234440" cy="274320"/>
          </a:xfrm>
          <a:prstGeom prst="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TextBox 183"/>
          <p:cNvSpPr txBox="1"/>
          <p:nvPr/>
        </p:nvSpPr>
        <p:spPr>
          <a:xfrm>
            <a:off x="6099048" y="5175504"/>
            <a:ext cx="119786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1E2761"/>
                </a:solidFill>
              </a:rPr>
              <a:t>R$ 156,913</a:t>
            </a:r>
          </a:p>
        </p:txBody>
      </p:sp>
      <p:sp>
        <p:nvSpPr>
          <p:cNvPr id="185" name="Rectangle 184"/>
          <p:cNvSpPr/>
          <p:nvPr/>
        </p:nvSpPr>
        <p:spPr>
          <a:xfrm>
            <a:off x="7342632" y="5138928"/>
            <a:ext cx="1097280" cy="27432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TextBox 185"/>
          <p:cNvSpPr txBox="1"/>
          <p:nvPr/>
        </p:nvSpPr>
        <p:spPr>
          <a:xfrm>
            <a:off x="7360920" y="5175504"/>
            <a:ext cx="106070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112.1%</a:t>
            </a:r>
          </a:p>
        </p:txBody>
      </p:sp>
      <p:sp>
        <p:nvSpPr>
          <p:cNvPr id="187" name="Rectangle 186"/>
          <p:cNvSpPr/>
          <p:nvPr/>
        </p:nvSpPr>
        <p:spPr>
          <a:xfrm>
            <a:off x="457200" y="5440680"/>
            <a:ext cx="274320" cy="274320"/>
          </a:xfrm>
          <a:prstGeom prst="rect">
            <a:avLst/>
          </a:prstGeom>
          <a:solidFill>
            <a:srgbClr val="FFF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TextBox 187"/>
          <p:cNvSpPr txBox="1"/>
          <p:nvPr/>
        </p:nvSpPr>
        <p:spPr>
          <a:xfrm>
            <a:off x="475488" y="5477256"/>
            <a:ext cx="23774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1E2761"/>
                </a:solidFill>
              </a:rPr>
              <a:t>11</a:t>
            </a:r>
          </a:p>
        </p:txBody>
      </p:sp>
      <p:sp>
        <p:nvSpPr>
          <p:cNvPr id="189" name="Rectangle 188"/>
          <p:cNvSpPr/>
          <p:nvPr/>
        </p:nvSpPr>
        <p:spPr>
          <a:xfrm>
            <a:off x="758952" y="5440680"/>
            <a:ext cx="2103120" cy="274320"/>
          </a:xfrm>
          <a:prstGeom prst="rect">
            <a:avLst/>
          </a:prstGeom>
          <a:solidFill>
            <a:srgbClr val="141C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TextBox 189"/>
          <p:cNvSpPr txBox="1"/>
          <p:nvPr/>
        </p:nvSpPr>
        <p:spPr>
          <a:xfrm>
            <a:off x="777240" y="5477256"/>
            <a:ext cx="206654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ADCFC"/>
                </a:solidFill>
              </a:rPr>
              <a:t>Montserrat — Jhenifer</a:t>
            </a:r>
          </a:p>
        </p:txBody>
      </p:sp>
      <p:sp>
        <p:nvSpPr>
          <p:cNvPr id="191" name="Rectangle 190"/>
          <p:cNvSpPr/>
          <p:nvPr/>
        </p:nvSpPr>
        <p:spPr>
          <a:xfrm>
            <a:off x="2889504" y="5440680"/>
            <a:ext cx="1234440" cy="274320"/>
          </a:xfrm>
          <a:prstGeom prst="rect">
            <a:avLst/>
          </a:prstGeom>
          <a:solidFill>
            <a:srgbClr val="FFF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TextBox 191"/>
          <p:cNvSpPr txBox="1"/>
          <p:nvPr/>
        </p:nvSpPr>
        <p:spPr>
          <a:xfrm>
            <a:off x="2907792" y="5477256"/>
            <a:ext cx="119786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1E2761"/>
                </a:solidFill>
              </a:rPr>
              <a:t>R$ 42,709</a:t>
            </a:r>
          </a:p>
        </p:txBody>
      </p:sp>
      <p:sp>
        <p:nvSpPr>
          <p:cNvPr id="193" name="Rectangle 192"/>
          <p:cNvSpPr/>
          <p:nvPr/>
        </p:nvSpPr>
        <p:spPr>
          <a:xfrm>
            <a:off x="4151376" y="5440680"/>
            <a:ext cx="1097280" cy="274320"/>
          </a:xfrm>
          <a:prstGeom prst="rect">
            <a:avLst/>
          </a:prstGeom>
          <a:solidFill>
            <a:srgbClr val="FFF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TextBox 193"/>
          <p:cNvSpPr txBox="1"/>
          <p:nvPr/>
        </p:nvSpPr>
        <p:spPr>
          <a:xfrm>
            <a:off x="4169664" y="5477256"/>
            <a:ext cx="106070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1E2761"/>
                </a:solidFill>
              </a:rPr>
              <a:t>R$ 170,000</a:t>
            </a:r>
          </a:p>
        </p:txBody>
      </p:sp>
      <p:sp>
        <p:nvSpPr>
          <p:cNvPr id="195" name="Rectangle 194"/>
          <p:cNvSpPr/>
          <p:nvPr/>
        </p:nvSpPr>
        <p:spPr>
          <a:xfrm>
            <a:off x="5276088" y="5440680"/>
            <a:ext cx="777240" cy="274320"/>
          </a:xfrm>
          <a:prstGeom prst="rect">
            <a:avLst/>
          </a:prstGeom>
          <a:solidFill>
            <a:srgbClr val="FFF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TextBox 195"/>
          <p:cNvSpPr txBox="1"/>
          <p:nvPr/>
        </p:nvSpPr>
        <p:spPr>
          <a:xfrm>
            <a:off x="5294376" y="5477256"/>
            <a:ext cx="74066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1E2761"/>
                </a:solidFill>
              </a:rPr>
              <a:t>77.9%</a:t>
            </a:r>
          </a:p>
        </p:txBody>
      </p:sp>
      <p:sp>
        <p:nvSpPr>
          <p:cNvPr id="197" name="Rectangle 196"/>
          <p:cNvSpPr/>
          <p:nvPr/>
        </p:nvSpPr>
        <p:spPr>
          <a:xfrm>
            <a:off x="6080760" y="5440680"/>
            <a:ext cx="1234440" cy="274320"/>
          </a:xfrm>
          <a:prstGeom prst="rect">
            <a:avLst/>
          </a:prstGeom>
          <a:solidFill>
            <a:srgbClr val="FFF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TextBox 197"/>
          <p:cNvSpPr txBox="1"/>
          <p:nvPr/>
        </p:nvSpPr>
        <p:spPr>
          <a:xfrm>
            <a:off x="6099048" y="5477256"/>
            <a:ext cx="119786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1E2761"/>
                </a:solidFill>
              </a:rPr>
              <a:t>R$ 132,398</a:t>
            </a:r>
          </a:p>
        </p:txBody>
      </p:sp>
      <p:sp>
        <p:nvSpPr>
          <p:cNvPr id="199" name="Rectangle 198"/>
          <p:cNvSpPr/>
          <p:nvPr/>
        </p:nvSpPr>
        <p:spPr>
          <a:xfrm>
            <a:off x="7342632" y="5440680"/>
            <a:ext cx="1097280" cy="274320"/>
          </a:xfrm>
          <a:prstGeom prst="rect">
            <a:avLst/>
          </a:prstGeom>
          <a:solidFill>
            <a:srgbClr val="FFF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TextBox 199"/>
          <p:cNvSpPr txBox="1"/>
          <p:nvPr/>
        </p:nvSpPr>
        <p:spPr>
          <a:xfrm>
            <a:off x="7360920" y="5477256"/>
            <a:ext cx="106070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1E2761"/>
                </a:solidFill>
              </a:rPr>
              <a:t>77.9%</a:t>
            </a:r>
          </a:p>
        </p:txBody>
      </p:sp>
      <p:sp>
        <p:nvSpPr>
          <p:cNvPr id="201" name="Rectangle 200"/>
          <p:cNvSpPr/>
          <p:nvPr/>
        </p:nvSpPr>
        <p:spPr>
          <a:xfrm>
            <a:off x="457200" y="5742432"/>
            <a:ext cx="274320" cy="30175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TextBox 201"/>
          <p:cNvSpPr txBox="1"/>
          <p:nvPr/>
        </p:nvSpPr>
        <p:spPr>
          <a:xfrm>
            <a:off x="484632" y="5788152"/>
            <a:ext cx="21945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1E2761"/>
                </a:solidFill>
              </a:rPr>
              <a:t>—</a:t>
            </a:r>
          </a:p>
        </p:txBody>
      </p:sp>
      <p:sp>
        <p:nvSpPr>
          <p:cNvPr id="203" name="Rectangle 202"/>
          <p:cNvSpPr/>
          <p:nvPr/>
        </p:nvSpPr>
        <p:spPr>
          <a:xfrm>
            <a:off x="758952" y="5742432"/>
            <a:ext cx="2103120" cy="30175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TextBox 203"/>
          <p:cNvSpPr txBox="1"/>
          <p:nvPr/>
        </p:nvSpPr>
        <p:spPr>
          <a:xfrm>
            <a:off x="786384" y="5788152"/>
            <a:ext cx="204825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1E2761"/>
                </a:solidFill>
              </a:rPr>
              <a:t>TOTAL REDE — 11 LOJAS</a:t>
            </a:r>
          </a:p>
        </p:txBody>
      </p:sp>
      <p:sp>
        <p:nvSpPr>
          <p:cNvPr id="205" name="Rectangle 204"/>
          <p:cNvSpPr/>
          <p:nvPr/>
        </p:nvSpPr>
        <p:spPr>
          <a:xfrm>
            <a:off x="2889504" y="5742432"/>
            <a:ext cx="1234440" cy="30175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TextBox 205"/>
          <p:cNvSpPr txBox="1"/>
          <p:nvPr/>
        </p:nvSpPr>
        <p:spPr>
          <a:xfrm>
            <a:off x="2916936" y="5788152"/>
            <a:ext cx="117957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1E2761"/>
                </a:solidFill>
              </a:rPr>
              <a:t>R$ 950,638</a:t>
            </a:r>
          </a:p>
        </p:txBody>
      </p:sp>
      <p:sp>
        <p:nvSpPr>
          <p:cNvPr id="207" name="Rectangle 206"/>
          <p:cNvSpPr/>
          <p:nvPr/>
        </p:nvSpPr>
        <p:spPr>
          <a:xfrm>
            <a:off x="4151376" y="5742432"/>
            <a:ext cx="1097280" cy="30175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TextBox 207"/>
          <p:cNvSpPr txBox="1"/>
          <p:nvPr/>
        </p:nvSpPr>
        <p:spPr>
          <a:xfrm>
            <a:off x="4178808" y="5788152"/>
            <a:ext cx="104241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1E2761"/>
                </a:solidFill>
              </a:rPr>
              <a:t>R$ 3,200,000</a:t>
            </a:r>
          </a:p>
        </p:txBody>
      </p:sp>
      <p:sp>
        <p:nvSpPr>
          <p:cNvPr id="209" name="Rectangle 208"/>
          <p:cNvSpPr/>
          <p:nvPr/>
        </p:nvSpPr>
        <p:spPr>
          <a:xfrm>
            <a:off x="5276088" y="5742432"/>
            <a:ext cx="777240" cy="30175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TextBox 209"/>
          <p:cNvSpPr txBox="1"/>
          <p:nvPr/>
        </p:nvSpPr>
        <p:spPr>
          <a:xfrm>
            <a:off x="5303520" y="5788152"/>
            <a:ext cx="72237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1E2761"/>
                </a:solidFill>
              </a:rPr>
              <a:t>92.1%</a:t>
            </a:r>
          </a:p>
        </p:txBody>
      </p:sp>
      <p:sp>
        <p:nvSpPr>
          <p:cNvPr id="211" name="Rectangle 210"/>
          <p:cNvSpPr/>
          <p:nvPr/>
        </p:nvSpPr>
        <p:spPr>
          <a:xfrm>
            <a:off x="6080760" y="5742432"/>
            <a:ext cx="1234440" cy="30175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TextBox 211"/>
          <p:cNvSpPr txBox="1"/>
          <p:nvPr/>
        </p:nvSpPr>
        <p:spPr>
          <a:xfrm>
            <a:off x="6108192" y="5788152"/>
            <a:ext cx="117957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1E2761"/>
                </a:solidFill>
              </a:rPr>
              <a:t>R$ 2,946,978</a:t>
            </a:r>
          </a:p>
        </p:txBody>
      </p:sp>
      <p:sp>
        <p:nvSpPr>
          <p:cNvPr id="213" name="Rectangle 212"/>
          <p:cNvSpPr/>
          <p:nvPr/>
        </p:nvSpPr>
        <p:spPr>
          <a:xfrm>
            <a:off x="7342632" y="5742432"/>
            <a:ext cx="1097280" cy="30175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TextBox 213"/>
          <p:cNvSpPr txBox="1"/>
          <p:nvPr/>
        </p:nvSpPr>
        <p:spPr>
          <a:xfrm>
            <a:off x="7370064" y="5788152"/>
            <a:ext cx="104241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1E2761"/>
                </a:solidFill>
              </a:rPr>
              <a:t>92.1%</a:t>
            </a:r>
          </a:p>
        </p:txBody>
      </p:sp>
      <p:sp>
        <p:nvSpPr>
          <p:cNvPr id="215" name="Rectangle 214"/>
          <p:cNvSpPr/>
          <p:nvPr/>
        </p:nvSpPr>
        <p:spPr>
          <a:xfrm>
            <a:off x="0" y="4800600"/>
            <a:ext cx="9144000" cy="320040"/>
          </a:xfrm>
          <a:prstGeom prst="rect">
            <a:avLst/>
          </a:prstGeom>
          <a:solidFill>
            <a:srgbClr val="141C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TextBox 215"/>
          <p:cNvSpPr txBox="1"/>
          <p:nvPr/>
        </p:nvSpPr>
        <p:spPr>
          <a:xfrm>
            <a:off x="548640" y="4846320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CADCFC"/>
                </a:solidFill>
              </a:rPr>
              <a:t>REDE TITÃS  ·  PERFORMANCE MAIO 2026  ·  01–10/05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" cy="512064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" y="0"/>
            <a:ext cx="8732520" cy="640080"/>
          </a:xfrm>
          <a:prstGeom prst="rect">
            <a:avLst/>
          </a:prstGeom>
          <a:solidFill>
            <a:srgbClr val="141C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914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A623"/>
                </a:solidFill>
              </a:rPr>
              <a:t>PLANO DE ACELERAÇÃO — GAP DE R$ 253,022 PARA FECHAR MAIO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836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CADCFC"/>
                </a:solidFill>
              </a:rPr>
              <a:t>Projeção atual: R$ 2,946,978 (92.1%) vs Meta R$ 3,200,000  ·  Restam 21 dias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777240"/>
            <a:ext cx="8366760" cy="384048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822960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RITMO NECESSÁRIO NOS 21 DIAS RESTANTES: R$ 107,112/dia  (atual R$ 95,064/dia — precisa +13%)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325880"/>
            <a:ext cx="2788920" cy="41148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0352" y="1371600"/>
            <a:ext cx="264261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⚡ AÇÃO IMEDIATA
Lojas críticas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810512"/>
            <a:ext cx="2788920" cy="420624"/>
          </a:xfrm>
          <a:prstGeom prst="rect">
            <a:avLst/>
          </a:prstGeom>
          <a:solidFill>
            <a:srgbClr val="E8ED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0352" y="1865376"/>
            <a:ext cx="264261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E2761"/>
                </a:solidFill>
              </a:rPr>
              <a:t>Itabuna: ritmo 68% — blitz de celulares obrigatório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267712"/>
            <a:ext cx="2788920" cy="420624"/>
          </a:xfrm>
          <a:prstGeom prst="rect">
            <a:avLst/>
          </a:prstGeom>
          <a:solidFill>
            <a:srgbClr val="E8ED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0352" y="2322576"/>
            <a:ext cx="264261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E2761"/>
                </a:solidFill>
              </a:rPr>
              <a:t>Laranjeiras: ritmo 68% + RAV mínimo — Adriel na loja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724912"/>
            <a:ext cx="2788920" cy="420624"/>
          </a:xfrm>
          <a:prstGeom prst="rect">
            <a:avLst/>
          </a:prstGeom>
          <a:solidFill>
            <a:srgbClr val="E8ED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0352" y="2779776"/>
            <a:ext cx="264261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E2761"/>
                </a:solidFill>
              </a:rPr>
              <a:t>Linhares: ritmo 76% + RAV baixo — coaching urgente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182112"/>
            <a:ext cx="2788920" cy="420624"/>
          </a:xfrm>
          <a:prstGeom prst="rect">
            <a:avLst/>
          </a:prstGeom>
          <a:solidFill>
            <a:srgbClr val="E8ED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0352" y="3236976"/>
            <a:ext cx="264261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E2761"/>
                </a:solidFill>
              </a:rPr>
              <a:t>Montserrat: ritmo 78% — recuperar ritmo campeão de ABR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639312"/>
            <a:ext cx="2788920" cy="420624"/>
          </a:xfrm>
          <a:prstGeom prst="rect">
            <a:avLst/>
          </a:prstGeom>
          <a:solidFill>
            <a:srgbClr val="E8ED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0352" y="3694176"/>
            <a:ext cx="264261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E2761"/>
                </a:solidFill>
              </a:rPr>
              <a:t>Cariacica: ritmo 93% — ajuste fino para cruzar 100%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364992" y="1325880"/>
            <a:ext cx="2788920" cy="41148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38144" y="1371600"/>
            <a:ext cx="264261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E2761"/>
                </a:solidFill>
              </a:rPr>
              <a:t>📈 ACELERAÇÃO
Lojas em ritmo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364992" y="1810512"/>
            <a:ext cx="2788920" cy="420624"/>
          </a:xfrm>
          <a:prstGeom prst="rect">
            <a:avLst/>
          </a:prstGeom>
          <a:solidFill>
            <a:srgbClr val="E8ED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438144" y="1865376"/>
            <a:ext cx="264261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E2761"/>
                </a:solidFill>
              </a:rPr>
              <a:t>São Mateus: 106% ritmo — manter e buscar R$ 500k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364992" y="2267712"/>
            <a:ext cx="2788920" cy="420624"/>
          </a:xfrm>
          <a:prstGeom prst="rect">
            <a:avLst/>
          </a:prstGeom>
          <a:solidFill>
            <a:srgbClr val="E8ED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438144" y="2322576"/>
            <a:ext cx="264261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E2761"/>
                </a:solidFill>
              </a:rPr>
              <a:t>Moxuara: 112% — elevar RAV (7.320 já é destaque!)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364992" y="2724912"/>
            <a:ext cx="2788920" cy="420624"/>
          </a:xfrm>
          <a:prstGeom prst="rect">
            <a:avLst/>
          </a:prstGeom>
          <a:solidFill>
            <a:srgbClr val="E8ED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438144" y="2779776"/>
            <a:ext cx="264261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E2761"/>
                </a:solidFill>
              </a:rPr>
              <a:t>Teixeira: 125%! Melhor ritmo da rede — exemplo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364992" y="3182112"/>
            <a:ext cx="2788920" cy="420624"/>
          </a:xfrm>
          <a:prstGeom prst="rect">
            <a:avLst/>
          </a:prstGeom>
          <a:solidFill>
            <a:srgbClr val="E8ED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438144" y="3236976"/>
            <a:ext cx="264261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E2761"/>
                </a:solidFill>
              </a:rPr>
              <a:t>Praia da Costa: 112% surpresa positiva — manter!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364992" y="3639312"/>
            <a:ext cx="2788920" cy="420624"/>
          </a:xfrm>
          <a:prstGeom prst="rect">
            <a:avLst/>
          </a:prstGeom>
          <a:solidFill>
            <a:srgbClr val="E8ED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438144" y="3694176"/>
            <a:ext cx="264261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E2761"/>
                </a:solidFill>
              </a:rPr>
              <a:t>Barreiras: 92% — ajuste fino para cruzar 100%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72784" y="1325880"/>
            <a:ext cx="2788920" cy="411480"/>
          </a:xfrm>
          <a:prstGeom prst="rect">
            <a:avLst/>
          </a:prstGeom>
          <a:solidFill>
            <a:srgbClr val="141C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45936" y="1371600"/>
            <a:ext cx="264261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🔑 ALAVANCAS CHAVE
Toda a rede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72784" y="1810512"/>
            <a:ext cx="2788920" cy="420624"/>
          </a:xfrm>
          <a:prstGeom prst="rect">
            <a:avLst/>
          </a:prstGeom>
          <a:solidFill>
            <a:srgbClr val="141C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45936" y="1865376"/>
            <a:ext cx="264261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ADCFC"/>
                </a:solidFill>
              </a:rPr>
              <a:t>RAV: ritmo 69% — combo em 100% das vendas hoje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272784" y="2267712"/>
            <a:ext cx="2788920" cy="420624"/>
          </a:xfrm>
          <a:prstGeom prst="rect">
            <a:avLst/>
          </a:prstGeom>
          <a:solidFill>
            <a:srgbClr val="141C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45936" y="2322576"/>
            <a:ext cx="264261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ADCFC"/>
                </a:solidFill>
              </a:rPr>
              <a:t>Moxuara lidera RAV (R$ 7.320) — replicar abordagem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272784" y="2724912"/>
            <a:ext cx="2788920" cy="420624"/>
          </a:xfrm>
          <a:prstGeom prst="rect">
            <a:avLst/>
          </a:prstGeom>
          <a:solidFill>
            <a:srgbClr val="141C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345936" y="2779776"/>
            <a:ext cx="264261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ADCFC"/>
                </a:solidFill>
              </a:rPr>
              <a:t>Serra RAV surpreende (R$ 5.485) — foco continua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272784" y="3182112"/>
            <a:ext cx="2788920" cy="420624"/>
          </a:xfrm>
          <a:prstGeom prst="rect">
            <a:avLst/>
          </a:prstGeom>
          <a:solidFill>
            <a:srgbClr val="141C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345936" y="3236976"/>
            <a:ext cx="264261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ADCFC"/>
                </a:solidFill>
              </a:rPr>
              <a:t>Itabuna, Laranjeiras, Cariacica: attach crítico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272784" y="3639312"/>
            <a:ext cx="2788920" cy="420624"/>
          </a:xfrm>
          <a:prstGeom prst="rect">
            <a:avLst/>
          </a:prstGeom>
          <a:solidFill>
            <a:srgbClr val="141C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345936" y="3694176"/>
            <a:ext cx="264261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ADCFC"/>
                </a:solidFill>
              </a:rPr>
              <a:t>Meta diária por vendedor — cobrar 2x ao dia</a:t>
            </a:r>
          </a:p>
        </p:txBody>
      </p:sp>
      <p:sp>
        <p:nvSpPr>
          <p:cNvPr id="44" name="Rectangle 43"/>
          <p:cNvSpPr/>
          <p:nvPr/>
        </p:nvSpPr>
        <p:spPr>
          <a:xfrm>
            <a:off x="0" y="4800600"/>
            <a:ext cx="9144000" cy="320040"/>
          </a:xfrm>
          <a:prstGeom prst="rect">
            <a:avLst/>
          </a:prstGeom>
          <a:solidFill>
            <a:srgbClr val="141C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48640" y="4846320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CADCFC"/>
                </a:solidFill>
              </a:rPr>
              <a:t>REDE TITÃS  ·  PERFORMANCE MAIO 2026  ·  01–10/05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" cy="512064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" y="0"/>
            <a:ext cx="8732520" cy="640080"/>
          </a:xfrm>
          <a:prstGeom prst="rect">
            <a:avLst/>
          </a:prstGeom>
          <a:solidFill>
            <a:srgbClr val="141C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914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A623"/>
                </a:solidFill>
              </a:rPr>
              <a:t>ANÁLISE MAIO 2026 — DESTAQUES E ALERTAS (01–10/MAI)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836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CADCFC"/>
                </a:solidFill>
              </a:rPr>
              <a:t>Ritmo geral: 92,1%  ·  4 lojas acima do ritmo  ·  3 em alerta crítico  ·  Gap projetado: R$ 253,022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777240"/>
            <a:ext cx="4069080" cy="34747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822960"/>
            <a:ext cx="3931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✅  ACIMA DO RITMO — MANTER E ACELERAR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188720"/>
            <a:ext cx="4069080" cy="438912"/>
          </a:xfrm>
          <a:prstGeom prst="rect">
            <a:avLst/>
          </a:prstGeom>
          <a:solidFill>
            <a:srgbClr val="166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234440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São Mateus — Juliana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34640" y="1243584"/>
            <a:ext cx="1645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 i="0">
                <a:solidFill>
                  <a:srgbClr val="F5A623"/>
                </a:solidFill>
              </a:rPr>
              <a:t>Ritmo 106.0%  ·  Proj R$ 498,079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1664208"/>
            <a:ext cx="4069080" cy="438912"/>
          </a:xfrm>
          <a:prstGeom prst="rect">
            <a:avLst/>
          </a:prstGeom>
          <a:solidFill>
            <a:srgbClr val="166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1709928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Moxuara — Ana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34640" y="1719072"/>
            <a:ext cx="1645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 i="0">
                <a:solidFill>
                  <a:srgbClr val="F5A623"/>
                </a:solidFill>
              </a:rPr>
              <a:t>Ritmo 111.9%  ·  Proj R$ 346,783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2139696"/>
            <a:ext cx="4069080" cy="438912"/>
          </a:xfrm>
          <a:prstGeom prst="rect">
            <a:avLst/>
          </a:prstGeom>
          <a:solidFill>
            <a:srgbClr val="145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2185416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Teixeira — Junior Dias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34640" y="2194560"/>
            <a:ext cx="1645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 i="0">
                <a:solidFill>
                  <a:srgbClr val="F5A623"/>
                </a:solidFill>
              </a:rPr>
              <a:t>Ritmo 125.4%  ·  Proj R$ 294,720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2615184"/>
            <a:ext cx="4069080" cy="438912"/>
          </a:xfrm>
          <a:prstGeom prst="rect">
            <a:avLst/>
          </a:prstGeom>
          <a:solidFill>
            <a:srgbClr val="166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2660904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Praia da Costa — Renato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34640" y="2670048"/>
            <a:ext cx="1645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 i="0">
                <a:solidFill>
                  <a:srgbClr val="F5A623"/>
                </a:solidFill>
              </a:rPr>
              <a:t>Ritmo 112.1%  ·  Proj R$ 156,913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63440" y="777240"/>
            <a:ext cx="4206240" cy="34747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54880" y="822960"/>
            <a:ext cx="4069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🔴  ABAIXO DO RITMO — AÇÃO IMEDIATA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663440" y="1188720"/>
            <a:ext cx="4206240" cy="438912"/>
          </a:xfrm>
          <a:prstGeom prst="rect">
            <a:avLst/>
          </a:prstGeom>
          <a:solidFill>
            <a:srgbClr val="7F1D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54880" y="1234440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Laranjeiras — Jhenifer 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32320" y="1243584"/>
            <a:ext cx="1645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 i="0">
                <a:solidFill>
                  <a:srgbClr val="F5A623"/>
                </a:solidFill>
              </a:rPr>
              <a:t>Ritmo 67.8%  ·  Gap proj R$ 75,573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663440" y="1664208"/>
            <a:ext cx="4206240" cy="438912"/>
          </a:xfrm>
          <a:prstGeom prst="rect">
            <a:avLst/>
          </a:prstGeom>
          <a:solidFill>
            <a:srgbClr val="7F1D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754880" y="1709928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Itabuna — Reinan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32320" y="1719072"/>
            <a:ext cx="1645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 i="0">
                <a:solidFill>
                  <a:srgbClr val="F5A623"/>
                </a:solidFill>
              </a:rPr>
              <a:t>Ritmo 68.3%  ·  Gap proj R$ 133,117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663440" y="2139696"/>
            <a:ext cx="4206240" cy="438912"/>
          </a:xfrm>
          <a:prstGeom prst="rect">
            <a:avLst/>
          </a:prstGeom>
          <a:solidFill>
            <a:srgbClr val="9B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754880" y="2185416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Linhares — Kristian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32320" y="2194560"/>
            <a:ext cx="1645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 i="0">
                <a:solidFill>
                  <a:srgbClr val="F5A623"/>
                </a:solidFill>
              </a:rPr>
              <a:t>Ritmo 76.4%  ·  Gap proj R$ 54,273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663440" y="2615184"/>
            <a:ext cx="4206240" cy="438912"/>
          </a:xfrm>
          <a:prstGeom prst="rect">
            <a:avLst/>
          </a:prstGeom>
          <a:solidFill>
            <a:srgbClr val="9B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754880" y="2660904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Montserrat — Jhenifer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32320" y="2670048"/>
            <a:ext cx="1645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 i="0">
                <a:solidFill>
                  <a:srgbClr val="F5A623"/>
                </a:solidFill>
              </a:rPr>
              <a:t>Ritmo 77.9%  ·  Gap proj R$ 37,602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02920" y="3566160"/>
            <a:ext cx="8366760" cy="347472"/>
          </a:xfrm>
          <a:prstGeom prst="rect">
            <a:avLst/>
          </a:prstGeom>
          <a:solidFill>
            <a:srgbClr val="141C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94360" y="361188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5A623"/>
                </a:solidFill>
              </a:rPr>
              <a:t>ACESSÓRIOS — 01 A 10/MAI  ·  Total RAV: R$ 40.869  ·  Proj Mês: R$ 126.697  ·  Meta Mês: R$ 184.000  ·  Ritmo: 68,9%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3977639"/>
            <a:ext cx="749808" cy="256032"/>
          </a:xfrm>
          <a:prstGeom prst="rect">
            <a:avLst/>
          </a:prstGeom>
          <a:solidFill>
            <a:srgbClr val="141C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75488" y="3995928"/>
            <a:ext cx="7132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CADCFC"/>
                </a:solidFill>
              </a:rPr>
              <a:t>Moxuara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" y="4270248"/>
            <a:ext cx="749808" cy="43891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75488" y="4297680"/>
            <a:ext cx="7132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1E2761"/>
                </a:solidFill>
              </a:rPr>
              <a:t>R$7,320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75488" y="4507992"/>
            <a:ext cx="71323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1E2761"/>
                </a:solidFill>
              </a:rPr>
              <a:t>130%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243584" y="3977639"/>
            <a:ext cx="749808" cy="256032"/>
          </a:xfrm>
          <a:prstGeom prst="rect">
            <a:avLst/>
          </a:prstGeom>
          <a:solidFill>
            <a:srgbClr val="141C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261872" y="3995928"/>
            <a:ext cx="7132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CADCFC"/>
                </a:solidFill>
              </a:rPr>
              <a:t>São Mate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243584" y="4270248"/>
            <a:ext cx="749808" cy="438912"/>
          </a:xfrm>
          <a:prstGeom prst="rect">
            <a:avLst/>
          </a:prstGeom>
          <a:solidFill>
            <a:srgbClr val="E8ED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261872" y="4297680"/>
            <a:ext cx="7132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1E2761"/>
                </a:solidFill>
              </a:rPr>
              <a:t>R$6,690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261872" y="4507992"/>
            <a:ext cx="71323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1E2761"/>
                </a:solidFill>
              </a:rPr>
              <a:t>72%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029968" y="3977639"/>
            <a:ext cx="749808" cy="256032"/>
          </a:xfrm>
          <a:prstGeom prst="rect">
            <a:avLst/>
          </a:prstGeom>
          <a:solidFill>
            <a:srgbClr val="141C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048256" y="3995928"/>
            <a:ext cx="7132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CADCFC"/>
                </a:solidFill>
              </a:rPr>
              <a:t>Montserr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029968" y="4270248"/>
            <a:ext cx="749808" cy="43891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048256" y="4297680"/>
            <a:ext cx="7132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1E2761"/>
                </a:solidFill>
              </a:rPr>
              <a:t>R$5,725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048256" y="4507992"/>
            <a:ext cx="71323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1E2761"/>
                </a:solidFill>
              </a:rPr>
              <a:t>154%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816352" y="3977639"/>
            <a:ext cx="749808" cy="256032"/>
          </a:xfrm>
          <a:prstGeom prst="rect">
            <a:avLst/>
          </a:prstGeom>
          <a:solidFill>
            <a:srgbClr val="141C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834640" y="3995928"/>
            <a:ext cx="7132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CADCFC"/>
                </a:solidFill>
              </a:rPr>
              <a:t>Serra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816352" y="4270248"/>
            <a:ext cx="749808" cy="438912"/>
          </a:xfrm>
          <a:prstGeom prst="rect">
            <a:avLst/>
          </a:prstGeom>
          <a:solidFill>
            <a:srgbClr val="E8ED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834640" y="4297680"/>
            <a:ext cx="7132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1E2761"/>
                </a:solidFill>
              </a:rPr>
              <a:t>R$5,485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834640" y="4507992"/>
            <a:ext cx="71323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1E2761"/>
                </a:solidFill>
              </a:rPr>
              <a:t>72%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602736" y="3977639"/>
            <a:ext cx="749808" cy="256032"/>
          </a:xfrm>
          <a:prstGeom prst="rect">
            <a:avLst/>
          </a:prstGeom>
          <a:solidFill>
            <a:srgbClr val="141C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621024" y="3995928"/>
            <a:ext cx="7132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CADCFC"/>
                </a:solidFill>
              </a:rPr>
              <a:t>Itabuna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602736" y="4270248"/>
            <a:ext cx="749808" cy="438912"/>
          </a:xfrm>
          <a:prstGeom prst="rect">
            <a:avLst/>
          </a:prstGeom>
          <a:solidFill>
            <a:srgbClr val="E8ED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621024" y="4297680"/>
            <a:ext cx="7132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1E2761"/>
                </a:solidFill>
              </a:rPr>
              <a:t>R$3,995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621024" y="4507992"/>
            <a:ext cx="71323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1E2761"/>
                </a:solidFill>
              </a:rPr>
              <a:t>71%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389120" y="3977639"/>
            <a:ext cx="749808" cy="256032"/>
          </a:xfrm>
          <a:prstGeom prst="rect">
            <a:avLst/>
          </a:prstGeom>
          <a:solidFill>
            <a:srgbClr val="141C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407408" y="3995928"/>
            <a:ext cx="7132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CADCFC"/>
                </a:solidFill>
              </a:rPr>
              <a:t>Linhares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389120" y="4270248"/>
            <a:ext cx="749808" cy="438912"/>
          </a:xfrm>
          <a:prstGeom prst="rect">
            <a:avLst/>
          </a:prstGeom>
          <a:solidFill>
            <a:srgbClr val="FFF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407408" y="4297680"/>
            <a:ext cx="7132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1E2761"/>
                </a:solidFill>
              </a:rPr>
              <a:t>R$2,940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407408" y="4507992"/>
            <a:ext cx="71323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1E2761"/>
                </a:solidFill>
              </a:rPr>
              <a:t>52%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175504" y="3977639"/>
            <a:ext cx="749808" cy="256032"/>
          </a:xfrm>
          <a:prstGeom prst="rect">
            <a:avLst/>
          </a:prstGeom>
          <a:solidFill>
            <a:srgbClr val="141C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5193792" y="3995928"/>
            <a:ext cx="7132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CADCFC"/>
                </a:solidFill>
              </a:rPr>
              <a:t>Cariacic</a:t>
            </a:r>
          </a:p>
        </p:txBody>
      </p:sp>
      <p:sp>
        <p:nvSpPr>
          <p:cNvPr id="68" name="Rectangle 67"/>
          <p:cNvSpPr/>
          <p:nvPr/>
        </p:nvSpPr>
        <p:spPr>
          <a:xfrm>
            <a:off x="5175504" y="4270248"/>
            <a:ext cx="749808" cy="43891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5193792" y="4297680"/>
            <a:ext cx="7132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1E2761"/>
                </a:solidFill>
              </a:rPr>
              <a:t>R$2,640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193792" y="4507992"/>
            <a:ext cx="71323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1E2761"/>
                </a:solidFill>
              </a:rPr>
              <a:t>28%</a:t>
            </a:r>
          </a:p>
        </p:txBody>
      </p:sp>
      <p:sp>
        <p:nvSpPr>
          <p:cNvPr id="71" name="Rectangle 70"/>
          <p:cNvSpPr/>
          <p:nvPr/>
        </p:nvSpPr>
        <p:spPr>
          <a:xfrm>
            <a:off x="5961888" y="3977639"/>
            <a:ext cx="749808" cy="256032"/>
          </a:xfrm>
          <a:prstGeom prst="rect">
            <a:avLst/>
          </a:prstGeom>
          <a:solidFill>
            <a:srgbClr val="141C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5980176" y="3995928"/>
            <a:ext cx="7132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CADCFC"/>
                </a:solidFill>
              </a:rPr>
              <a:t>Barreira</a:t>
            </a:r>
          </a:p>
        </p:txBody>
      </p:sp>
      <p:sp>
        <p:nvSpPr>
          <p:cNvPr id="73" name="Rectangle 72"/>
          <p:cNvSpPr/>
          <p:nvPr/>
        </p:nvSpPr>
        <p:spPr>
          <a:xfrm>
            <a:off x="5961888" y="4270248"/>
            <a:ext cx="749808" cy="438912"/>
          </a:xfrm>
          <a:prstGeom prst="rect">
            <a:avLst/>
          </a:prstGeom>
          <a:solidFill>
            <a:srgbClr val="FFF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5980176" y="4297680"/>
            <a:ext cx="7132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1E2761"/>
                </a:solidFill>
              </a:rPr>
              <a:t>R$2,212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980176" y="4507992"/>
            <a:ext cx="71323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1E2761"/>
                </a:solidFill>
              </a:rPr>
              <a:t>60%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748272" y="3977639"/>
            <a:ext cx="749808" cy="256032"/>
          </a:xfrm>
          <a:prstGeom prst="rect">
            <a:avLst/>
          </a:prstGeom>
          <a:solidFill>
            <a:srgbClr val="141C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766560" y="3995928"/>
            <a:ext cx="7132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CADCFC"/>
                </a:solidFill>
              </a:rPr>
              <a:t>Teixeira</a:t>
            </a:r>
          </a:p>
        </p:txBody>
      </p:sp>
      <p:sp>
        <p:nvSpPr>
          <p:cNvPr id="78" name="Rectangle 77"/>
          <p:cNvSpPr/>
          <p:nvPr/>
        </p:nvSpPr>
        <p:spPr>
          <a:xfrm>
            <a:off x="6748272" y="4270248"/>
            <a:ext cx="749808" cy="438912"/>
          </a:xfrm>
          <a:prstGeom prst="rect">
            <a:avLst/>
          </a:prstGeom>
          <a:solidFill>
            <a:srgbClr val="FFF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766560" y="4297680"/>
            <a:ext cx="7132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1E2761"/>
                </a:solidFill>
              </a:rPr>
              <a:t>R$1,959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766560" y="4507992"/>
            <a:ext cx="71323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1E2761"/>
                </a:solidFill>
              </a:rPr>
              <a:t>64%</a:t>
            </a:r>
          </a:p>
        </p:txBody>
      </p:sp>
      <p:sp>
        <p:nvSpPr>
          <p:cNvPr id="81" name="Rectangle 80"/>
          <p:cNvSpPr/>
          <p:nvPr/>
        </p:nvSpPr>
        <p:spPr>
          <a:xfrm>
            <a:off x="7534656" y="3977639"/>
            <a:ext cx="749808" cy="256032"/>
          </a:xfrm>
          <a:prstGeom prst="rect">
            <a:avLst/>
          </a:prstGeom>
          <a:solidFill>
            <a:srgbClr val="141C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7552944" y="3995928"/>
            <a:ext cx="7132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CADCFC"/>
                </a:solidFill>
              </a:rPr>
              <a:t>Praia da</a:t>
            </a:r>
          </a:p>
        </p:txBody>
      </p:sp>
      <p:sp>
        <p:nvSpPr>
          <p:cNvPr id="83" name="Rectangle 82"/>
          <p:cNvSpPr/>
          <p:nvPr/>
        </p:nvSpPr>
        <p:spPr>
          <a:xfrm>
            <a:off x="7534656" y="4270248"/>
            <a:ext cx="749808" cy="438912"/>
          </a:xfrm>
          <a:prstGeom prst="rect">
            <a:avLst/>
          </a:prstGeom>
          <a:solidFill>
            <a:srgbClr val="FFF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7552944" y="4297680"/>
            <a:ext cx="7132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1E2761"/>
                </a:solidFill>
              </a:rPr>
              <a:t>R$1,180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552944" y="4507992"/>
            <a:ext cx="71323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1E2761"/>
                </a:solidFill>
              </a:rPr>
              <a:t>61%</a:t>
            </a:r>
          </a:p>
        </p:txBody>
      </p:sp>
      <p:sp>
        <p:nvSpPr>
          <p:cNvPr id="86" name="Rectangle 85"/>
          <p:cNvSpPr/>
          <p:nvPr/>
        </p:nvSpPr>
        <p:spPr>
          <a:xfrm>
            <a:off x="8321040" y="3977639"/>
            <a:ext cx="749808" cy="256032"/>
          </a:xfrm>
          <a:prstGeom prst="rect">
            <a:avLst/>
          </a:prstGeom>
          <a:solidFill>
            <a:srgbClr val="141C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8339328" y="3995928"/>
            <a:ext cx="7132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CADCFC"/>
                </a:solidFill>
              </a:rPr>
              <a:t>Laranjei</a:t>
            </a:r>
          </a:p>
        </p:txBody>
      </p:sp>
      <p:sp>
        <p:nvSpPr>
          <p:cNvPr id="88" name="Rectangle 87"/>
          <p:cNvSpPr/>
          <p:nvPr/>
        </p:nvSpPr>
        <p:spPr>
          <a:xfrm>
            <a:off x="8321040" y="4270248"/>
            <a:ext cx="749808" cy="43891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8339328" y="4297680"/>
            <a:ext cx="7132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1E2761"/>
                </a:solidFill>
              </a:rPr>
              <a:t>R$724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8339328" y="4507992"/>
            <a:ext cx="71323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1E2761"/>
                </a:solidFill>
              </a:rPr>
              <a:t>20%</a:t>
            </a:r>
          </a:p>
        </p:txBody>
      </p:sp>
      <p:sp>
        <p:nvSpPr>
          <p:cNvPr id="91" name="Rectangle 90"/>
          <p:cNvSpPr/>
          <p:nvPr/>
        </p:nvSpPr>
        <p:spPr>
          <a:xfrm>
            <a:off x="0" y="4800600"/>
            <a:ext cx="9144000" cy="320040"/>
          </a:xfrm>
          <a:prstGeom prst="rect">
            <a:avLst/>
          </a:prstGeom>
          <a:solidFill>
            <a:srgbClr val="141C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548640" y="4846320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CADCFC"/>
                </a:solidFill>
              </a:rPr>
              <a:t>REDE TITÃS  ·  PERFORMANCE MAIO 2026  ·  01–10/05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164592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SEMANAL — REUNIÃO 19/04/2026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37160" y="868680"/>
            <a:ext cx="2834640" cy="640080"/>
          </a:xfrm>
          <a:prstGeom prst="rect">
            <a:avLst/>
          </a:prstGeom>
          <a:solidFill>
            <a:srgbClr val="1A5C8A"/>
          </a:solidFill>
          <a:ln w="12700">
            <a:solidFill>
              <a:srgbClr val="1A5C8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86868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TALYSSON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228600" y="1225296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Titãs 1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37160" y="1600200"/>
            <a:ext cx="283464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37160" y="1600200"/>
            <a:ext cx="365760" cy="1051560"/>
          </a:xfrm>
          <a:prstGeom prst="rect">
            <a:avLst/>
          </a:prstGeom>
          <a:solidFill>
            <a:srgbClr val="1A5C8A"/>
          </a:solidFill>
          <a:ln w="12700">
            <a:solidFill>
              <a:srgbClr val="1A5C8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7160" y="1600200"/>
            <a:ext cx="365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76072" y="169164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Atingimento Semana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76072" y="205740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60,1% da meta atingido com 19 dias. Moxuara foi o destaque absoluto da semana com R$ 51.400 — melhor resultado da rede no período. Praia da Costa ainda distante — destravar nas últimas jornadas é missão prioritária.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137160" y="2761488"/>
            <a:ext cx="283464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37160" y="2761488"/>
            <a:ext cx="365760" cy="1051560"/>
          </a:xfrm>
          <a:prstGeom prst="rect">
            <a:avLst/>
          </a:prstGeom>
          <a:solidFill>
            <a:srgbClr val="1A5C8A"/>
          </a:solidFill>
          <a:ln w="12700">
            <a:solidFill>
              <a:srgbClr val="1A5C8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37160" y="2761488"/>
            <a:ext cx="365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76072" y="2852928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Loja em Alerta — Praia da Costa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76072" y="3218688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Renato em 57,8% da meta — projeção de R$ 94.897 vs R$ 130.000. Com R$ 75.127 acumulados, o gap ainda exige blitz de fechamento nas últimas 5 jornadas. Quadro de vendedores precisa de reforço imediato.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37160" y="3922776"/>
            <a:ext cx="283464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37160" y="3922776"/>
            <a:ext cx="365760" cy="1051560"/>
          </a:xfrm>
          <a:prstGeom prst="rect">
            <a:avLst/>
          </a:prstGeom>
          <a:solidFill>
            <a:srgbClr val="1A5C8A"/>
          </a:solidFill>
          <a:ln w="12700">
            <a:solidFill>
              <a:srgbClr val="1A5C8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37160" y="3922776"/>
            <a:ext cx="365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P03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76072" y="4014216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Próximas 48 Horas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76072" y="437997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Manter ritmo de Moxuara e Cariacica; blitz de fechamento em Praia da Costa com suporte direto de Talysson; replicar dinâmica de abordagem e combo de Moxuara nas demais lojas da sub-rede.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136392" y="868680"/>
            <a:ext cx="2834640" cy="640080"/>
          </a:xfrm>
          <a:prstGeom prst="rect">
            <a:avLst/>
          </a:prstGeom>
          <a:solidFill>
            <a:srgbClr val="0F7B5B"/>
          </a:solidFill>
          <a:ln w="12700">
            <a:solidFill>
              <a:srgbClr val="0F7B5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27832" y="86868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ADRIEL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3227832" y="1225296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Titãs 2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136392" y="1600200"/>
            <a:ext cx="283464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136392" y="1600200"/>
            <a:ext cx="365760" cy="1051560"/>
          </a:xfrm>
          <a:prstGeom prst="rect">
            <a:avLst/>
          </a:prstGeom>
          <a:solidFill>
            <a:srgbClr val="0F7B5B"/>
          </a:solidFill>
          <a:ln w="12700">
            <a:solidFill>
              <a:srgbClr val="0F7B5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136392" y="1600200"/>
            <a:ext cx="365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P01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575304" y="169164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Atingimento Semana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575304" y="205740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57,0% da meta atingido. Laranjeiras deu resposta positiva na semana — acelerou de 31% para 43,6%. Equipe Titãs 2 em ritmo crescente, mas a última quinzena ainda é decisiva para chegar à meta.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136392" y="2761488"/>
            <a:ext cx="283464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136392" y="2761488"/>
            <a:ext cx="365760" cy="1051560"/>
          </a:xfrm>
          <a:prstGeom prst="rect">
            <a:avLst/>
          </a:prstGeom>
          <a:solidFill>
            <a:srgbClr val="0F7B5B"/>
          </a:solidFill>
          <a:ln w="12700">
            <a:solidFill>
              <a:srgbClr val="0F7B5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136392" y="2761488"/>
            <a:ext cx="365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P02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3575304" y="2852928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Loja em Alerta — Laranjeiras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3575304" y="3218688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Jhenifer Eduarda em 43,6% da meta — projeção de R$ 121.029 vs R$ 220.000. Evolução positiva na semana mas ainda com gap crítico de R$ 99k. Conversão e volume precisam dobrar no fechamento.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3136392" y="3922776"/>
            <a:ext cx="283464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136392" y="3922776"/>
            <a:ext cx="365760" cy="1051560"/>
          </a:xfrm>
          <a:prstGeom prst="rect">
            <a:avLst/>
          </a:prstGeom>
          <a:solidFill>
            <a:srgbClr val="0F7B5B"/>
          </a:solidFill>
          <a:ln w="12700">
            <a:solidFill>
              <a:srgbClr val="0F7B5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136392" y="3922776"/>
            <a:ext cx="365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P03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3575304" y="4014216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Próximas 48 Horas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3575304" y="437997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Dobrar cadência em Laranjeiras com ranking individual e simulações de venda diárias; Teixeira e Barreiras mantêm ritmo — focar em acessórios e combos para elevar ticket médio no sprint final.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6135624" y="868680"/>
            <a:ext cx="2834640" cy="640080"/>
          </a:xfrm>
          <a:prstGeom prst="rect">
            <a:avLst/>
          </a:prstGeom>
          <a:solidFill>
            <a:srgbClr val="8B2FC9"/>
          </a:solidFill>
          <a:ln w="12700">
            <a:solidFill>
              <a:srgbClr val="8B2FC9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227064" y="86868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ARTHUR</a:t>
            </a:r>
            <a:endParaRPr lang="en-US" sz="1500" dirty="0"/>
          </a:p>
        </p:txBody>
      </p:sp>
      <p:sp>
        <p:nvSpPr>
          <p:cNvPr id="43" name="Text 41"/>
          <p:cNvSpPr/>
          <p:nvPr/>
        </p:nvSpPr>
        <p:spPr>
          <a:xfrm>
            <a:off x="6227064" y="1225296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Titãs 3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6135624" y="1600200"/>
            <a:ext cx="283464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135624" y="1600200"/>
            <a:ext cx="365760" cy="1051560"/>
          </a:xfrm>
          <a:prstGeom prst="rect">
            <a:avLst/>
          </a:prstGeom>
          <a:solidFill>
            <a:srgbClr val="8B2FC9"/>
          </a:solidFill>
          <a:ln w="12700">
            <a:solidFill>
              <a:srgbClr val="8B2FC9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135624" y="1600200"/>
            <a:ext cx="365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P01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6574536" y="169164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Atingimento Semana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6574536" y="205740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61,8% da meta atingido — melhor sub-rede da rede no acumulado. Montserrat explodiu na semana com R$ 29.440, chegando a 76,4% da meta. São Mateus lidera a rede. Linhares ainda é o ponto de atenção.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6135624" y="2761488"/>
            <a:ext cx="283464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135624" y="2761488"/>
            <a:ext cx="365760" cy="1051560"/>
          </a:xfrm>
          <a:prstGeom prst="rect">
            <a:avLst/>
          </a:prstGeom>
          <a:solidFill>
            <a:srgbClr val="8B2FC9"/>
          </a:solidFill>
          <a:ln w="12700">
            <a:solidFill>
              <a:srgbClr val="8B2FC9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135624" y="2761488"/>
            <a:ext cx="365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P02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6574536" y="2852928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Loja em Alerta — Linhares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6574536" y="3218688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Kristian em 51,3% da meta — projeção de R$ 136.151 vs R$ 210.000. Evoluiu vs semana anterior mas ainda com gap de R$ 74k. Formação e intensidade comercial são decisivas no fechamento.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6135624" y="3922776"/>
            <a:ext cx="283464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6135624" y="3922776"/>
            <a:ext cx="365760" cy="1051560"/>
          </a:xfrm>
          <a:prstGeom prst="rect">
            <a:avLst/>
          </a:prstGeom>
          <a:solidFill>
            <a:srgbClr val="8B2FC9"/>
          </a:solidFill>
          <a:ln w="12700">
            <a:solidFill>
              <a:srgbClr val="8B2FC9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135624" y="3922776"/>
            <a:ext cx="365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P03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6574536" y="4014216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Próximas 48 Horas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6574536" y="437997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Manter São Mateus e Montserrat no ritmo de excelência; intensificar meta diária individual em Linhares; Serra tem potencial de superar projeção — cobrar consistência nos últimos dias do mês.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164592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MATRIZ SWOT — SAZONALIDADE DO TRIMESTRE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37160" y="868680"/>
            <a:ext cx="2834640" cy="502920"/>
          </a:xfrm>
          <a:prstGeom prst="rect">
            <a:avLst/>
          </a:prstGeom>
          <a:solidFill>
            <a:srgbClr val="1A5C8A"/>
          </a:solidFill>
          <a:ln w="12700">
            <a:solidFill>
              <a:srgbClr val="1A5C8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10312" y="868680"/>
            <a:ext cx="26883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ABRIL · Organização e Construção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154680" y="868680"/>
            <a:ext cx="2834640" cy="502920"/>
          </a:xfrm>
          <a:prstGeom prst="rect">
            <a:avLst/>
          </a:prstGeom>
          <a:solidFill>
            <a:srgbClr val="0F7B5B"/>
          </a:solidFill>
          <a:ln w="12700">
            <a:solidFill>
              <a:srgbClr val="0F7B5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27832" y="868680"/>
            <a:ext cx="26883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MAIO · Escala Comercial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172200" y="868680"/>
            <a:ext cx="2834640" cy="502920"/>
          </a:xfrm>
          <a:prstGeom prst="rect">
            <a:avLst/>
          </a:prstGeom>
          <a:solidFill>
            <a:srgbClr val="8B2FC9"/>
          </a:solidFill>
          <a:ln w="12700">
            <a:solidFill>
              <a:srgbClr val="8B2FC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45352" y="868680"/>
            <a:ext cx="26883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JUNHO · Pico e Consolidação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37160" y="1444752"/>
            <a:ext cx="502920" cy="80467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 rot="16200000">
            <a:off x="137160" y="1444752"/>
            <a:ext cx="502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FORÇAS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658368" y="1444752"/>
            <a:ext cx="274320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" y="1490472"/>
            <a:ext cx="2560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por loja mapeada; rede com direção clara; março 2026 elevou base para R$ 2,58 mi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474720" y="1444752"/>
            <a:ext cx="274320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566160" y="1490472"/>
            <a:ext cx="2560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Mês forte para presente e upgrade; maior aderência a campanhas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291072" y="1444752"/>
            <a:ext cx="274320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82512" y="1490472"/>
            <a:ext cx="2560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Forte apelo por Dia dos Namorados; promoções de fechamento de trimestre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137160" y="2331720"/>
            <a:ext cx="502920" cy="8046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 rot="16200000">
            <a:off x="137160" y="2331720"/>
            <a:ext cx="502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FRAQUEZAS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658368" y="2331720"/>
            <a:ext cx="2743200" cy="804672"/>
          </a:xfrm>
          <a:prstGeom prst="rect">
            <a:avLst/>
          </a:prstGeom>
          <a:solidFill>
            <a:srgbClr val="F0F4F8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49808" y="2377440"/>
            <a:ext cx="2560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das lojas com oscilação de produtividade; abril exige mais execução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474720" y="2331720"/>
            <a:ext cx="2743200" cy="804672"/>
          </a:xfrm>
          <a:prstGeom prst="rect">
            <a:avLst/>
          </a:prstGeom>
          <a:solidFill>
            <a:srgbClr val="F0F4F8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66160" y="2377440"/>
            <a:ext cx="2560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Risco de concentrar resultado em poucas lojas; dependência de execução forte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291072" y="2331720"/>
            <a:ext cx="2743200" cy="804672"/>
          </a:xfrm>
          <a:prstGeom prst="rect">
            <a:avLst/>
          </a:prstGeom>
          <a:solidFill>
            <a:srgbClr val="F0F4F8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82512" y="2377440"/>
            <a:ext cx="2560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Crescimento acelerado pode pressionar estoque, operação e margem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137160" y="3218688"/>
            <a:ext cx="502920" cy="80467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 rot="16200000">
            <a:off x="137160" y="3218688"/>
            <a:ext cx="502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OPORTUNIDADES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658368" y="3218688"/>
            <a:ext cx="274320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49808" y="3264408"/>
            <a:ext cx="2560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Ajustar mix, treinar time, ativar CRM, lançar combos para pipeline de maio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474720" y="3218688"/>
            <a:ext cx="274320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566160" y="3264408"/>
            <a:ext cx="2560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Campanha Dia das Mães, kits presenteáveis, parcelamento e troca de aparelho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291072" y="3218688"/>
            <a:ext cx="274320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382512" y="3264408"/>
            <a:ext cx="2560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Smartphone + ecossistema; elevar ticket; acelerar upgrades e recorrência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137160" y="4105656"/>
            <a:ext cx="502920" cy="80467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 rot="16200000">
            <a:off x="137160" y="4105656"/>
            <a:ext cx="502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AMEAÇAS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658368" y="4105656"/>
            <a:ext cx="2743200" cy="804672"/>
          </a:xfrm>
          <a:prstGeom prst="rect">
            <a:avLst/>
          </a:prstGeom>
          <a:solidFill>
            <a:srgbClr val="F0F4F8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49808" y="4151376"/>
            <a:ext cx="2560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Início de mês mais lento, concorrência por preço, ruptura de estoque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3474720" y="4105656"/>
            <a:ext cx="2743200" cy="804672"/>
          </a:xfrm>
          <a:prstGeom prst="rect">
            <a:avLst/>
          </a:prstGeom>
          <a:solidFill>
            <a:srgbClr val="F0F4F8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566160" y="4151376"/>
            <a:ext cx="2560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Pressão de preço, descontos agressivos da concorrência e erosão de margem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6291072" y="4105656"/>
            <a:ext cx="2743200" cy="804672"/>
          </a:xfrm>
          <a:prstGeom prst="rect">
            <a:avLst/>
          </a:prstGeom>
          <a:solidFill>
            <a:srgbClr val="F0F4F8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382512" y="4151376"/>
            <a:ext cx="2560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Fechamento concentrado, falhas de abastecimento, fadiga comercial do time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228600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TRÊS PILARES DE ALAVANCAGEM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28600" y="71323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D6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três frentes que vão mover a rede no trimestre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82880" y="1051560"/>
            <a:ext cx="2834640" cy="3840480"/>
          </a:xfrm>
          <a:prstGeom prst="rect">
            <a:avLst/>
          </a:prstGeom>
          <a:solidFill>
            <a:srgbClr val="0D2247"/>
          </a:solidFill>
          <a:ln w="12700">
            <a:solidFill>
              <a:srgbClr val="1A3A6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82880" y="1051560"/>
            <a:ext cx="2834640" cy="594360"/>
          </a:xfrm>
          <a:prstGeom prst="rect">
            <a:avLst/>
          </a:prstGeom>
          <a:solidFill>
            <a:srgbClr val="1A5C8A"/>
          </a:solidFill>
          <a:ln w="12700">
            <a:solidFill>
              <a:srgbClr val="1A5C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05156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PILAR 01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74320" y="1316736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Treinamento de Equipe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92608" y="1737360"/>
            <a:ext cx="26151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D6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Elevar conversão, argumentação e disciplina comercial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92608" y="2404872"/>
            <a:ext cx="73152" cy="73152"/>
          </a:xfrm>
          <a:prstGeom prst="rect">
            <a:avLst/>
          </a:prstGeom>
          <a:solidFill>
            <a:srgbClr val="1A5C8A"/>
          </a:solidFill>
          <a:ln w="12700">
            <a:solidFill>
              <a:srgbClr val="1A5C8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8912" y="2331720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Treino diário: 3 smartphones foco + 5 acessórios foco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92608" y="2880360"/>
            <a:ext cx="73152" cy="73152"/>
          </a:xfrm>
          <a:prstGeom prst="rect">
            <a:avLst/>
          </a:prstGeom>
          <a:solidFill>
            <a:srgbClr val="1A5C8A"/>
          </a:solidFill>
          <a:ln w="12700">
            <a:solidFill>
              <a:srgbClr val="1A5C8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8912" y="2807208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Roteiro consultivo: abordagem → objeção → fechamento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92608" y="3355848"/>
            <a:ext cx="73152" cy="73152"/>
          </a:xfrm>
          <a:prstGeom prst="rect">
            <a:avLst/>
          </a:prstGeom>
          <a:solidFill>
            <a:srgbClr val="1A5C8A"/>
          </a:solidFill>
          <a:ln w="12700">
            <a:solidFill>
              <a:srgbClr val="1A5C8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8912" y="3282696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Coaching de gerente + feedback de piso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92608" y="3831336"/>
            <a:ext cx="73152" cy="73152"/>
          </a:xfrm>
          <a:prstGeom prst="rect">
            <a:avLst/>
          </a:prstGeom>
          <a:solidFill>
            <a:srgbClr val="1A5C8A"/>
          </a:solidFill>
          <a:ln w="12700">
            <a:solidFill>
              <a:srgbClr val="1A5C8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8912" y="3758184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Matinal 15min + simulação de objeções + ranking diário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74320" y="4389120"/>
            <a:ext cx="2651760" cy="365760"/>
          </a:xfrm>
          <a:prstGeom prst="rect">
            <a:avLst/>
          </a:prstGeom>
          <a:solidFill>
            <a:srgbClr val="1A5C8A"/>
          </a:solidFill>
          <a:ln w="12700">
            <a:solidFill>
              <a:srgbClr val="1A5C8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7472" y="4389120"/>
            <a:ext cx="2487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KPI: Taxa de conversão por vendedor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154680" y="1051560"/>
            <a:ext cx="2834640" cy="3840480"/>
          </a:xfrm>
          <a:prstGeom prst="rect">
            <a:avLst/>
          </a:prstGeom>
          <a:solidFill>
            <a:srgbClr val="0D2247"/>
          </a:solidFill>
          <a:ln w="12700">
            <a:solidFill>
              <a:srgbClr val="1A3A6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154680" y="1051560"/>
            <a:ext cx="2834640" cy="594360"/>
          </a:xfrm>
          <a:prstGeom prst="rect">
            <a:avLst/>
          </a:prstGeom>
          <a:solidFill>
            <a:srgbClr val="E8601C"/>
          </a:solidFill>
          <a:ln w="12700">
            <a:solidFill>
              <a:srgbClr val="E8601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46120" y="105156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PILAR 02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246120" y="1316736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Promoções de Celulares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264408" y="1737360"/>
            <a:ext cx="26151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D6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Aumentar volume de aparelhos e capturar share de mercado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264408" y="2404872"/>
            <a:ext cx="73152" cy="73152"/>
          </a:xfrm>
          <a:prstGeom prst="rect">
            <a:avLst/>
          </a:prstGeom>
          <a:solidFill>
            <a:srgbClr val="E8601C"/>
          </a:solidFill>
          <a:ln w="12700">
            <a:solidFill>
              <a:srgbClr val="E8601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10712" y="2331720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Upgrade: 'traga seu aparelho e saia com outro hoje'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264408" y="2880360"/>
            <a:ext cx="73152" cy="73152"/>
          </a:xfrm>
          <a:prstGeom prst="rect">
            <a:avLst/>
          </a:prstGeom>
          <a:solidFill>
            <a:srgbClr val="E8601C"/>
          </a:solidFill>
          <a:ln w="12700">
            <a:solidFill>
              <a:srgbClr val="E8601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10712" y="2807208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Comunicação forte: entrada + parcela acessível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264408" y="3355848"/>
            <a:ext cx="73152" cy="73152"/>
          </a:xfrm>
          <a:prstGeom prst="rect">
            <a:avLst/>
          </a:prstGeom>
          <a:solidFill>
            <a:srgbClr val="E8601C"/>
          </a:solidFill>
          <a:ln w="12700">
            <a:solidFill>
              <a:srgbClr val="E8601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410712" y="3282696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2-3 modelos heróis por loja com discurso dedicado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264408" y="3831336"/>
            <a:ext cx="73152" cy="73152"/>
          </a:xfrm>
          <a:prstGeom prst="rect">
            <a:avLst/>
          </a:prstGeom>
          <a:solidFill>
            <a:srgbClr val="E8601C"/>
          </a:solidFill>
          <a:ln w="12700">
            <a:solidFill>
              <a:srgbClr val="E8601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410712" y="3758184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Venda de celular deixa de ser reativa — vira protagonista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246120" y="4389120"/>
            <a:ext cx="2651760" cy="365760"/>
          </a:xfrm>
          <a:prstGeom prst="rect">
            <a:avLst/>
          </a:prstGeom>
          <a:solidFill>
            <a:srgbClr val="E8601C"/>
          </a:solidFill>
          <a:ln w="12700">
            <a:solidFill>
              <a:srgbClr val="E8601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319272" y="4389120"/>
            <a:ext cx="2487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KPI: Celulares vendidos por loja/dia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126480" y="1051560"/>
            <a:ext cx="2834640" cy="3840480"/>
          </a:xfrm>
          <a:prstGeom prst="rect">
            <a:avLst/>
          </a:prstGeom>
          <a:solidFill>
            <a:srgbClr val="0D2247"/>
          </a:solidFill>
          <a:ln w="12700">
            <a:solidFill>
              <a:srgbClr val="1A3A6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126480" y="1051560"/>
            <a:ext cx="2834640" cy="594360"/>
          </a:xfrm>
          <a:prstGeom prst="rect">
            <a:avLst/>
          </a:prstGeom>
          <a:solidFill>
            <a:srgbClr val="8B2FC9"/>
          </a:solidFill>
          <a:ln w="12700">
            <a:solidFill>
              <a:srgbClr val="8B2FC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217920" y="105156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PILAR 03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217920" y="1316736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Acessórios como Rentabilidade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236208" y="1737360"/>
            <a:ext cx="26151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D6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Aumentar attach rate, ticket médio e margem operacional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6236208" y="2404872"/>
            <a:ext cx="73152" cy="73152"/>
          </a:xfrm>
          <a:prstGeom prst="rect">
            <a:avLst/>
          </a:prstGeom>
          <a:solidFill>
            <a:srgbClr val="8B2FC9"/>
          </a:solidFill>
          <a:ln w="12700">
            <a:solidFill>
              <a:srgbClr val="8B2FC9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382512" y="2331720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Combo padrão: capinha + película + carregador + fone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6236208" y="2880360"/>
            <a:ext cx="73152" cy="73152"/>
          </a:xfrm>
          <a:prstGeom prst="rect">
            <a:avLst/>
          </a:prstGeom>
          <a:solidFill>
            <a:srgbClr val="8B2FC9"/>
          </a:solidFill>
          <a:ln w="12700">
            <a:solidFill>
              <a:srgbClr val="8B2FC9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382512" y="2807208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Escada de valor: boa / melhor / premium em cada venda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6236208" y="3355848"/>
            <a:ext cx="73152" cy="73152"/>
          </a:xfrm>
          <a:prstGeom prst="rect">
            <a:avLst/>
          </a:prstGeom>
          <a:solidFill>
            <a:srgbClr val="8B2FC9"/>
          </a:solidFill>
          <a:ln w="12700">
            <a:solidFill>
              <a:srgbClr val="8B2FC9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382512" y="3282696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Nenhum celular sai sem proposta de proteção e energia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6236208" y="3831336"/>
            <a:ext cx="73152" cy="73152"/>
          </a:xfrm>
          <a:prstGeom prst="rect">
            <a:avLst/>
          </a:prstGeom>
          <a:solidFill>
            <a:srgbClr val="8B2FC9"/>
          </a:solidFill>
          <a:ln w="12700">
            <a:solidFill>
              <a:srgbClr val="8B2FC9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382512" y="3758184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cultural: todo aparelho gera proposta de combo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6217920" y="4389120"/>
            <a:ext cx="2651760" cy="365760"/>
          </a:xfrm>
          <a:prstGeom prst="rect">
            <a:avLst/>
          </a:prstGeom>
          <a:solidFill>
            <a:srgbClr val="8B2FC9"/>
          </a:solidFill>
          <a:ln w="12700">
            <a:solidFill>
              <a:srgbClr val="8B2FC9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291072" y="4389120"/>
            <a:ext cx="2487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KPI: Attach rate e margem de acessórios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164592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AÇÕES TÁTICAS — MÊS A MÊS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37160" y="868680"/>
            <a:ext cx="2834640" cy="502920"/>
          </a:xfrm>
          <a:prstGeom prst="rect">
            <a:avLst/>
          </a:prstGeom>
          <a:solidFill>
            <a:srgbClr val="1A5C8A"/>
          </a:solidFill>
          <a:ln w="12700">
            <a:solidFill>
              <a:srgbClr val="1A5C8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86868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ABRIL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137160" y="1463040"/>
            <a:ext cx="283464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37160" y="1463040"/>
            <a:ext cx="182880" cy="1051560"/>
          </a:xfrm>
          <a:prstGeom prst="rect">
            <a:avLst/>
          </a:prstGeom>
          <a:solidFill>
            <a:srgbClr val="1A5C8A"/>
          </a:solidFill>
          <a:ln w="12700">
            <a:solidFill>
              <a:srgbClr val="1A5C8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93192" y="153619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Combo de entrada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93192" y="187452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Smartphone + película + capinha com preço de ancoragem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137160" y="2651760"/>
            <a:ext cx="283464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137160" y="2651760"/>
            <a:ext cx="182880" cy="1051560"/>
          </a:xfrm>
          <a:prstGeom prst="rect">
            <a:avLst/>
          </a:prstGeom>
          <a:solidFill>
            <a:srgbClr val="1A5C8A"/>
          </a:solidFill>
          <a:ln w="12700">
            <a:solidFill>
              <a:srgbClr val="1A5C8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93192" y="272491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Blitz de upgrade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93192" y="306324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Campanha de troca/avaliação de aparelho usado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137160" y="3840480"/>
            <a:ext cx="283464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137160" y="3840480"/>
            <a:ext cx="182880" cy="1051560"/>
          </a:xfrm>
          <a:prstGeom prst="rect">
            <a:avLst/>
          </a:prstGeom>
          <a:solidFill>
            <a:srgbClr val="1A5C8A"/>
          </a:solidFill>
          <a:ln w="12700">
            <a:solidFill>
              <a:srgbClr val="1A5C8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93192" y="391363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de reativação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93192" y="425196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Acionar base dos últimos 120 dias para upgrade e recompra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154680" y="868680"/>
            <a:ext cx="2834640" cy="502920"/>
          </a:xfrm>
          <a:prstGeom prst="rect">
            <a:avLst/>
          </a:prstGeom>
          <a:solidFill>
            <a:srgbClr val="0F7B5B"/>
          </a:solidFill>
          <a:ln w="12700">
            <a:solidFill>
              <a:srgbClr val="0F7B5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46120" y="86868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MAIO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154680" y="1463040"/>
            <a:ext cx="283464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154680" y="1463040"/>
            <a:ext cx="182880" cy="1051560"/>
          </a:xfrm>
          <a:prstGeom prst="rect">
            <a:avLst/>
          </a:prstGeom>
          <a:solidFill>
            <a:srgbClr val="0F7B5B"/>
          </a:solidFill>
          <a:ln w="12700">
            <a:solidFill>
              <a:srgbClr val="0F7B5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10712" y="153619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 das Mães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410712" y="187452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Kits presenteáveis com celular + acessório selecionado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154680" y="2651760"/>
            <a:ext cx="283464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154680" y="2651760"/>
            <a:ext cx="182880" cy="1051560"/>
          </a:xfrm>
          <a:prstGeom prst="rect">
            <a:avLst/>
          </a:prstGeom>
          <a:solidFill>
            <a:srgbClr val="0F7B5B"/>
          </a:solidFill>
          <a:ln w="12700">
            <a:solidFill>
              <a:srgbClr val="0F7B5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10712" y="272491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Parcelamento agressivo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410712" y="306324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Reduzir objeção de preço e ampliar taxa de fechamento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154680" y="3840480"/>
            <a:ext cx="283464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154680" y="3840480"/>
            <a:ext cx="182880" cy="1051560"/>
          </a:xfrm>
          <a:prstGeom prst="rect">
            <a:avLst/>
          </a:prstGeom>
          <a:solidFill>
            <a:srgbClr val="0F7B5B"/>
          </a:solidFill>
          <a:ln w="12700">
            <a:solidFill>
              <a:srgbClr val="0F7B5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410712" y="391363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Competição entre lojas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410712" y="425196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 por celulares, ticket e attach de acessórios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6172200" y="868680"/>
            <a:ext cx="2834640" cy="502920"/>
          </a:xfrm>
          <a:prstGeom prst="rect">
            <a:avLst/>
          </a:prstGeom>
          <a:solidFill>
            <a:srgbClr val="8B2FC9"/>
          </a:solidFill>
          <a:ln w="12700">
            <a:solidFill>
              <a:srgbClr val="8B2FC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263640" y="86868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JUNHO</a:t>
            </a:r>
            <a:endParaRPr lang="en-US" sz="1500" dirty="0"/>
          </a:p>
        </p:txBody>
      </p:sp>
      <p:sp>
        <p:nvSpPr>
          <p:cNvPr id="35" name="Shape 33"/>
          <p:cNvSpPr/>
          <p:nvPr/>
        </p:nvSpPr>
        <p:spPr>
          <a:xfrm>
            <a:off x="6172200" y="1463040"/>
            <a:ext cx="283464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172200" y="1463040"/>
            <a:ext cx="182880" cy="1051560"/>
          </a:xfrm>
          <a:prstGeom prst="rect">
            <a:avLst/>
          </a:prstGeom>
          <a:solidFill>
            <a:srgbClr val="8B2FC9"/>
          </a:solidFill>
          <a:ln w="12700">
            <a:solidFill>
              <a:srgbClr val="8B2FC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28232" y="153619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Combo completo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428232" y="187452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Desconto progressivo no 2º e 3º acessório comprado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6172200" y="2651760"/>
            <a:ext cx="283464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6172200" y="2651760"/>
            <a:ext cx="182880" cy="1051560"/>
          </a:xfrm>
          <a:prstGeom prst="rect">
            <a:avLst/>
          </a:prstGeom>
          <a:solidFill>
            <a:srgbClr val="8B2FC9"/>
          </a:solidFill>
          <a:ln w="12700">
            <a:solidFill>
              <a:srgbClr val="8B2FC9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428232" y="272491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 dos Namorados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428232" y="306324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Comunicação temática, foco em presente e upgrade de aparelho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6172200" y="3840480"/>
            <a:ext cx="283464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6172200" y="3840480"/>
            <a:ext cx="182880" cy="1051560"/>
          </a:xfrm>
          <a:prstGeom prst="rect">
            <a:avLst/>
          </a:prstGeom>
          <a:solidFill>
            <a:srgbClr val="8B2FC9"/>
          </a:solidFill>
          <a:ln w="12700">
            <a:solidFill>
              <a:srgbClr val="8B2FC9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428232" y="391363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Mutirão de fechamento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6428232" y="425196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CRM, lista VIP e abordagem ativa para atingir R$ 3,5 mi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164592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CRONOGRAMA OPERACIONAL — PRIMEIROS 30 DIAS (ABRIL)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137160" y="896112"/>
            <a:ext cx="43434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37160" y="896112"/>
            <a:ext cx="4343400" cy="438912"/>
          </a:xfrm>
          <a:prstGeom prst="rect">
            <a:avLst/>
          </a:prstGeom>
          <a:solidFill>
            <a:srgbClr val="1A5C8A"/>
          </a:solidFill>
          <a:ln w="12700">
            <a:solidFill>
              <a:srgbClr val="1A5C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46888" y="896112"/>
            <a:ext cx="4114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1  ·  Alinhamento e Setup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" y="1499616"/>
            <a:ext cx="91440" cy="91440"/>
          </a:xfrm>
          <a:prstGeom prst="rect">
            <a:avLst/>
          </a:prstGeom>
          <a:solidFill>
            <a:srgbClr val="1A5C8A"/>
          </a:solidFill>
          <a:ln w="12700">
            <a:solidFill>
              <a:srgbClr val="1A5C8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9768" y="1426464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Cascata de metas por loja, equipe e vendedor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74320" y="1837944"/>
            <a:ext cx="91440" cy="91440"/>
          </a:xfrm>
          <a:prstGeom prst="rect">
            <a:avLst/>
          </a:prstGeom>
          <a:solidFill>
            <a:srgbClr val="1A5C8A"/>
          </a:solidFill>
          <a:ln w="12700">
            <a:solidFill>
              <a:srgbClr val="1A5C8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9768" y="176479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Reciclagem intensiva: abordagem, objeções e mix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74320" y="2176272"/>
            <a:ext cx="91440" cy="91440"/>
          </a:xfrm>
          <a:prstGeom prst="rect">
            <a:avLst/>
          </a:prstGeom>
          <a:solidFill>
            <a:srgbClr val="1A5C8A"/>
          </a:solidFill>
          <a:ln w="12700">
            <a:solidFill>
              <a:srgbClr val="1A5C8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9768" y="210312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Definição dos 3 celulares heróis e 5 acessórios foco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74320" y="2514600"/>
            <a:ext cx="91440" cy="91440"/>
          </a:xfrm>
          <a:prstGeom prst="rect">
            <a:avLst/>
          </a:prstGeom>
          <a:solidFill>
            <a:srgbClr val="1A5C8A"/>
          </a:solidFill>
          <a:ln w="12700">
            <a:solidFill>
              <a:srgbClr val="1A5C8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9768" y="2441448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Auditoria de estoque, exposição e precificação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663440" y="896112"/>
            <a:ext cx="43434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63440" y="896112"/>
            <a:ext cx="4343400" cy="438912"/>
          </a:xfrm>
          <a:prstGeom prst="rect">
            <a:avLst/>
          </a:prstGeom>
          <a:solidFill>
            <a:srgbClr val="0F7B5B"/>
          </a:solidFill>
          <a:ln w="12700">
            <a:solidFill>
              <a:srgbClr val="0F7B5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73168" y="896112"/>
            <a:ext cx="4114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2  ·  Lançamento e Ativação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800600" y="1499616"/>
            <a:ext cx="91440" cy="91440"/>
          </a:xfrm>
          <a:prstGeom prst="rect">
            <a:avLst/>
          </a:prstGeom>
          <a:solidFill>
            <a:srgbClr val="0F7B5B"/>
          </a:solidFill>
          <a:ln w="12700">
            <a:solidFill>
              <a:srgbClr val="0F7B5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56048" y="1426464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Lançamento oficial do combo de entrada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800600" y="1837944"/>
            <a:ext cx="91440" cy="91440"/>
          </a:xfrm>
          <a:prstGeom prst="rect">
            <a:avLst/>
          </a:prstGeom>
          <a:solidFill>
            <a:srgbClr val="0F7B5B"/>
          </a:solidFill>
          <a:ln w="12700">
            <a:solidFill>
              <a:srgbClr val="0F7B5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56048" y="176479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Ação forte de upgrade/troca de aparelho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800600" y="2176272"/>
            <a:ext cx="91440" cy="91440"/>
          </a:xfrm>
          <a:prstGeom prst="rect">
            <a:avLst/>
          </a:prstGeom>
          <a:solidFill>
            <a:srgbClr val="0F7B5B"/>
          </a:solidFill>
          <a:ln w="12700">
            <a:solidFill>
              <a:srgbClr val="0F7B5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56048" y="210312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Disparo de CRM para base ativa e inativos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800600" y="2514600"/>
            <a:ext cx="91440" cy="91440"/>
          </a:xfrm>
          <a:prstGeom prst="rect">
            <a:avLst/>
          </a:prstGeom>
          <a:solidFill>
            <a:srgbClr val="0F7B5B"/>
          </a:solidFill>
          <a:ln w="12700">
            <a:solidFill>
              <a:srgbClr val="0F7B5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56048" y="2441448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Ritual de acompanhamento diário com ranking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137160" y="2999232"/>
            <a:ext cx="43434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137160" y="2999232"/>
            <a:ext cx="4343400" cy="438912"/>
          </a:xfrm>
          <a:prstGeom prst="rect">
            <a:avLst/>
          </a:prstGeom>
          <a:solidFill>
            <a:srgbClr val="8B2FC9"/>
          </a:solidFill>
          <a:ln w="12700">
            <a:solidFill>
              <a:srgbClr val="8B2FC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46888" y="2999232"/>
            <a:ext cx="4114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3  ·  Revisão e Correção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274320" y="3602736"/>
            <a:ext cx="91440" cy="91440"/>
          </a:xfrm>
          <a:prstGeom prst="rect">
            <a:avLst/>
          </a:prstGeom>
          <a:solidFill>
            <a:srgbClr val="8B2FC9"/>
          </a:solidFill>
          <a:ln w="12700">
            <a:solidFill>
              <a:srgbClr val="8B2FC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29768" y="3529584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Revisão loja a loja do gap de meta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274320" y="3941064"/>
            <a:ext cx="91440" cy="91440"/>
          </a:xfrm>
          <a:prstGeom prst="rect">
            <a:avLst/>
          </a:prstGeom>
          <a:solidFill>
            <a:srgbClr val="8B2FC9"/>
          </a:solidFill>
          <a:ln w="12700">
            <a:solidFill>
              <a:srgbClr val="8B2FC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29768" y="386791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Blitz presencial dos gestores nas lojas abaixo do ritmo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274320" y="4279392"/>
            <a:ext cx="91440" cy="91440"/>
          </a:xfrm>
          <a:prstGeom prst="rect">
            <a:avLst/>
          </a:prstGeom>
          <a:solidFill>
            <a:srgbClr val="8B2FC9"/>
          </a:solidFill>
          <a:ln w="12700">
            <a:solidFill>
              <a:srgbClr val="8B2FC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29768" y="420624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Reforço de oferta de acessórios em todas as vendas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274320" y="4617720"/>
            <a:ext cx="91440" cy="91440"/>
          </a:xfrm>
          <a:prstGeom prst="rect">
            <a:avLst/>
          </a:prstGeom>
          <a:solidFill>
            <a:srgbClr val="8B2FC9"/>
          </a:solidFill>
          <a:ln w="12700">
            <a:solidFill>
              <a:srgbClr val="8B2FC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29768" y="4544568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Coaching individual com vendedores de menor conversão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4663440" y="2999232"/>
            <a:ext cx="43434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4663440" y="2999232"/>
            <a:ext cx="4343400" cy="438912"/>
          </a:xfrm>
          <a:prstGeom prst="rect">
            <a:avLst/>
          </a:prstGeom>
          <a:solidFill>
            <a:srgbClr val="E8601C"/>
          </a:solidFill>
          <a:ln w="12700">
            <a:solidFill>
              <a:srgbClr val="E8601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773168" y="2999232"/>
            <a:ext cx="4114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4  ·  Sprint de Fechamento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800600" y="3602736"/>
            <a:ext cx="91440" cy="91440"/>
          </a:xfrm>
          <a:prstGeom prst="rect">
            <a:avLst/>
          </a:prstGeom>
          <a:solidFill>
            <a:srgbClr val="E8601C"/>
          </a:solidFill>
          <a:ln w="12700">
            <a:solidFill>
              <a:srgbClr val="E8601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56048" y="3529584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Operação de urgência: D-7, D-5, D-3 e D-1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4800600" y="3941064"/>
            <a:ext cx="91440" cy="91440"/>
          </a:xfrm>
          <a:prstGeom prst="rect">
            <a:avLst/>
          </a:prstGeom>
          <a:solidFill>
            <a:srgbClr val="E8601C"/>
          </a:solidFill>
          <a:ln w="12700">
            <a:solidFill>
              <a:srgbClr val="E8601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956048" y="386791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Segunda onda de CRM com ofertas de urgência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4800600" y="4279392"/>
            <a:ext cx="91440" cy="91440"/>
          </a:xfrm>
          <a:prstGeom prst="rect">
            <a:avLst/>
          </a:prstGeom>
          <a:solidFill>
            <a:srgbClr val="E8601C"/>
          </a:solidFill>
          <a:ln w="12700">
            <a:solidFill>
              <a:srgbClr val="E8601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956048" y="420624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Intensificação das ofertas foco e combos premium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4800600" y="4617720"/>
            <a:ext cx="91440" cy="91440"/>
          </a:xfrm>
          <a:prstGeom prst="rect">
            <a:avLst/>
          </a:prstGeom>
          <a:solidFill>
            <a:srgbClr val="E8601C"/>
          </a:solidFill>
          <a:ln w="12700">
            <a:solidFill>
              <a:srgbClr val="E8601C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956048" y="4544568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final de sub-redes com plano corretivo para maio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164592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GOVERNANÇA — PRIORIDADES POR GESTOR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37160" y="868680"/>
            <a:ext cx="2834640" cy="640080"/>
          </a:xfrm>
          <a:prstGeom prst="rect">
            <a:avLst/>
          </a:prstGeom>
          <a:solidFill>
            <a:srgbClr val="1A5C8A"/>
          </a:solidFill>
          <a:ln w="12700">
            <a:solidFill>
              <a:srgbClr val="1A5C8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86868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TALYSSON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228600" y="1225296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Titãs 1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37160" y="1600200"/>
            <a:ext cx="283464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37160" y="1600200"/>
            <a:ext cx="365760" cy="1051560"/>
          </a:xfrm>
          <a:prstGeom prst="rect">
            <a:avLst/>
          </a:prstGeom>
          <a:solidFill>
            <a:srgbClr val="1A5C8A"/>
          </a:solidFill>
          <a:ln w="12700">
            <a:solidFill>
              <a:srgbClr val="1A5C8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7160" y="1600200"/>
            <a:ext cx="365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76072" y="169164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Puxar Volume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76072" y="205740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Liderar a aceleração — maior capacidade de arrancada da rede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137160" y="2761488"/>
            <a:ext cx="283464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37160" y="2761488"/>
            <a:ext cx="365760" cy="1051560"/>
          </a:xfrm>
          <a:prstGeom prst="rect">
            <a:avLst/>
          </a:prstGeom>
          <a:solidFill>
            <a:srgbClr val="1A5C8A"/>
          </a:solidFill>
          <a:ln w="12700">
            <a:solidFill>
              <a:srgbClr val="1A5C8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37160" y="2761488"/>
            <a:ext cx="365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76072" y="2852928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Acelerar Itabuna e Moxuara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76072" y="3218688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Lojas com maior potencial de ganho rápido de share no trimestre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37160" y="3922776"/>
            <a:ext cx="283464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37160" y="3922776"/>
            <a:ext cx="365760" cy="1051560"/>
          </a:xfrm>
          <a:prstGeom prst="rect">
            <a:avLst/>
          </a:prstGeom>
          <a:solidFill>
            <a:srgbClr val="1A5C8A"/>
          </a:solidFill>
          <a:ln w="12700">
            <a:solidFill>
              <a:srgbClr val="1A5C8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37160" y="3922776"/>
            <a:ext cx="365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P03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76072" y="4014216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Garantir Combo em Toda Venda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76072" y="437997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Padrão cultural: nenhum aparelho sai sem proposta de acessório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136392" y="868680"/>
            <a:ext cx="2834640" cy="640080"/>
          </a:xfrm>
          <a:prstGeom prst="rect">
            <a:avLst/>
          </a:prstGeom>
          <a:solidFill>
            <a:srgbClr val="0F7B5B"/>
          </a:solidFill>
          <a:ln w="12700">
            <a:solidFill>
              <a:srgbClr val="0F7B5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27832" y="86868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ADRIEL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3227832" y="1225296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Titãs 2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136392" y="1600200"/>
            <a:ext cx="283464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136392" y="1600200"/>
            <a:ext cx="365760" cy="1051560"/>
          </a:xfrm>
          <a:prstGeom prst="rect">
            <a:avLst/>
          </a:prstGeom>
          <a:solidFill>
            <a:srgbClr val="0F7B5B"/>
          </a:solidFill>
          <a:ln w="12700">
            <a:solidFill>
              <a:srgbClr val="0F7B5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136392" y="1600200"/>
            <a:ext cx="365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P01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575304" y="169164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Manter Disciplina Comercial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575304" y="205740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Transformar consistência em previsibilidade de resultado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136392" y="2761488"/>
            <a:ext cx="283464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136392" y="2761488"/>
            <a:ext cx="365760" cy="1051560"/>
          </a:xfrm>
          <a:prstGeom prst="rect">
            <a:avLst/>
          </a:prstGeom>
          <a:solidFill>
            <a:srgbClr val="0F7B5B"/>
          </a:solidFill>
          <a:ln w="12700">
            <a:solidFill>
              <a:srgbClr val="0F7B5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136392" y="2761488"/>
            <a:ext cx="365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P02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3575304" y="2852928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Crescer sem Perder Margem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3575304" y="3218688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com qualidade — cuidado com erosão de mix e preço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3136392" y="3922776"/>
            <a:ext cx="283464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136392" y="3922776"/>
            <a:ext cx="365760" cy="1051560"/>
          </a:xfrm>
          <a:prstGeom prst="rect">
            <a:avLst/>
          </a:prstGeom>
          <a:solidFill>
            <a:srgbClr val="0F7B5B"/>
          </a:solidFill>
          <a:ln w="12700">
            <a:solidFill>
              <a:srgbClr val="0F7B5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136392" y="3922776"/>
            <a:ext cx="365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P03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3575304" y="4014216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Estabilidade das 3 Lojas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3575304" y="437997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Garantir ritmo uniforme em todas as unidades da sub-rede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6135624" y="868680"/>
            <a:ext cx="2834640" cy="640080"/>
          </a:xfrm>
          <a:prstGeom prst="rect">
            <a:avLst/>
          </a:prstGeom>
          <a:solidFill>
            <a:srgbClr val="8B2FC9"/>
          </a:solidFill>
          <a:ln w="12700">
            <a:solidFill>
              <a:srgbClr val="8B2FC9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227064" y="86868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ARTHUR</a:t>
            </a:r>
            <a:endParaRPr lang="en-US" sz="1500" dirty="0"/>
          </a:p>
        </p:txBody>
      </p:sp>
      <p:sp>
        <p:nvSpPr>
          <p:cNvPr id="43" name="Text 41"/>
          <p:cNvSpPr/>
          <p:nvPr/>
        </p:nvSpPr>
        <p:spPr>
          <a:xfrm>
            <a:off x="6227064" y="1225296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Titãs 3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6135624" y="1600200"/>
            <a:ext cx="283464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135624" y="1600200"/>
            <a:ext cx="365760" cy="1051560"/>
          </a:xfrm>
          <a:prstGeom prst="rect">
            <a:avLst/>
          </a:prstGeom>
          <a:solidFill>
            <a:srgbClr val="8B2FC9"/>
          </a:solidFill>
          <a:ln w="12700">
            <a:solidFill>
              <a:srgbClr val="8B2FC9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135624" y="1600200"/>
            <a:ext cx="365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P01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6574536" y="169164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Sustentar as Âncoras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6574536" y="205740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São Mateus e Linhares precisam de resultado sólido todo mês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6135624" y="2761488"/>
            <a:ext cx="283464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135624" y="2761488"/>
            <a:ext cx="365760" cy="1051560"/>
          </a:xfrm>
          <a:prstGeom prst="rect">
            <a:avLst/>
          </a:prstGeom>
          <a:solidFill>
            <a:srgbClr val="8B2FC9"/>
          </a:solidFill>
          <a:ln w="12700">
            <a:solidFill>
              <a:srgbClr val="8B2FC9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135624" y="2761488"/>
            <a:ext cx="365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P02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6574536" y="2852928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Recuperar as Lojas Menores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6574536" y="3218688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Serra, Praia da Costa e Montserrat em evolução de produtividade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6135624" y="3922776"/>
            <a:ext cx="283464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6135624" y="3922776"/>
            <a:ext cx="365760" cy="1051560"/>
          </a:xfrm>
          <a:prstGeom prst="rect">
            <a:avLst/>
          </a:prstGeom>
          <a:solidFill>
            <a:srgbClr val="8B2FC9"/>
          </a:solidFill>
          <a:ln w="12700">
            <a:solidFill>
              <a:srgbClr val="8B2FC9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135624" y="3922776"/>
            <a:ext cx="365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P03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6574536" y="4014216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Elevar Conversão e Ticket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6574536" y="437997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venda com maior valor — combo, escada e upsell ativo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034272" y="0"/>
            <a:ext cx="109728" cy="51435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182880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5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RESUMO EXECUTIVO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28600" y="658368"/>
            <a:ext cx="2743200" cy="914400"/>
          </a:xfrm>
          <a:prstGeom prst="rect">
            <a:avLst/>
          </a:prstGeom>
          <a:solidFill>
            <a:srgbClr val="0D2247"/>
          </a:solidFill>
          <a:ln w="6350">
            <a:solidFill>
              <a:srgbClr val="F5A62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20040" y="71323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ABRIL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20040" y="96012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R$ 2.980.000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20040" y="135331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BA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Construção de Base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154680" y="658368"/>
            <a:ext cx="2743200" cy="914400"/>
          </a:xfrm>
          <a:prstGeom prst="rect">
            <a:avLst/>
          </a:prstGeom>
          <a:solidFill>
            <a:srgbClr val="0D2247"/>
          </a:solidFill>
          <a:ln w="6350">
            <a:solidFill>
              <a:srgbClr val="F5A62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246120" y="71323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MAIO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246120" y="96012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R$ 3.200.000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246120" y="135331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BA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Ganho de Escala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6080760" y="658368"/>
            <a:ext cx="2743200" cy="914400"/>
          </a:xfrm>
          <a:prstGeom prst="rect">
            <a:avLst/>
          </a:prstGeom>
          <a:solidFill>
            <a:srgbClr val="0D2247"/>
          </a:solidFill>
          <a:ln w="6350">
            <a:solidFill>
              <a:srgbClr val="F5A62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172200" y="71323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JUNHO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172200" y="96012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R$ 3.500.000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172200" y="135331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BA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Pico de Tração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182880" y="1737360"/>
            <a:ext cx="8778240" cy="2880360"/>
          </a:xfrm>
          <a:prstGeom prst="rect">
            <a:avLst/>
          </a:prstGeom>
          <a:solidFill>
            <a:srgbClr val="081530"/>
          </a:solidFill>
          <a:ln w="6350">
            <a:solidFill>
              <a:srgbClr val="1A3A6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" y="1828800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Mensagem da Diretoria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20040" y="2176272"/>
            <a:ext cx="85039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Titãs,
</a:t>
            </a:r>
            <a:pPr indent="0" marL="0">
              <a:buNone/>
            </a:pPr>
            <a:r>
              <a:rPr lang="en-US" sz="1100" dirty="0">
                <a:solidFill>
                  <a:srgbClr val="D6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Entramos neste trimestre com uma missão clara: tirar a rede do patamar de R$ 2,5 milhões e levar até </a:t>
            </a:r>
            <a:pPr indent="0" marL="0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R$ 3,5 milhões em junho.</a:t>
            </a:r>
            <a:pPr indent="0" marL="0">
              <a:buNone/>
            </a:pPr>
            <a:r>
              <a:rPr lang="en-US" sz="1100" dirty="0">
                <a:solidFill>
                  <a:srgbClr val="D6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Isso não será feito apenas com esforço de fechamento, mas com execução disciplinada, ritmo diário, treinamento constante e agressividade comercial.
</a:t>
            </a:r>
            <a:pPr indent="0" marL="0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Talysson</a:t>
            </a:r>
            <a:pPr indent="0" marL="0">
              <a:buNone/>
            </a:pPr>
            <a:r>
              <a:rPr lang="en-US" sz="1100" dirty="0">
                <a:solidFill>
                  <a:srgbClr val="D6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, sua sub-rede precisa liderar a aceleração.  </a:t>
            </a:r>
            <a:pPr indent="0" marL="0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Adriel</a:t>
            </a:r>
            <a:pPr indent="0" marL="0">
              <a:buNone/>
            </a:pPr>
            <a:r>
              <a:rPr lang="en-US" sz="1100" dirty="0">
                <a:solidFill>
                  <a:srgbClr val="D6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, transforme consistência em previsibilidade.  </a:t>
            </a:r>
            <a:pPr indent="0" marL="0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Arthur</a:t>
            </a:r>
            <a:pPr indent="0" marL="0">
              <a:buNone/>
            </a:pPr>
            <a:r>
              <a:rPr lang="en-US" sz="1100" dirty="0">
                <a:solidFill>
                  <a:srgbClr val="D6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sua liderança é decisiva para sustentar as âncoras e elevar a produtividade das lojas em recuperação.
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clara. Rito forte. Execução no detalhe.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20040" y="4828032"/>
            <a:ext cx="850392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Melo &amp; Neto · Diretoria Rede Titãs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0"/>
            <a:ext cx="2286000" cy="2011680"/>
          </a:xfrm>
          <a:prstGeom prst="rect">
            <a:avLst/>
          </a:prstGeom>
          <a:solidFill>
            <a:srgbClr val="1A3A6E"/>
          </a:solidFill>
          <a:ln w="12700">
            <a:solidFill>
              <a:srgbClr val="1A3A6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0" y="0"/>
            <a:ext cx="1371600" cy="109728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4617720"/>
            <a:ext cx="9144000" cy="525780"/>
          </a:xfrm>
          <a:prstGeom prst="rect">
            <a:avLst/>
          </a:prstGeom>
          <a:solidFill>
            <a:srgbClr val="1A3A6E"/>
          </a:solidFill>
          <a:ln w="12700">
            <a:solidFill>
              <a:srgbClr val="1A3A6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9728" y="4617720"/>
            <a:ext cx="2560320" cy="52578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0" y="2286000"/>
            <a:ext cx="2743200" cy="2331720"/>
          </a:xfrm>
          <a:prstGeom prst="rect">
            <a:avLst/>
          </a:prstGeom>
          <a:solidFill>
            <a:srgbClr val="0A1530"/>
          </a:solidFill>
          <a:ln w="12700">
            <a:solidFill>
              <a:srgbClr val="0A153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45720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sz="1300" b="1" spc="800" kern="0" dirty="0">
                <a:solidFill>
                  <a:srgbClr val="F5A623"/>
                </a:solidFill>
                <a:latin typeface="Calibri" pitchFamily="34" charset="0"/>
              </a:rPr>
              <a:t>REDE TITAS</a:t>
            </a:r>
          </a:p>
        </p:txBody>
      </p:sp>
      <p:sp>
        <p:nvSpPr>
          <p:cNvPr id="9" name="Text 7"/>
          <p:cNvSpPr/>
          <p:nvPr/>
        </p:nvSpPr>
        <p:spPr>
          <a:xfrm>
            <a:off x="320040" y="1051560"/>
            <a:ext cx="61000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pt-BR" sz="5200" b="1" dirty="0">
                <a:solidFill>
                  <a:srgbClr val="FFFFFF"/>
                </a:solidFill>
                <a:latin typeface="Calibri" pitchFamily="34" charset="0"/>
              </a:rPr>
              <a:t>Acessorios</a:t>
            </a:r>
          </a:p>
          <a:p>
            <a:pPr indent="0" marL="0">
              <a:lnSpc>
                <a:spcPct val="110000"/>
              </a:lnSpc>
              <a:buNone/>
            </a:pPr>
            <a:r>
              <a:rPr lang="pt-BR" sz="5200" b="1" dirty="0">
                <a:solidFill>
                  <a:srgbClr val="FFFFFF"/>
                </a:solidFill>
                <a:latin typeface="Calibri" pitchFamily="34" charset="0"/>
              </a:rPr>
              <a:t>Q2 2026</a:t>
            </a:r>
          </a:p>
        </p:txBody>
      </p:sp>
      <p:sp>
        <p:nvSpPr>
          <p:cNvPr id="10" name="Text 8"/>
          <p:cNvSpPr/>
          <p:nvPr/>
        </p:nvSpPr>
        <p:spPr>
          <a:xfrm>
            <a:off x="320040" y="301752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sz="2200" dirty="0">
                <a:solidFill>
                  <a:srgbClr val="D6E0F5"/>
                </a:solidFill>
                <a:latin typeface="Calibri" pitchFamily="34" charset="0"/>
              </a:rPr>
              <a:t>Planejamento de Acessorios — Abril · Maio · Junho</a:t>
            </a:r>
          </a:p>
        </p:txBody>
      </p:sp>
      <p:sp>
        <p:nvSpPr>
          <p:cNvPr id="11" name="Text 9"/>
          <p:cNvSpPr/>
          <p:nvPr/>
        </p:nvSpPr>
        <p:spPr>
          <a:xfrm>
            <a:off x="6492240" y="24231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900" dirty="0">
                <a:solidFill>
                  <a:srgbClr val="8BA3CC"/>
                </a:solidFill>
                <a:latin typeface="Calibri" pitchFamily="34" charset="0"/>
              </a:rPr>
              <a:t>Meta RAV Abril</a:t>
            </a:r>
          </a:p>
        </p:txBody>
      </p:sp>
      <p:sp>
        <p:nvSpPr>
          <p:cNvPr id="12" name="Text 10"/>
          <p:cNvSpPr/>
          <p:nvPr/>
        </p:nvSpPr>
        <p:spPr>
          <a:xfrm>
            <a:off x="6492240" y="269748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2000" b="1" dirty="0">
                <a:solidFill>
                  <a:srgbClr val="F5A623"/>
                </a:solidFill>
                <a:latin typeface="Calibri" pitchFamily="34" charset="0"/>
              </a:rPr>
              <a:t>R$ 158.000</a:t>
            </a:r>
          </a:p>
        </p:txBody>
      </p:sp>
      <p:sp>
        <p:nvSpPr>
          <p:cNvPr id="13" name="Text 11"/>
          <p:cNvSpPr/>
          <p:nvPr/>
        </p:nvSpPr>
        <p:spPr>
          <a:xfrm>
            <a:off x="6492240" y="32461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000" dirty="0">
                <a:solidFill>
                  <a:srgbClr val="FFFFFF"/>
                </a:solidFill>
                <a:latin typeface="Calibri" pitchFamily="34" charset="0"/>
              </a:rPr>
              <a:t>Meta Total Acessorios RAV</a:t>
            </a:r>
          </a:p>
        </p:txBody>
      </p:sp>
      <p:sp>
        <p:nvSpPr>
          <p:cNvPr id="14" name="Text 12"/>
          <p:cNvSpPr/>
          <p:nvPr/>
        </p:nvSpPr>
        <p:spPr>
          <a:xfrm>
            <a:off x="2834640" y="46634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pt-BR" sz="1000" dirty="0">
                <a:solidFill>
                  <a:srgbClr val="FFFFFF"/>
                </a:solidFill>
                <a:latin typeface="Calibri" pitchFamily="34" charset="0"/>
              </a:rPr>
              <a:t>Melo &amp; Neto — Diretoria Rede Titas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164592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sz="1600" b="1" dirty="0">
                <a:solidFill>
                  <a:srgbClr val="FFFFFF"/>
                </a:solidFill>
                <a:latin typeface="Calibri" pitchFamily="34" charset="0"/>
              </a:rPr>
              <a:t>METAS DE ACESSORIOS POR LOJA — Q2 2026  ·  Abril · Maio · Junho</a:t>
            </a:r>
          </a:p>
        </p:txBody>
      </p:sp>
      <p:graphicFrame>
        <p:nvGraphicFramePr>
          <p:cNvPr id="5" name="Table 0"/>
          <p:cNvGraphicFramePr>
            <a:graphicFrameLocks noGrp="1"/>
          </p:cNvGraphicFramePr>
          <p:nvPr/>
        </p:nvGraphicFramePr>
        <p:xfrm>
          <a:off x="137160" y="868680"/>
          <a:ext cx="8869680" cy="4114800"/>
        </p:xfrm>
        <a:graphic>
          <a:graphicData uri="http://schemas.openxmlformats.org/drawingml/2006/table">
            <a:tbl>
              <a:tblPr/>
              <a:tblGrid>
                <a:gridCol w="2000000"/>
                <a:gridCol w="1500000"/>
                <a:gridCol w="1350000"/>
                <a:gridCol w="1350000"/>
                <a:gridCol w="1350000"/>
                <a:gridCol w="1319680"/>
              </a:tblGrid>
              <a:tr h="380000">
                <a:tc>
                  <a:txBody>
                    <a:bodyPr/>
                    <a:lstStyle/>
                    <a:p>
                      <a:pPr algn="l" indent="0" marL="91440"/>
                      <a:r>
                        <a:rPr lang="pt-BR" sz="950" b="1" dirty="0">
                          <a:solidFill>
                            <a:srgbClr val="FFFFFF"/>
                          </a:solidFill>
                          <a:latin typeface="Calibri" pitchFamily="34" charset="0"/>
                        </a:rPr>
                        <a:t>LOJA — GERENTE</a:t>
                      </a:r>
                    </a:p>
                  </a:txBody>
                  <a:tcPr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50" b="1" dirty="0">
                          <a:solidFill>
                            <a:srgbClr val="FFFFFF"/>
                          </a:solidFill>
                          <a:latin typeface="Calibri" pitchFamily="34" charset="0"/>
                        </a:rPr>
                        <a:t>PAPEL ESTRATÉGICO</a:t>
                      </a:r>
                    </a:p>
                  </a:txBody>
                  <a:tcPr>
                    <a:solidFill>
                      <a:srgbClr val="1A3A6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50" b="1" dirty="0">
                          <a:solidFill>
                            <a:srgbClr val="0D1B3E"/>
                          </a:solidFill>
                          <a:latin typeface="Calibri" pitchFamily="34" charset="0"/>
                        </a:rPr>
                        <a:t>META ABRIL</a:t>
                      </a:r>
                    </a:p>
                  </a:txBody>
                  <a:tcPr>
                    <a:solidFill>
                      <a:srgbClr val="F5A62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50" b="1" dirty="0">
                          <a:solidFill>
                            <a:srgbClr val="FFFFFF"/>
                          </a:solidFill>
                          <a:latin typeface="Calibri" pitchFamily="34" charset="0"/>
                        </a:rPr>
                        <a:t>META MAIO</a:t>
                      </a:r>
                    </a:p>
                  </a:txBody>
                  <a:tcPr>
                    <a:solidFill>
                      <a:srgbClr val="1A3A6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50" b="1" dirty="0">
                          <a:solidFill>
                            <a:srgbClr val="0D1B3E"/>
                          </a:solidFill>
                          <a:latin typeface="Calibri" pitchFamily="34" charset="0"/>
                        </a:rPr>
                        <a:t>META JUNHO</a:t>
                      </a:r>
                    </a:p>
                  </a:txBody>
                  <a:tcPr>
                    <a:solidFill>
                      <a:srgbClr val="F5A62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50" b="1" dirty="0">
                          <a:solidFill>
                            <a:srgbClr val="FFFFFF"/>
                          </a:solidFill>
                          <a:latin typeface="Calibri" pitchFamily="34" charset="0"/>
                        </a:rPr>
                        <a:t>TOTAL Q2</a:t>
                      </a:r>
                    </a:p>
                  </a:txBody>
                  <a:tcPr>
                    <a:solidFill>
                      <a:srgbClr val="2C7A3A"/>
                    </a:solidFill>
                  </a:tcPr>
                </a:tc>
              </a:tr>
              <a:tr h="311233">
                <a:tc>
                  <a:txBody>
                    <a:bodyPr/>
                    <a:lstStyle/>
                    <a:p>
                      <a:pPr algn="l" indent="0" marL="91440"/>
                      <a:r>
                        <a:rPr lang="pt-BR" sz="950" b="1" dirty="0">
                          <a:solidFill>
                            <a:srgbClr val="0D1B3E"/>
                          </a:solidFill>
                          <a:latin typeface="Calibri" pitchFamily="34" charset="0"/>
                        </a:rPr>
                        <a:t>Sao Mateus — Juliana</a:t>
                      </a:r>
                    </a:p>
                  </a:txBody>
                  <a:tcPr>
                    <a:solidFill>
                      <a:srgbClr val="E8EB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50" dirty="0">
                          <a:solidFill>
                            <a:srgbClr val="374151"/>
                          </a:solidFill>
                          <a:latin typeface="Calibri" pitchFamily="34" charset="0"/>
                        </a:rPr>
                        <a:t>Âncora de volume RAV</a:t>
                      </a:r>
                    </a:p>
                  </a:txBody>
                  <a:tcPr>
                    <a:solidFill>
                      <a:srgbClr val="E8EB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50" b="1" dirty="0">
                          <a:solidFill>
                            <a:srgbClr val="0D1B3E"/>
                          </a:solidFill>
                          <a:latin typeface="Calibri" pitchFamily="34" charset="0"/>
                        </a:rPr>
                        <a:t>R$ 25.000</a:t>
                      </a:r>
                    </a:p>
                  </a:txBody>
                  <a:tcPr>
                    <a:solidFill>
                      <a:srgbClr val="FFF0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50" b="1" dirty="0">
                          <a:solidFill>
                            <a:srgbClr val="1A3A6E"/>
                          </a:solidFill>
                          <a:latin typeface="Calibri" pitchFamily="34" charset="0"/>
                        </a:rPr>
                        <a:t>R$ 29.000</a:t>
                      </a:r>
                    </a:p>
                  </a:txBody>
                  <a:tcPr>
                    <a:solidFill>
                      <a:srgbClr val="E8F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50" b="1" dirty="0">
                          <a:solidFill>
                            <a:srgbClr val="0D1B3E"/>
                          </a:solidFill>
                          <a:latin typeface="Calibri" pitchFamily="34" charset="0"/>
                        </a:rPr>
                        <a:t>R$ 33.000</a:t>
                      </a:r>
                    </a:p>
                  </a:txBody>
                  <a:tcPr>
                    <a:solidFill>
                      <a:srgbClr val="FFF0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50" b="1" dirty="0">
                          <a:solidFill>
                            <a:srgbClr val="FFFFFF"/>
                          </a:solidFill>
                          <a:latin typeface="Calibri" pitchFamily="34" charset="0"/>
                        </a:rPr>
                        <a:t>R$ 87.000</a:t>
                      </a:r>
                    </a:p>
                  </a:txBody>
                  <a:tcPr>
                    <a:solidFill>
                      <a:srgbClr val="0D1B3E"/>
                    </a:solidFill>
                  </a:tcPr>
                </a:tc>
              </a:tr>
              <a:tr h="311233">
                <a:tc>
                  <a:txBody>
                    <a:bodyPr/>
                    <a:lstStyle/>
                    <a:p>
                      <a:pPr algn="l" indent="0" marL="91440"/>
                      <a:r>
                        <a:rPr lang="pt-BR" sz="950" b="1" dirty="0">
                          <a:solidFill>
                            <a:srgbClr val="0D1B3E"/>
                          </a:solidFill>
                          <a:latin typeface="Calibri" pitchFamily="34" charset="0"/>
                        </a:rPr>
                        <a:t>Cariacica — Gabriel</a:t>
                      </a:r>
                    </a:p>
                  </a:txBody>
                  <a:tcPr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50" dirty="0">
                          <a:solidFill>
                            <a:srgbClr val="374151"/>
                          </a:solidFill>
                          <a:latin typeface="Calibri" pitchFamily="34" charset="0"/>
                        </a:rPr>
                        <a:t>Âncora de escala RAV</a:t>
                      </a:r>
                    </a:p>
                  </a:txBody>
                  <a:tcPr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50" b="1" dirty="0">
                          <a:solidFill>
                            <a:srgbClr val="0D1B3E"/>
                          </a:solidFill>
                          <a:latin typeface="Calibri" pitchFamily="34" charset="0"/>
                        </a:rPr>
                        <a:t>R$ 25.000</a:t>
                      </a:r>
                    </a:p>
                  </a:txBody>
                  <a:tcPr>
                    <a:solidFill>
                      <a:srgbClr val="FFF0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50" b="1" dirty="0">
                          <a:solidFill>
                            <a:srgbClr val="1A3A6E"/>
                          </a:solidFill>
                          <a:latin typeface="Calibri" pitchFamily="34" charset="0"/>
                        </a:rPr>
                        <a:t>R$ 29.000</a:t>
                      </a:r>
                    </a:p>
                  </a:txBody>
                  <a:tcPr>
                    <a:solidFill>
                      <a:srgbClr val="E8F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50" b="1" dirty="0">
                          <a:solidFill>
                            <a:srgbClr val="0D1B3E"/>
                          </a:solidFill>
                          <a:latin typeface="Calibri" pitchFamily="34" charset="0"/>
                        </a:rPr>
                        <a:t>R$ 33.000</a:t>
                      </a:r>
                    </a:p>
                  </a:txBody>
                  <a:tcPr>
                    <a:solidFill>
                      <a:srgbClr val="FFF0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50" b="1" dirty="0">
                          <a:solidFill>
                            <a:srgbClr val="FFFFFF"/>
                          </a:solidFill>
                          <a:latin typeface="Calibri" pitchFamily="34" charset="0"/>
                        </a:rPr>
                        <a:t>R$ 87.000</a:t>
                      </a:r>
                    </a:p>
                  </a:txBody>
                  <a:tcPr>
                    <a:solidFill>
                      <a:srgbClr val="0D1B3E"/>
                    </a:solidFill>
                  </a:tcPr>
                </a:tc>
              </a:tr>
              <a:tr h="311233">
                <a:tc>
                  <a:txBody>
                    <a:bodyPr/>
                    <a:lstStyle/>
                    <a:p>
                      <a:pPr algn="l" indent="0" marL="91440"/>
                      <a:r>
                        <a:rPr lang="pt-BR" sz="950" b="1" dirty="0">
                          <a:solidFill>
                            <a:srgbClr val="0D1B3E"/>
                          </a:solidFill>
                          <a:latin typeface="Calibri" pitchFamily="34" charset="0"/>
                        </a:rPr>
                        <a:t>Serra — Luiz</a:t>
                      </a:r>
                    </a:p>
                  </a:txBody>
                  <a:tcPr>
                    <a:solidFill>
                      <a:srgbClr val="E8EB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50" dirty="0">
                          <a:solidFill>
                            <a:srgbClr val="374151"/>
                          </a:solidFill>
                          <a:latin typeface="Calibri" pitchFamily="34" charset="0"/>
                        </a:rPr>
                        <a:t>Aceleração de mix</a:t>
                      </a:r>
                    </a:p>
                  </a:txBody>
                  <a:tcPr>
                    <a:solidFill>
                      <a:srgbClr val="E8EB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50" b="1" dirty="0">
                          <a:solidFill>
                            <a:srgbClr val="0D1B3E"/>
                          </a:solidFill>
                          <a:latin typeface="Calibri" pitchFamily="34" charset="0"/>
                        </a:rPr>
                        <a:t>R$ 20.000</a:t>
                      </a:r>
                    </a:p>
                  </a:txBody>
                  <a:tcPr>
                    <a:solidFill>
                      <a:srgbClr val="FFF0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50" b="1" dirty="0">
                          <a:solidFill>
                            <a:srgbClr val="1A3A6E"/>
                          </a:solidFill>
                          <a:latin typeface="Calibri" pitchFamily="34" charset="0"/>
                        </a:rPr>
                        <a:t>R$ 23.500</a:t>
                      </a:r>
                    </a:p>
                  </a:txBody>
                  <a:tcPr>
                    <a:solidFill>
                      <a:srgbClr val="E8F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50" b="1" dirty="0">
                          <a:solidFill>
                            <a:srgbClr val="0D1B3E"/>
                          </a:solidFill>
                          <a:latin typeface="Calibri" pitchFamily="34" charset="0"/>
                        </a:rPr>
                        <a:t>R$ 26.500</a:t>
                      </a:r>
                    </a:p>
                  </a:txBody>
                  <a:tcPr>
                    <a:solidFill>
                      <a:srgbClr val="FFF0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50" b="1" dirty="0">
                          <a:solidFill>
                            <a:srgbClr val="FFFFFF"/>
                          </a:solidFill>
                          <a:latin typeface="Calibri" pitchFamily="34" charset="0"/>
                        </a:rPr>
                        <a:t>R$ 70.000</a:t>
                      </a:r>
                    </a:p>
                  </a:txBody>
                  <a:tcPr>
                    <a:solidFill>
                      <a:srgbClr val="0D1B3E"/>
                    </a:solidFill>
                  </a:tcPr>
                </a:tc>
              </a:tr>
              <a:tr h="311233">
                <a:tc>
                  <a:txBody>
                    <a:bodyPr/>
                    <a:lstStyle/>
                    <a:p>
                      <a:pPr algn="l" indent="0" marL="91440"/>
                      <a:r>
                        <a:rPr lang="pt-BR" sz="950" b="1" dirty="0">
                          <a:solidFill>
                            <a:srgbClr val="0D1B3E"/>
                          </a:solidFill>
                          <a:latin typeface="Calibri" pitchFamily="34" charset="0"/>
                        </a:rPr>
                        <a:t>Moxuara — Ana</a:t>
                      </a:r>
                    </a:p>
                  </a:txBody>
                  <a:tcPr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50" dirty="0">
                          <a:solidFill>
                            <a:srgbClr val="374151"/>
                          </a:solidFill>
                          <a:latin typeface="Calibri" pitchFamily="34" charset="0"/>
                        </a:rPr>
                        <a:t>Crescimento e ticket</a:t>
                      </a:r>
                    </a:p>
                  </a:txBody>
                  <a:tcPr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50" b="1" dirty="0">
                          <a:solidFill>
                            <a:srgbClr val="0D1B3E"/>
                          </a:solidFill>
                          <a:latin typeface="Calibri" pitchFamily="34" charset="0"/>
                        </a:rPr>
                        <a:t>R$ 15.000</a:t>
                      </a:r>
                    </a:p>
                  </a:txBody>
                  <a:tcPr>
                    <a:solidFill>
                      <a:srgbClr val="FFF0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50" b="1" dirty="0">
                          <a:solidFill>
                            <a:srgbClr val="1A3A6E"/>
                          </a:solidFill>
                          <a:latin typeface="Calibri" pitchFamily="34" charset="0"/>
                        </a:rPr>
                        <a:t>R$ 17.500</a:t>
                      </a:r>
                    </a:p>
                  </a:txBody>
                  <a:tcPr>
                    <a:solidFill>
                      <a:srgbClr val="E8F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50" b="1" dirty="0">
                          <a:solidFill>
                            <a:srgbClr val="0D1B3E"/>
                          </a:solidFill>
                          <a:latin typeface="Calibri" pitchFamily="34" charset="0"/>
                        </a:rPr>
                        <a:t>R$ 20.000</a:t>
                      </a:r>
                    </a:p>
                  </a:txBody>
                  <a:tcPr>
                    <a:solidFill>
                      <a:srgbClr val="FFF0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50" b="1" dirty="0">
                          <a:solidFill>
                            <a:srgbClr val="FFFFFF"/>
                          </a:solidFill>
                          <a:latin typeface="Calibri" pitchFamily="34" charset="0"/>
                        </a:rPr>
                        <a:t>R$ 52.500</a:t>
                      </a:r>
                    </a:p>
                  </a:txBody>
                  <a:tcPr>
                    <a:solidFill>
                      <a:srgbClr val="0D1B3E"/>
                    </a:solidFill>
                  </a:tcPr>
                </a:tc>
              </a:tr>
              <a:tr h="311233">
                <a:tc>
                  <a:txBody>
                    <a:bodyPr/>
                    <a:lstStyle/>
                    <a:p>
                      <a:pPr algn="l" indent="0" marL="91440"/>
                      <a:r>
                        <a:rPr lang="pt-BR" sz="950" b="1" dirty="0">
                          <a:solidFill>
                            <a:srgbClr val="0D1B3E"/>
                          </a:solidFill>
                          <a:latin typeface="Calibri" pitchFamily="34" charset="0"/>
                        </a:rPr>
                        <a:t>Itabuna — Reinan</a:t>
                      </a:r>
                    </a:p>
                  </a:txBody>
                  <a:tcPr>
                    <a:solidFill>
                      <a:srgbClr val="E8EB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50" dirty="0">
                          <a:solidFill>
                            <a:srgbClr val="374151"/>
                          </a:solidFill>
                          <a:latin typeface="Calibri" pitchFamily="34" charset="0"/>
                        </a:rPr>
                        <a:t>Aceleração de attach</a:t>
                      </a:r>
                    </a:p>
                  </a:txBody>
                  <a:tcPr>
                    <a:solidFill>
                      <a:srgbClr val="E8EB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50" b="1" dirty="0">
                          <a:solidFill>
                            <a:srgbClr val="0D1B3E"/>
                          </a:solidFill>
                          <a:latin typeface="Calibri" pitchFamily="34" charset="0"/>
                        </a:rPr>
                        <a:t>R$ 15.000</a:t>
                      </a:r>
                    </a:p>
                  </a:txBody>
                  <a:tcPr>
                    <a:solidFill>
                      <a:srgbClr val="FFF0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50" b="1" dirty="0">
                          <a:solidFill>
                            <a:srgbClr val="1A3A6E"/>
                          </a:solidFill>
                          <a:latin typeface="Calibri" pitchFamily="34" charset="0"/>
                        </a:rPr>
                        <a:t>R$ 17.500</a:t>
                      </a:r>
                    </a:p>
                  </a:txBody>
                  <a:tcPr>
                    <a:solidFill>
                      <a:srgbClr val="E8F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50" b="1" dirty="0">
                          <a:solidFill>
                            <a:srgbClr val="0D1B3E"/>
                          </a:solidFill>
                          <a:latin typeface="Calibri" pitchFamily="34" charset="0"/>
                        </a:rPr>
                        <a:t>R$ 20.000</a:t>
                      </a:r>
                    </a:p>
                  </a:txBody>
                  <a:tcPr>
                    <a:solidFill>
                      <a:srgbClr val="FFF0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50" b="1" dirty="0">
                          <a:solidFill>
                            <a:srgbClr val="FFFFFF"/>
                          </a:solidFill>
                          <a:latin typeface="Calibri" pitchFamily="34" charset="0"/>
                        </a:rPr>
                        <a:t>R$ 52.500</a:t>
                      </a:r>
                    </a:p>
                  </a:txBody>
                  <a:tcPr>
                    <a:solidFill>
                      <a:srgbClr val="0D1B3E"/>
                    </a:solidFill>
                  </a:tcPr>
                </a:tc>
              </a:tr>
              <a:tr h="311233">
                <a:tc>
                  <a:txBody>
                    <a:bodyPr/>
                    <a:lstStyle/>
                    <a:p>
                      <a:pPr algn="l" indent="0" marL="91440"/>
                      <a:r>
                        <a:rPr lang="pt-BR" sz="950" b="1" dirty="0">
                          <a:solidFill>
                            <a:srgbClr val="0D1B3E"/>
                          </a:solidFill>
                          <a:latin typeface="Calibri" pitchFamily="34" charset="0"/>
                        </a:rPr>
                        <a:t>Linhares — Kristian</a:t>
                      </a:r>
                    </a:p>
                  </a:txBody>
                  <a:tcPr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50" dirty="0">
                          <a:solidFill>
                            <a:srgbClr val="374151"/>
                          </a:solidFill>
                          <a:latin typeface="Calibri" pitchFamily="34" charset="0"/>
                        </a:rPr>
                        <a:t>Recuperação produtiva</a:t>
                      </a:r>
                    </a:p>
                  </a:txBody>
                  <a:tcPr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50" b="1" dirty="0">
                          <a:solidFill>
                            <a:srgbClr val="0D1B3E"/>
                          </a:solidFill>
                          <a:latin typeface="Calibri" pitchFamily="34" charset="0"/>
                        </a:rPr>
                        <a:t>R$ 15.000</a:t>
                      </a:r>
                    </a:p>
                  </a:txBody>
                  <a:tcPr>
                    <a:solidFill>
                      <a:srgbClr val="FFF0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50" b="1" dirty="0">
                          <a:solidFill>
                            <a:srgbClr val="1A3A6E"/>
                          </a:solidFill>
                          <a:latin typeface="Calibri" pitchFamily="34" charset="0"/>
                        </a:rPr>
                        <a:t>R$ 17.500</a:t>
                      </a:r>
                    </a:p>
                  </a:txBody>
                  <a:tcPr>
                    <a:solidFill>
                      <a:srgbClr val="E8F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50" b="1" dirty="0">
                          <a:solidFill>
                            <a:srgbClr val="0D1B3E"/>
                          </a:solidFill>
                          <a:latin typeface="Calibri" pitchFamily="34" charset="0"/>
                        </a:rPr>
                        <a:t>R$ 20.000</a:t>
                      </a:r>
                    </a:p>
                  </a:txBody>
                  <a:tcPr>
                    <a:solidFill>
                      <a:srgbClr val="FFF0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50" b="1" dirty="0">
                          <a:solidFill>
                            <a:srgbClr val="FFFFFF"/>
                          </a:solidFill>
                          <a:latin typeface="Calibri" pitchFamily="34" charset="0"/>
                        </a:rPr>
                        <a:t>R$ 52.500</a:t>
                      </a:r>
                    </a:p>
                  </a:txBody>
                  <a:tcPr>
                    <a:solidFill>
                      <a:srgbClr val="0D1B3E"/>
                    </a:solidFill>
                  </a:tcPr>
                </a:tc>
              </a:tr>
              <a:tr h="311233">
                <a:tc>
                  <a:txBody>
                    <a:bodyPr/>
                    <a:lstStyle/>
                    <a:p>
                      <a:pPr algn="l" indent="0" marL="91440"/>
                      <a:r>
                        <a:rPr lang="pt-BR" sz="950" b="1" dirty="0">
                          <a:solidFill>
                            <a:srgbClr val="0D1B3E"/>
                          </a:solidFill>
                          <a:latin typeface="Calibri" pitchFamily="34" charset="0"/>
                        </a:rPr>
                        <a:t>Montserrat — Jhenifer</a:t>
                      </a:r>
                    </a:p>
                  </a:txBody>
                  <a:tcPr>
                    <a:solidFill>
                      <a:srgbClr val="E8EB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50" dirty="0">
                          <a:solidFill>
                            <a:srgbClr val="374151"/>
                          </a:solidFill>
                          <a:latin typeface="Calibri" pitchFamily="34" charset="0"/>
                        </a:rPr>
                        <a:t>Meta progressiva</a:t>
                      </a:r>
                    </a:p>
                  </a:txBody>
                  <a:tcPr>
                    <a:solidFill>
                      <a:srgbClr val="E8EB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50" b="1" dirty="0">
                          <a:solidFill>
                            <a:srgbClr val="0D1B3E"/>
                          </a:solidFill>
                          <a:latin typeface="Calibri" pitchFamily="34" charset="0"/>
                        </a:rPr>
                        <a:t>R$ 10.000</a:t>
                      </a:r>
                    </a:p>
                  </a:txBody>
                  <a:tcPr>
                    <a:solidFill>
                      <a:srgbClr val="FFF0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50" b="1" dirty="0">
                          <a:solidFill>
                            <a:srgbClr val="1A3A6E"/>
                          </a:solidFill>
                          <a:latin typeface="Calibri" pitchFamily="34" charset="0"/>
                        </a:rPr>
                        <a:t>R$ 11.500</a:t>
                      </a:r>
                    </a:p>
                  </a:txBody>
                  <a:tcPr>
                    <a:solidFill>
                      <a:srgbClr val="E8F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50" b="1" dirty="0">
                          <a:solidFill>
                            <a:srgbClr val="0D1B3E"/>
                          </a:solidFill>
                          <a:latin typeface="Calibri" pitchFamily="34" charset="0"/>
                        </a:rPr>
                        <a:t>R$ 13.500</a:t>
                      </a:r>
                    </a:p>
                  </a:txBody>
                  <a:tcPr>
                    <a:solidFill>
                      <a:srgbClr val="FFF0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50" b="1" dirty="0">
                          <a:solidFill>
                            <a:srgbClr val="FFFFFF"/>
                          </a:solidFill>
                          <a:latin typeface="Calibri" pitchFamily="34" charset="0"/>
                        </a:rPr>
                        <a:t>R$ 35.000</a:t>
                      </a:r>
                    </a:p>
                  </a:txBody>
                  <a:tcPr>
                    <a:solidFill>
                      <a:srgbClr val="0D1B3E"/>
                    </a:solidFill>
                  </a:tcPr>
                </a:tc>
              </a:tr>
              <a:tr h="311233">
                <a:tc>
                  <a:txBody>
                    <a:bodyPr/>
                    <a:lstStyle/>
                    <a:p>
                      <a:pPr algn="l" indent="0" marL="91440"/>
                      <a:r>
                        <a:rPr lang="pt-BR" sz="950" b="1" dirty="0">
                          <a:solidFill>
                            <a:srgbClr val="0D1B3E"/>
                          </a:solidFill>
                          <a:latin typeface="Calibri" pitchFamily="34" charset="0"/>
                        </a:rPr>
                        <a:t>Barreiras — Daniela</a:t>
                      </a:r>
                    </a:p>
                  </a:txBody>
                  <a:tcPr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50" dirty="0">
                          <a:solidFill>
                            <a:srgbClr val="374151"/>
                          </a:solidFill>
                          <a:latin typeface="Calibri" pitchFamily="34" charset="0"/>
                        </a:rPr>
                        <a:t>Consistência e combo</a:t>
                      </a:r>
                    </a:p>
                  </a:txBody>
                  <a:tcPr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50" b="1" dirty="0">
                          <a:solidFill>
                            <a:srgbClr val="0D1B3E"/>
                          </a:solidFill>
                          <a:latin typeface="Calibri" pitchFamily="34" charset="0"/>
                        </a:rPr>
                        <a:t>R$ 10.000</a:t>
                      </a:r>
                    </a:p>
                  </a:txBody>
                  <a:tcPr>
                    <a:solidFill>
                      <a:srgbClr val="FFF0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50" b="1" dirty="0">
                          <a:solidFill>
                            <a:srgbClr val="1A3A6E"/>
                          </a:solidFill>
                          <a:latin typeface="Calibri" pitchFamily="34" charset="0"/>
                        </a:rPr>
                        <a:t>R$ 11.500</a:t>
                      </a:r>
                    </a:p>
                  </a:txBody>
                  <a:tcPr>
                    <a:solidFill>
                      <a:srgbClr val="E8F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50" b="1" dirty="0">
                          <a:solidFill>
                            <a:srgbClr val="0D1B3E"/>
                          </a:solidFill>
                          <a:latin typeface="Calibri" pitchFamily="34" charset="0"/>
                        </a:rPr>
                        <a:t>R$ 13.500</a:t>
                      </a:r>
                    </a:p>
                  </a:txBody>
                  <a:tcPr>
                    <a:solidFill>
                      <a:srgbClr val="FFF0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50" b="1" dirty="0">
                          <a:solidFill>
                            <a:srgbClr val="FFFFFF"/>
                          </a:solidFill>
                          <a:latin typeface="Calibri" pitchFamily="34" charset="0"/>
                        </a:rPr>
                        <a:t>R$ 35.000</a:t>
                      </a:r>
                    </a:p>
                  </a:txBody>
                  <a:tcPr>
                    <a:solidFill>
                      <a:srgbClr val="0D1B3E"/>
                    </a:solidFill>
                  </a:tcPr>
                </a:tc>
              </a:tr>
              <a:tr h="311233">
                <a:tc>
                  <a:txBody>
                    <a:bodyPr/>
                    <a:lstStyle/>
                    <a:p>
                      <a:pPr algn="l" indent="0" marL="91440"/>
                      <a:r>
                        <a:rPr lang="pt-BR" sz="950" b="1" dirty="0">
                          <a:solidFill>
                            <a:srgbClr val="0D1B3E"/>
                          </a:solidFill>
                          <a:latin typeface="Calibri" pitchFamily="34" charset="0"/>
                        </a:rPr>
                        <a:t>Laranjeiras — Jhenifer E.</a:t>
                      </a:r>
                    </a:p>
                  </a:txBody>
                  <a:tcPr>
                    <a:solidFill>
                      <a:srgbClr val="E8EB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50" dirty="0">
                          <a:solidFill>
                            <a:srgbClr val="374151"/>
                          </a:solidFill>
                          <a:latin typeface="Calibri" pitchFamily="34" charset="0"/>
                        </a:rPr>
                        <a:t>Regularidade e mix</a:t>
                      </a:r>
                    </a:p>
                  </a:txBody>
                  <a:tcPr>
                    <a:solidFill>
                      <a:srgbClr val="E8EB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50" b="1" dirty="0">
                          <a:solidFill>
                            <a:srgbClr val="0D1B3E"/>
                          </a:solidFill>
                          <a:latin typeface="Calibri" pitchFamily="34" charset="0"/>
                        </a:rPr>
                        <a:t>R$ 10.000</a:t>
                      </a:r>
                    </a:p>
                  </a:txBody>
                  <a:tcPr>
                    <a:solidFill>
                      <a:srgbClr val="FFF0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50" b="1" dirty="0">
                          <a:solidFill>
                            <a:srgbClr val="1A3A6E"/>
                          </a:solidFill>
                          <a:latin typeface="Calibri" pitchFamily="34" charset="0"/>
                        </a:rPr>
                        <a:t>R$ 11.500</a:t>
                      </a:r>
                    </a:p>
                  </a:txBody>
                  <a:tcPr>
                    <a:solidFill>
                      <a:srgbClr val="E8F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50" b="1" dirty="0">
                          <a:solidFill>
                            <a:srgbClr val="0D1B3E"/>
                          </a:solidFill>
                          <a:latin typeface="Calibri" pitchFamily="34" charset="0"/>
                        </a:rPr>
                        <a:t>R$ 13.500</a:t>
                      </a:r>
                    </a:p>
                  </a:txBody>
                  <a:tcPr>
                    <a:solidFill>
                      <a:srgbClr val="FFF0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50" b="1" dirty="0">
                          <a:solidFill>
                            <a:srgbClr val="FFFFFF"/>
                          </a:solidFill>
                          <a:latin typeface="Calibri" pitchFamily="34" charset="0"/>
                        </a:rPr>
                        <a:t>R$ 35.000</a:t>
                      </a:r>
                    </a:p>
                  </a:txBody>
                  <a:tcPr>
                    <a:solidFill>
                      <a:srgbClr val="0D1B3E"/>
                    </a:solidFill>
                  </a:tcPr>
                </a:tc>
              </a:tr>
              <a:tr h="311233">
                <a:tc>
                  <a:txBody>
                    <a:bodyPr/>
                    <a:lstStyle/>
                    <a:p>
                      <a:pPr algn="l" indent="0" marL="91440"/>
                      <a:r>
                        <a:rPr lang="pt-BR" sz="950" b="1" dirty="0">
                          <a:solidFill>
                            <a:srgbClr val="0D1B3E"/>
                          </a:solidFill>
                          <a:latin typeface="Calibri" pitchFamily="34" charset="0"/>
                        </a:rPr>
                        <a:t>Teixeira — Junior Dias</a:t>
                      </a:r>
                    </a:p>
                  </a:txBody>
                  <a:tcPr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50" dirty="0">
                          <a:solidFill>
                            <a:srgbClr val="374151"/>
                          </a:solidFill>
                          <a:latin typeface="Calibri" pitchFamily="34" charset="0"/>
                        </a:rPr>
                        <a:t>Estabilidade e combo</a:t>
                      </a:r>
                    </a:p>
                  </a:txBody>
                  <a:tcPr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50" b="1" dirty="0">
                          <a:solidFill>
                            <a:srgbClr val="0D1B3E"/>
                          </a:solidFill>
                          <a:latin typeface="Calibri" pitchFamily="34" charset="0"/>
                        </a:rPr>
                        <a:t>R$ 8.000</a:t>
                      </a:r>
                    </a:p>
                  </a:txBody>
                  <a:tcPr>
                    <a:solidFill>
                      <a:srgbClr val="FFF0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50" b="1" dirty="0">
                          <a:solidFill>
                            <a:srgbClr val="1A3A6E"/>
                          </a:solidFill>
                          <a:latin typeface="Calibri" pitchFamily="34" charset="0"/>
                        </a:rPr>
                        <a:t>R$ 9.500</a:t>
                      </a:r>
                    </a:p>
                  </a:txBody>
                  <a:tcPr>
                    <a:solidFill>
                      <a:srgbClr val="E8F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50" b="1" dirty="0">
                          <a:solidFill>
                            <a:srgbClr val="0D1B3E"/>
                          </a:solidFill>
                          <a:latin typeface="Calibri" pitchFamily="34" charset="0"/>
                        </a:rPr>
                        <a:t>R$ 10.500</a:t>
                      </a:r>
                    </a:p>
                  </a:txBody>
                  <a:tcPr>
                    <a:solidFill>
                      <a:srgbClr val="FFF0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50" b="1" dirty="0">
                          <a:solidFill>
                            <a:srgbClr val="FFFFFF"/>
                          </a:solidFill>
                          <a:latin typeface="Calibri" pitchFamily="34" charset="0"/>
                        </a:rPr>
                        <a:t>R$ 28.000</a:t>
                      </a:r>
                    </a:p>
                  </a:txBody>
                  <a:tcPr>
                    <a:solidFill>
                      <a:srgbClr val="0D1B3E"/>
                    </a:solidFill>
                  </a:tcPr>
                </a:tc>
              </a:tr>
              <a:tr h="311233">
                <a:tc>
                  <a:txBody>
                    <a:bodyPr/>
                    <a:lstStyle/>
                    <a:p>
                      <a:pPr algn="l" indent="0" marL="91440"/>
                      <a:r>
                        <a:rPr lang="pt-BR" sz="950" b="1" dirty="0">
                          <a:solidFill>
                            <a:srgbClr val="0D1B3E"/>
                          </a:solidFill>
                          <a:latin typeface="Calibri" pitchFamily="34" charset="0"/>
                        </a:rPr>
                        <a:t>Praia da Costa — Renato</a:t>
                      </a:r>
                    </a:p>
                  </a:txBody>
                  <a:tcPr>
                    <a:solidFill>
                      <a:srgbClr val="E8EB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50" dirty="0">
                          <a:solidFill>
                            <a:srgbClr val="374151"/>
                          </a:solidFill>
                          <a:latin typeface="Calibri" pitchFamily="34" charset="0"/>
                        </a:rPr>
                        <a:t>Rentabilidade por peça</a:t>
                      </a:r>
                    </a:p>
                  </a:txBody>
                  <a:tcPr>
                    <a:solidFill>
                      <a:srgbClr val="E8EB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50" b="1" dirty="0">
                          <a:solidFill>
                            <a:srgbClr val="0D1B3E"/>
                          </a:solidFill>
                          <a:latin typeface="Calibri" pitchFamily="34" charset="0"/>
                        </a:rPr>
                        <a:t>R$ 5.000</a:t>
                      </a:r>
                    </a:p>
                  </a:txBody>
                  <a:tcPr>
                    <a:solidFill>
                      <a:srgbClr val="FFF0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50" b="1" dirty="0">
                          <a:solidFill>
                            <a:srgbClr val="1A3A6E"/>
                          </a:solidFill>
                          <a:latin typeface="Calibri" pitchFamily="34" charset="0"/>
                        </a:rPr>
                        <a:t>R$ 6.000</a:t>
                      </a:r>
                    </a:p>
                  </a:txBody>
                  <a:tcPr>
                    <a:solidFill>
                      <a:srgbClr val="E8F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50" b="1" dirty="0">
                          <a:solidFill>
                            <a:srgbClr val="0D1B3E"/>
                          </a:solidFill>
                          <a:latin typeface="Calibri" pitchFamily="34" charset="0"/>
                        </a:rPr>
                        <a:t>R$ 6.500</a:t>
                      </a:r>
                    </a:p>
                  </a:txBody>
                  <a:tcPr>
                    <a:solidFill>
                      <a:srgbClr val="FFF0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50" b="1" dirty="0">
                          <a:solidFill>
                            <a:srgbClr val="FFFFFF"/>
                          </a:solidFill>
                          <a:latin typeface="Calibri" pitchFamily="34" charset="0"/>
                        </a:rPr>
                        <a:t>R$ 17.500</a:t>
                      </a:r>
                    </a:p>
                  </a:txBody>
                  <a:tcPr>
                    <a:solidFill>
                      <a:srgbClr val="0D1B3E"/>
                    </a:solidFill>
                  </a:tcPr>
                </a:tc>
              </a:tr>
              <a:tr h="311233">
                <a:tc>
                  <a:txBody>
                    <a:bodyPr/>
                    <a:lstStyle/>
                    <a:p>
                      <a:pPr algn="l" indent="0" marL="91440"/>
                      <a:r>
                        <a:rPr lang="pt-BR" sz="950" b="1" dirty="0">
                          <a:solidFill>
                            <a:srgbClr val="FFFFFF"/>
                          </a:solidFill>
                          <a:latin typeface="Calibri" pitchFamily="34" charset="0"/>
                        </a:rPr>
                        <a:t>TOTAL REDE — 11 lojas</a:t>
                      </a:r>
                    </a:p>
                  </a:txBody>
                  <a:tcPr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50" b="1" dirty="0">
                          <a:solidFill>
                            <a:srgbClr val="FFFFFF"/>
                          </a:solidFill>
                          <a:latin typeface="Calibri" pitchFamily="34" charset="0"/>
                        </a:rPr>
                        <a:t>11 lojas</a:t>
                      </a:r>
                    </a:p>
                  </a:txBody>
                  <a:tcPr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50" b="1" dirty="0">
                          <a:solidFill>
                            <a:srgbClr val="0D1B3E"/>
                          </a:solidFill>
                          <a:latin typeface="Calibri" pitchFamily="34" charset="0"/>
                        </a:rPr>
                        <a:t>R$ 158.000</a:t>
                      </a:r>
                    </a:p>
                  </a:txBody>
                  <a:tcPr>
                    <a:solidFill>
                      <a:srgbClr val="F5A62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50" b="1" dirty="0">
                          <a:solidFill>
                            <a:srgbClr val="FFFFFF"/>
                          </a:solidFill>
                          <a:latin typeface="Calibri" pitchFamily="34" charset="0"/>
                        </a:rPr>
                        <a:t>R$ 184.000</a:t>
                      </a:r>
                    </a:p>
                  </a:txBody>
                  <a:tcPr>
                    <a:solidFill>
                      <a:srgbClr val="1A3A6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50" b="1" dirty="0">
                          <a:solidFill>
                            <a:srgbClr val="0D1B3E"/>
                          </a:solidFill>
                          <a:latin typeface="Calibri" pitchFamily="34" charset="0"/>
                        </a:rPr>
                        <a:t>R$ 210.000</a:t>
                      </a:r>
                    </a:p>
                  </a:txBody>
                  <a:tcPr>
                    <a:solidFill>
                      <a:srgbClr val="F5A62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50" b="1" dirty="0">
                          <a:solidFill>
                            <a:srgbClr val="FFFFFF"/>
                          </a:solidFill>
                          <a:latin typeface="Calibri" pitchFamily="34" charset="0"/>
                        </a:rPr>
                        <a:t>R$ 552.000</a:t>
                      </a:r>
                    </a:p>
                  </a:txBody>
                  <a:tcPr>
                    <a:solidFill>
                      <a:srgbClr val="2C7A3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164592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sz="1600" b="1" dirty="0">
                <a:solidFill>
                  <a:srgbClr val="FFFFFF"/>
                </a:solidFill>
                <a:latin typeface="Calibri" pitchFamily="34" charset="0"/>
              </a:rPr>
              <a:t>ESTRATEGIA DE ACESSORIOS — ABRIL · MAIO · JUNHO</a:t>
            </a:r>
          </a:p>
        </p:txBody>
      </p:sp>
      <p:sp>
        <p:nvSpPr>
          <p:cNvPr id="10" name="ColAbril"/>
          <p:cNvSpPr/>
          <p:nvPr/>
        </p:nvSpPr>
        <p:spPr>
          <a:xfrm>
            <a:off x="137160" y="868680"/>
            <a:ext cx="2834640" cy="3200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 wrap="square" lIns="91440" tIns="45720" rIns="91440" bIns="45720" rtlCol="0" anchor="ctr"/>
          <a:lstStyle/>
          <a:p>
            <a:pPr algn="ctr" indent="0" marL="0">
              <a:buNone/>
            </a:pPr>
            <a:r>
              <a:rPr lang="pt-BR" sz="1300" b="1" dirty="0">
                <a:solidFill>
                  <a:srgbClr val="F5A623"/>
                </a:solidFill>
                <a:latin typeface="Calibri" pitchFamily="34" charset="0"/>
              </a:rPr>
              <a:t>ABRIL</a:t>
            </a:r>
          </a:p>
        </p:txBody>
      </p:sp>
      <p:sp>
        <p:nvSpPr>
          <p:cNvPr id="11" name="ColMaio"/>
          <p:cNvSpPr/>
          <p:nvPr/>
        </p:nvSpPr>
        <p:spPr>
          <a:xfrm>
            <a:off x="3154680" y="868680"/>
            <a:ext cx="2834640" cy="320040"/>
          </a:xfrm>
          <a:prstGeom prst="rect">
            <a:avLst/>
          </a:prstGeom>
          <a:solidFill>
            <a:srgbClr val="1A3A6E"/>
          </a:solidFill>
          <a:ln w="12700">
            <a:solidFill>
              <a:srgbClr val="1A3A6E"/>
            </a:solidFill>
            <a:prstDash val="solid"/>
          </a:ln>
        </p:spPr>
        <p:txBody>
          <a:bodyPr wrap="square" lIns="91440" tIns="45720" rIns="91440" bIns="45720" rtlCol="0" anchor="ctr"/>
          <a:lstStyle/>
          <a:p>
            <a:pPr algn="ctr" indent="0" marL="0">
              <a:buNone/>
            </a:pPr>
            <a:r>
              <a:rPr lang="pt-BR" sz="1300" b="1" dirty="0">
                <a:solidFill>
                  <a:srgbClr val="FFFFFF"/>
                </a:solidFill>
                <a:latin typeface="Calibri" pitchFamily="34" charset="0"/>
              </a:rPr>
              <a:t>MAIO</a:t>
            </a:r>
          </a:p>
        </p:txBody>
      </p:sp>
      <p:sp>
        <p:nvSpPr>
          <p:cNvPr id="12" name="ColJunho"/>
          <p:cNvSpPr/>
          <p:nvPr/>
        </p:nvSpPr>
        <p:spPr>
          <a:xfrm>
            <a:off x="6171720" y="868680"/>
            <a:ext cx="2834640" cy="3200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 wrap="square" lIns="91440" tIns="45720" rIns="91440" bIns="45720" rtlCol="0" anchor="ctr"/>
          <a:lstStyle/>
          <a:p>
            <a:pPr algn="ctr" indent="0" marL="0">
              <a:buNone/>
            </a:pPr>
            <a:r>
              <a:rPr lang="pt-BR" sz="1300" b="1" dirty="0">
                <a:solidFill>
                  <a:srgbClr val="F5A623"/>
                </a:solidFill>
                <a:latin typeface="Calibri" pitchFamily="34" charset="0"/>
              </a:rPr>
              <a:t>JUNHO</a:t>
            </a:r>
          </a:p>
        </p:txBody>
      </p:sp>
      <p:sp>
        <p:nvSpPr>
          <p:cNvPr id="20" name="AbrilContent"/>
          <p:cNvSpPr/>
          <p:nvPr/>
        </p:nvSpPr>
        <p:spPr>
          <a:xfrm>
            <a:off x="137160" y="1188720"/>
            <a:ext cx="2834640" cy="3703320"/>
          </a:xfrm>
          <a:prstGeom prst="rect">
            <a:avLst/>
          </a:prstGeom>
          <a:solidFill>
            <a:srgbClr val="FFFFFF"/>
          </a:solidFill>
          <a:ln w="19050">
            <a:solidFill>
              <a:srgbClr val="0D1B3E"/>
            </a:solidFill>
            <a:prstDash val="solid"/>
          </a:ln>
        </p:spPr>
        <p:txBody>
          <a:bodyPr wrap="square" lIns="182880" tIns="182880" rIns="182880" bIns="18288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pt-BR" sz="1100" b="1" dirty="0">
                <a:solidFill>
                  <a:srgbClr val="F5A623"/>
                </a:solidFill>
                <a:latin typeface="Calibri" pitchFamily="34" charset="0"/>
              </a:rPr>
              <a:t>Combo Basico Obrigatorio</a:t>
            </a:r>
          </a:p>
          <a:p>
            <a:pPr indent="0" marL="0">
              <a:lnSpc>
                <a:spcPts val="1200"/>
              </a:lnSpc>
              <a:buNone/>
            </a:pPr>
            <a:r>
              <a:rPr lang="pt-BR" sz="950" dirty="0">
                <a:solidFill>
                  <a:srgbClr val="374151"/>
                </a:solidFill>
                <a:latin typeface="Calibri" pitchFamily="34" charset="0"/>
              </a:rPr>
              <a:t>Capinha + pelicula + carregador em toda venda de celular</a:t>
            </a:r>
          </a:p>
          <a:p>
            <a:pPr indent="0" marL="0">
              <a:lnSpc>
                <a:spcPts val="1400"/>
              </a:lnSpc>
              <a:buNone/>
            </a:pPr>
            <a:r>
              <a:rPr lang="pt-BR" sz="1100" b="1" dirty="0">
                <a:solidFill>
                  <a:srgbClr val="F5A623"/>
                </a:solidFill>
                <a:latin typeface="Calibri" pitchFamily="34" charset="0"/>
              </a:rPr>
              <a:t>5 Acessorios Foco por Loja</a:t>
            </a:r>
          </a:p>
          <a:p>
            <a:pPr indent="0" marL="0">
              <a:lnSpc>
                <a:spcPts val="1200"/>
              </a:lnSpc>
              <a:buNone/>
            </a:pPr>
            <a:r>
              <a:rPr lang="pt-BR" sz="950" dirty="0">
                <a:solidFill>
                  <a:srgbClr val="374151"/>
                </a:solidFill>
                <a:latin typeface="Calibri" pitchFamily="34" charset="0"/>
              </a:rPr>
              <a:t>Definir os 5 itens prioritarios por unidade e treinar o time</a:t>
            </a:r>
          </a:p>
          <a:p>
            <a:pPr indent="0" marL="0">
              <a:lnSpc>
                <a:spcPts val="1400"/>
              </a:lnSpc>
              <a:buNone/>
            </a:pPr>
            <a:r>
              <a:rPr lang="pt-BR" sz="1100" b="1" dirty="0">
                <a:solidFill>
                  <a:srgbClr val="F5A623"/>
                </a:solidFill>
                <a:latin typeface="Calibri" pitchFamily="34" charset="0"/>
              </a:rPr>
              <a:t>Exposicao e Precificacao</a:t>
            </a:r>
          </a:p>
          <a:p>
            <a:pPr indent="0" marL="0">
              <a:lnSpc>
                <a:spcPts val="1200"/>
              </a:lnSpc>
              <a:buNone/>
            </a:pPr>
            <a:r>
              <a:rPr lang="pt-BR" sz="950" dirty="0">
                <a:solidFill>
                  <a:srgbClr val="374151"/>
                </a:solidFill>
                <a:latin typeface="Calibri" pitchFamily="34" charset="0"/>
              </a:rPr>
              <a:t>Auditar exposicao, etiquetagem e posicionamento no PDV</a:t>
            </a:r>
          </a:p>
          <a:p>
            <a:pPr indent="0" marL="0">
              <a:lnSpc>
                <a:spcPts val="1400"/>
              </a:lnSpc>
              <a:buNone/>
            </a:pPr>
            <a:r>
              <a:rPr lang="pt-BR" sz="1100" b="1" dirty="0">
                <a:solidFill>
                  <a:srgbClr val="0D1B3E"/>
                </a:solidFill>
                <a:latin typeface="Calibri" pitchFamily="34" charset="0"/>
              </a:rPr>
              <a:t>KPI: Attach Rate por vendedor</a:t>
            </a:r>
          </a:p>
        </p:txBody>
      </p:sp>
      <p:sp>
        <p:nvSpPr>
          <p:cNvPr id="21" name="MaioContent"/>
          <p:cNvSpPr/>
          <p:nvPr/>
        </p:nvSpPr>
        <p:spPr>
          <a:xfrm>
            <a:off x="3154680" y="1188720"/>
            <a:ext cx="2834640" cy="3703320"/>
          </a:xfrm>
          <a:prstGeom prst="rect">
            <a:avLst/>
          </a:prstGeom>
          <a:solidFill>
            <a:srgbClr val="FFFFFF"/>
          </a:solidFill>
          <a:ln w="19050">
            <a:solidFill>
              <a:srgbClr val="1A3A6E"/>
            </a:solidFill>
            <a:prstDash val="solid"/>
          </a:ln>
        </p:spPr>
        <p:txBody>
          <a:bodyPr wrap="square" lIns="182880" tIns="182880" rIns="182880" bIns="18288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pt-BR" sz="1100" b="1" dirty="0">
                <a:solidFill>
                  <a:srgbClr val="1A3A6E"/>
                </a:solidFill>
                <a:latin typeface="Calibri" pitchFamily="34" charset="0"/>
              </a:rPr>
              <a:t>Kits Dia das Maes</a:t>
            </a:r>
          </a:p>
          <a:p>
            <a:pPr indent="0" marL="0">
              <a:lnSpc>
                <a:spcPts val="1200"/>
              </a:lnSpc>
              <a:buNone/>
            </a:pPr>
            <a:r>
              <a:rPr lang="pt-BR" sz="950" dirty="0">
                <a:solidFill>
                  <a:srgbClr val="374151"/>
                </a:solidFill>
                <a:latin typeface="Calibri" pitchFamily="34" charset="0"/>
              </a:rPr>
              <a:t>Kits presenteaveis com celular + acessorios selecionados</a:t>
            </a:r>
          </a:p>
          <a:p>
            <a:pPr indent="0" marL="0">
              <a:lnSpc>
                <a:spcPts val="1400"/>
              </a:lnSpc>
              <a:buNone/>
            </a:pPr>
            <a:r>
              <a:rPr lang="pt-BR" sz="1100" b="1" dirty="0">
                <a:solidFill>
                  <a:srgbClr val="1A3A6E"/>
                </a:solidFill>
                <a:latin typeface="Calibri" pitchFamily="34" charset="0"/>
              </a:rPr>
              <a:t>Escada de Valor</a:t>
            </a:r>
          </a:p>
          <a:p>
            <a:pPr indent="0" marL="0">
              <a:lnSpc>
                <a:spcPts val="1200"/>
              </a:lnSpc>
              <a:buNone/>
            </a:pPr>
            <a:r>
              <a:rPr lang="pt-BR" sz="950" dirty="0">
                <a:solidFill>
                  <a:srgbClr val="374151"/>
                </a:solidFill>
                <a:latin typeface="Calibri" pitchFamily="34" charset="0"/>
              </a:rPr>
              <a:t>Bom / Melhor / Premium em cada venda para elevar ticket</a:t>
            </a:r>
          </a:p>
          <a:p>
            <a:pPr indent="0" marL="0">
              <a:lnSpc>
                <a:spcPts val="1400"/>
              </a:lnSpc>
              <a:buNone/>
            </a:pPr>
            <a:r>
              <a:rPr lang="pt-BR" sz="1100" b="1" dirty="0">
                <a:solidFill>
                  <a:srgbClr val="1A3A6E"/>
                </a:solidFill>
                <a:latin typeface="Calibri" pitchFamily="34" charset="0"/>
              </a:rPr>
              <a:t>Competicao entre Lojas</a:t>
            </a:r>
          </a:p>
          <a:p>
            <a:pPr indent="0" marL="0">
              <a:lnSpc>
                <a:spcPts val="1200"/>
              </a:lnSpc>
              <a:buNone/>
            </a:pPr>
            <a:r>
              <a:rPr lang="pt-BR" sz="950" dirty="0">
                <a:solidFill>
                  <a:srgbClr val="374151"/>
                </a:solidFill>
                <a:latin typeface="Calibri" pitchFamily="34" charset="0"/>
              </a:rPr>
              <a:t>Ranking semanal de attach rate e ticket medio de acessorios</a:t>
            </a:r>
          </a:p>
          <a:p>
            <a:pPr indent="0" marL="0">
              <a:lnSpc>
                <a:spcPts val="1400"/>
              </a:lnSpc>
              <a:buNone/>
            </a:pPr>
            <a:r>
              <a:rPr lang="pt-BR" sz="1100" b="1" dirty="0">
                <a:solidFill>
                  <a:srgbClr val="0D1B3E"/>
                </a:solidFill>
                <a:latin typeface="Calibri" pitchFamily="34" charset="0"/>
              </a:rPr>
              <a:t>KPI: Ticket medio de acessorios</a:t>
            </a:r>
          </a:p>
        </p:txBody>
      </p:sp>
      <p:sp>
        <p:nvSpPr>
          <p:cNvPr id="22" name="JunhoContent"/>
          <p:cNvSpPr/>
          <p:nvPr/>
        </p:nvSpPr>
        <p:spPr>
          <a:xfrm>
            <a:off x="6171720" y="1188720"/>
            <a:ext cx="2834640" cy="3703320"/>
          </a:xfrm>
          <a:prstGeom prst="rect">
            <a:avLst/>
          </a:prstGeom>
          <a:solidFill>
            <a:srgbClr val="FFFFFF"/>
          </a:solidFill>
          <a:ln w="19050">
            <a:solidFill>
              <a:srgbClr val="0D1B3E"/>
            </a:solidFill>
            <a:prstDash val="solid"/>
          </a:ln>
        </p:spPr>
        <p:txBody>
          <a:bodyPr wrap="square" lIns="182880" tIns="182880" rIns="182880" bIns="18288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pt-BR" sz="1100" b="1" dirty="0">
                <a:solidFill>
                  <a:srgbClr val="F5A623"/>
                </a:solidFill>
                <a:latin typeface="Calibri" pitchFamily="34" charset="0"/>
              </a:rPr>
              <a:t>Combo Dia dos Namorados</a:t>
            </a:r>
          </a:p>
          <a:p>
            <a:pPr indent="0" marL="0">
              <a:lnSpc>
                <a:spcPts val="1200"/>
              </a:lnSpc>
              <a:buNone/>
            </a:pPr>
            <a:r>
              <a:rPr lang="pt-BR" sz="950" dirty="0">
                <a:solidFill>
                  <a:srgbClr val="374151"/>
                </a:solidFill>
                <a:latin typeface="Calibri" pitchFamily="34" charset="0"/>
              </a:rPr>
              <a:t>Presente + proteção + energia. Desconto progressivo no 2o e 3o item</a:t>
            </a:r>
          </a:p>
          <a:p>
            <a:pPr indent="0" marL="0">
              <a:lnSpc>
                <a:spcPts val="1400"/>
              </a:lnSpc>
              <a:buNone/>
            </a:pPr>
            <a:r>
              <a:rPr lang="pt-BR" sz="1100" b="1" dirty="0">
                <a:solidFill>
                  <a:srgbClr val="F5A623"/>
                </a:solidFill>
                <a:latin typeface="Calibri" pitchFamily="34" charset="0"/>
              </a:rPr>
              <a:t>Upsell e Cross-sell Ativo</a:t>
            </a:r>
          </a:p>
          <a:p>
            <a:pPr indent="0" marL="0">
              <a:lnSpc>
                <a:spcPts val="1200"/>
              </a:lnSpc>
              <a:buNone/>
            </a:pPr>
            <a:r>
              <a:rPr lang="pt-BR" sz="950" dirty="0">
                <a:solidFill>
                  <a:srgbClr val="374151"/>
                </a:solidFill>
                <a:latin typeface="Calibri" pitchFamily="34" charset="0"/>
              </a:rPr>
              <a:t>Nenhum celular sai sem proposta: fone, pelicula, suporte, cabo</a:t>
            </a:r>
          </a:p>
          <a:p>
            <a:pPr indent="0" marL="0">
              <a:lnSpc>
                <a:spcPts val="1400"/>
              </a:lnSpc>
              <a:buNone/>
            </a:pPr>
            <a:r>
              <a:rPr lang="pt-BR" sz="1100" b="1" dirty="0">
                <a:solidFill>
                  <a:srgbClr val="F5A623"/>
                </a:solidFill>
                <a:latin typeface="Calibri" pitchFamily="34" charset="0"/>
              </a:rPr>
              <a:t>Mutirao de Fechamento</a:t>
            </a:r>
          </a:p>
          <a:p>
            <a:pPr indent="0" marL="0">
              <a:lnSpc>
                <a:spcPts val="1200"/>
              </a:lnSpc>
              <a:buNone/>
            </a:pPr>
            <a:r>
              <a:rPr lang="pt-BR" sz="950" dirty="0">
                <a:solidFill>
                  <a:srgbClr val="374151"/>
                </a:solidFill>
                <a:latin typeface="Calibri" pitchFamily="34" charset="0"/>
              </a:rPr>
              <a:t>Sprint D-7 a D-1 com meta individual de acessorios por vendedor</a:t>
            </a:r>
          </a:p>
          <a:p>
            <a:pPr indent="0" marL="0">
              <a:lnSpc>
                <a:spcPts val="1400"/>
              </a:lnSpc>
              <a:buNone/>
            </a:pPr>
            <a:r>
              <a:rPr lang="pt-BR" sz="1100" b="1" dirty="0">
                <a:solidFill>
                  <a:srgbClr val="0D1B3E"/>
                </a:solidFill>
                <a:latin typeface="Calibri" pitchFamily="34" charset="0"/>
              </a:rPr>
              <a:t>KPI: Margem e mix de acessorios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E2761"/>
        </a:solidFill>
      </p:bgPr>
    </p:bg>
    <p:spTree>
      <p:sp>
        <p:nvSpPr>
          <p:cNvPr id="1" name="Rectangle 0"/>
          <p:cNvSpPr/>
          <p:nvPr/>
        </p:nvSpPr>
        <p:spPr>
          <a:xfrm>
            <a:off x="0" y="0"/>
            <a:ext cx="411480" cy="512064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411480" y="0"/>
            <a:ext cx="8732520" cy="640080"/>
          </a:xfrm>
          <a:prstGeom prst="rect">
            <a:avLst/>
          </a:prstGeom>
          <a:solidFill>
            <a:srgbClr val="141C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914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A623"/>
                </a:solidFill>
              </a:rPr>
              <a:t>ACESSÓRIOS — RESULTADO FINAL ABRIL 2026  ✅  FECHAMENTO OFICIAL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CADCFC"/>
                </a:solidFill>
              </a:rPr>
              <a:t>Total RAV: R$ 86,580.03  ·  Meta: R$ 158,000  ·  Atingimento: 54.8%  ·  Alerta: Attach Rate geral abaixo do esperado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749808"/>
            <a:ext cx="320040" cy="34747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93776" y="777240"/>
            <a:ext cx="24688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1E2761"/>
                </a:solidFill>
              </a:rPr>
              <a:t>#</a:t>
            </a:r>
          </a:p>
        </p:txBody>
      </p:sp>
      <p:sp>
        <p:nvSpPr>
          <p:cNvPr id="7" name="Rectangle 6"/>
          <p:cNvSpPr/>
          <p:nvPr/>
        </p:nvSpPr>
        <p:spPr>
          <a:xfrm>
            <a:off x="813816" y="749808"/>
            <a:ext cx="2468880" cy="347472"/>
          </a:xfrm>
          <a:prstGeom prst="rect">
            <a:avLst/>
          </a:prstGeom>
          <a:solidFill>
            <a:srgbClr val="141C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" y="777240"/>
            <a:ext cx="239572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5A623"/>
                </a:solidFill>
              </a:rPr>
              <a:t>LOJA — GERENTE</a:t>
            </a:r>
          </a:p>
        </p:txBody>
      </p:sp>
      <p:sp>
        <p:nvSpPr>
          <p:cNvPr id="9" name="Rectangle 8"/>
          <p:cNvSpPr/>
          <p:nvPr/>
        </p:nvSpPr>
        <p:spPr>
          <a:xfrm>
            <a:off x="3319272" y="749808"/>
            <a:ext cx="1371600" cy="34747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55848" y="777240"/>
            <a:ext cx="129844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1E2761"/>
                </a:solidFill>
              </a:rPr>
              <a:t>RAV REAL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27448" y="749808"/>
            <a:ext cx="1371600" cy="34747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64024" y="777240"/>
            <a:ext cx="129844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1E2761"/>
                </a:solidFill>
              </a:rPr>
              <a:t>META RAV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35624" y="749808"/>
            <a:ext cx="685800" cy="34747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72200" y="777240"/>
            <a:ext cx="61264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1E2761"/>
                </a:solidFill>
              </a:rPr>
              <a:t>% META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0" y="749808"/>
            <a:ext cx="2194560" cy="34747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94576" y="777240"/>
            <a:ext cx="21214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1E2761"/>
                </a:solidFill>
              </a:rPr>
              <a:t>DIAGNÓSTICO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1152144"/>
            <a:ext cx="320040" cy="320040"/>
          </a:xfrm>
          <a:prstGeom prst="rect">
            <a:avLst/>
          </a:prstGeom>
          <a:solidFill>
            <a:srgbClr val="E8ED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4632" y="1188720"/>
            <a:ext cx="2651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1E2761"/>
                </a:solidFill>
              </a:rPr>
              <a:t>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3816" y="1152144"/>
            <a:ext cx="2468880" cy="320040"/>
          </a:xfrm>
          <a:prstGeom prst="rect">
            <a:avLst/>
          </a:prstGeom>
          <a:solidFill>
            <a:srgbClr val="141C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8" y="1188720"/>
            <a:ext cx="24140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CADCFC"/>
                </a:solidFill>
              </a:rPr>
              <a:t>São Mateus — Juliana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319272" y="1152144"/>
            <a:ext cx="1371600" cy="320040"/>
          </a:xfrm>
          <a:prstGeom prst="rect">
            <a:avLst/>
          </a:prstGeom>
          <a:solidFill>
            <a:srgbClr val="E8ED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46704" y="1188720"/>
            <a:ext cx="13167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1E2761"/>
                </a:solidFill>
              </a:rPr>
              <a:t>R$ 18,087.94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727448" y="1152144"/>
            <a:ext cx="1371600" cy="320040"/>
          </a:xfrm>
          <a:prstGeom prst="rect">
            <a:avLst/>
          </a:prstGeom>
          <a:solidFill>
            <a:srgbClr val="E8ED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54880" y="1188720"/>
            <a:ext cx="13167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1E2761"/>
                </a:solidFill>
              </a:rPr>
              <a:t>R$ 25,000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35624" y="1152144"/>
            <a:ext cx="685800" cy="320040"/>
          </a:xfrm>
          <a:prstGeom prst="rect">
            <a:avLst/>
          </a:prstGeom>
          <a:solidFill>
            <a:srgbClr val="E8ED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63056" y="1188720"/>
            <a:ext cx="6309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1E2761"/>
                </a:solidFill>
              </a:rPr>
              <a:t>72.4%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858000" y="1152144"/>
            <a:ext cx="2194560" cy="320040"/>
          </a:xfrm>
          <a:prstGeom prst="rect">
            <a:avLst/>
          </a:prstGeom>
          <a:solidFill>
            <a:srgbClr val="E8ED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85432" y="1188720"/>
            <a:ext cx="21396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1E2761"/>
                </a:solidFill>
              </a:rPr>
              <a:t>▲ Attach em evolução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1499616"/>
            <a:ext cx="320040" cy="320040"/>
          </a:xfrm>
          <a:prstGeom prst="rect">
            <a:avLst/>
          </a:prstGeom>
          <a:solidFill>
            <a:srgbClr val="D5D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84632" y="1536192"/>
            <a:ext cx="2651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1E2761"/>
                </a:solidFill>
              </a:rPr>
              <a:t>2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13816" y="1499616"/>
            <a:ext cx="2468880" cy="320040"/>
          </a:xfrm>
          <a:prstGeom prst="rect">
            <a:avLst/>
          </a:prstGeom>
          <a:solidFill>
            <a:srgbClr val="141C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41248" y="1536192"/>
            <a:ext cx="24140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CADCFC"/>
                </a:solidFill>
              </a:rPr>
              <a:t>Montserrat — Jhenifer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319272" y="1499616"/>
            <a:ext cx="1371600" cy="320040"/>
          </a:xfrm>
          <a:prstGeom prst="rect">
            <a:avLst/>
          </a:prstGeom>
          <a:solidFill>
            <a:srgbClr val="D5D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346704" y="1536192"/>
            <a:ext cx="13167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1E2761"/>
                </a:solidFill>
              </a:rPr>
              <a:t>R$ 14,134.02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727448" y="1499616"/>
            <a:ext cx="1371600" cy="320040"/>
          </a:xfrm>
          <a:prstGeom prst="rect">
            <a:avLst/>
          </a:prstGeom>
          <a:solidFill>
            <a:srgbClr val="D5D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754880" y="1536192"/>
            <a:ext cx="13167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1E2761"/>
                </a:solidFill>
              </a:rPr>
              <a:t>R$ 10,000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135624" y="1499616"/>
            <a:ext cx="685800" cy="32004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163056" y="1536192"/>
            <a:ext cx="6309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1E2761"/>
                </a:solidFill>
              </a:rPr>
              <a:t>141.3%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858000" y="1499616"/>
            <a:ext cx="2194560" cy="32004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885432" y="1536192"/>
            <a:ext cx="21396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✅ META BATIDA!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7200" y="1847088"/>
            <a:ext cx="320040" cy="320040"/>
          </a:xfrm>
          <a:prstGeom prst="rect">
            <a:avLst/>
          </a:prstGeom>
          <a:solidFill>
            <a:srgbClr val="E8ED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84632" y="1883664"/>
            <a:ext cx="2651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1E2761"/>
                </a:solidFill>
              </a:rPr>
              <a:t>3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13816" y="1847088"/>
            <a:ext cx="2468880" cy="320040"/>
          </a:xfrm>
          <a:prstGeom prst="rect">
            <a:avLst/>
          </a:prstGeom>
          <a:solidFill>
            <a:srgbClr val="141C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41248" y="1883664"/>
            <a:ext cx="24140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CADCFC"/>
                </a:solidFill>
              </a:rPr>
              <a:t>Moxuara — Ana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319272" y="1847088"/>
            <a:ext cx="1371600" cy="320040"/>
          </a:xfrm>
          <a:prstGeom prst="rect">
            <a:avLst/>
          </a:prstGeom>
          <a:solidFill>
            <a:srgbClr val="E8ED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346704" y="1883664"/>
            <a:ext cx="13167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1E2761"/>
                </a:solidFill>
              </a:rPr>
              <a:t>R$ 10,986.10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727448" y="1847088"/>
            <a:ext cx="1371600" cy="320040"/>
          </a:xfrm>
          <a:prstGeom prst="rect">
            <a:avLst/>
          </a:prstGeom>
          <a:solidFill>
            <a:srgbClr val="E8ED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754880" y="1883664"/>
            <a:ext cx="13167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1E2761"/>
                </a:solidFill>
              </a:rPr>
              <a:t>R$ 15,000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135624" y="1847088"/>
            <a:ext cx="685800" cy="320040"/>
          </a:xfrm>
          <a:prstGeom prst="rect">
            <a:avLst/>
          </a:prstGeom>
          <a:solidFill>
            <a:srgbClr val="E8ED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163056" y="1883664"/>
            <a:ext cx="6309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1E2761"/>
                </a:solidFill>
              </a:rPr>
              <a:t>73.2%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858000" y="1847088"/>
            <a:ext cx="2194560" cy="320040"/>
          </a:xfrm>
          <a:prstGeom prst="rect">
            <a:avLst/>
          </a:prstGeom>
          <a:solidFill>
            <a:srgbClr val="E8ED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885432" y="1883664"/>
            <a:ext cx="21396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1E2761"/>
                </a:solidFill>
              </a:rPr>
              <a:t>▲ Attach em evolução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57200" y="2194560"/>
            <a:ext cx="320040" cy="320040"/>
          </a:xfrm>
          <a:prstGeom prst="rect">
            <a:avLst/>
          </a:prstGeom>
          <a:solidFill>
            <a:srgbClr val="D5D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84632" y="2231136"/>
            <a:ext cx="2651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1E2761"/>
                </a:solidFill>
              </a:rPr>
              <a:t>4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13816" y="2194560"/>
            <a:ext cx="2468880" cy="320040"/>
          </a:xfrm>
          <a:prstGeom prst="rect">
            <a:avLst/>
          </a:prstGeom>
          <a:solidFill>
            <a:srgbClr val="141C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41248" y="2231136"/>
            <a:ext cx="24140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CADCFC"/>
                </a:solidFill>
              </a:rPr>
              <a:t>Cariacica — Gabriel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319272" y="2194560"/>
            <a:ext cx="1371600" cy="320040"/>
          </a:xfrm>
          <a:prstGeom prst="rect">
            <a:avLst/>
          </a:prstGeom>
          <a:solidFill>
            <a:srgbClr val="D5D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346704" y="2231136"/>
            <a:ext cx="13167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1E2761"/>
                </a:solidFill>
              </a:rPr>
              <a:t>R$ 8,486.00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727448" y="2194560"/>
            <a:ext cx="1371600" cy="320040"/>
          </a:xfrm>
          <a:prstGeom prst="rect">
            <a:avLst/>
          </a:prstGeom>
          <a:solidFill>
            <a:srgbClr val="D5D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754880" y="2231136"/>
            <a:ext cx="13167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1E2761"/>
                </a:solidFill>
              </a:rPr>
              <a:t>R$ 25,000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135624" y="2194560"/>
            <a:ext cx="685800" cy="32004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163056" y="2231136"/>
            <a:ext cx="6309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FFFFFF"/>
                </a:solidFill>
              </a:rPr>
              <a:t>33.9%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858000" y="2194560"/>
            <a:ext cx="2194560" cy="32004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885432" y="2231136"/>
            <a:ext cx="21396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FFFFFF"/>
                </a:solidFill>
              </a:rPr>
              <a:t>🔴 Attach crítico — ação!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57200" y="2542032"/>
            <a:ext cx="320040" cy="320040"/>
          </a:xfrm>
          <a:prstGeom prst="rect">
            <a:avLst/>
          </a:prstGeom>
          <a:solidFill>
            <a:srgbClr val="E8ED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84632" y="2578608"/>
            <a:ext cx="2651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1E2761"/>
                </a:solidFill>
              </a:rPr>
              <a:t>5</a:t>
            </a:r>
          </a:p>
        </p:txBody>
      </p:sp>
      <p:sp>
        <p:nvSpPr>
          <p:cNvPr id="67" name="Rectangle 66"/>
          <p:cNvSpPr/>
          <p:nvPr/>
        </p:nvSpPr>
        <p:spPr>
          <a:xfrm>
            <a:off x="813816" y="2542032"/>
            <a:ext cx="2468880" cy="320040"/>
          </a:xfrm>
          <a:prstGeom prst="rect">
            <a:avLst/>
          </a:prstGeom>
          <a:solidFill>
            <a:srgbClr val="141C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41248" y="2578608"/>
            <a:ext cx="24140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CADCFC"/>
                </a:solidFill>
              </a:rPr>
              <a:t>Serra — Luiz</a:t>
            </a:r>
          </a:p>
        </p:txBody>
      </p:sp>
      <p:sp>
        <p:nvSpPr>
          <p:cNvPr id="69" name="Rectangle 68"/>
          <p:cNvSpPr/>
          <p:nvPr/>
        </p:nvSpPr>
        <p:spPr>
          <a:xfrm>
            <a:off x="3319272" y="2542032"/>
            <a:ext cx="1371600" cy="320040"/>
          </a:xfrm>
          <a:prstGeom prst="rect">
            <a:avLst/>
          </a:prstGeom>
          <a:solidFill>
            <a:srgbClr val="E8ED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3346704" y="2578608"/>
            <a:ext cx="13167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1E2761"/>
                </a:solidFill>
              </a:rPr>
              <a:t>R$ 8,153.97</a:t>
            </a:r>
          </a:p>
        </p:txBody>
      </p:sp>
      <p:sp>
        <p:nvSpPr>
          <p:cNvPr id="71" name="Rectangle 70"/>
          <p:cNvSpPr/>
          <p:nvPr/>
        </p:nvSpPr>
        <p:spPr>
          <a:xfrm>
            <a:off x="4727448" y="2542032"/>
            <a:ext cx="1371600" cy="320040"/>
          </a:xfrm>
          <a:prstGeom prst="rect">
            <a:avLst/>
          </a:prstGeom>
          <a:solidFill>
            <a:srgbClr val="E8ED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4754880" y="2578608"/>
            <a:ext cx="13167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1E2761"/>
                </a:solidFill>
              </a:rPr>
              <a:t>R$ 20,000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135624" y="2542032"/>
            <a:ext cx="685800" cy="320040"/>
          </a:xfrm>
          <a:prstGeom prst="rect">
            <a:avLst/>
          </a:prstGeom>
          <a:solidFill>
            <a:srgbClr val="FFF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163056" y="2578608"/>
            <a:ext cx="6309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1E2761"/>
                </a:solidFill>
              </a:rPr>
              <a:t>40.8%</a:t>
            </a:r>
          </a:p>
        </p:txBody>
      </p:sp>
      <p:sp>
        <p:nvSpPr>
          <p:cNvPr id="75" name="Rectangle 74"/>
          <p:cNvSpPr/>
          <p:nvPr/>
        </p:nvSpPr>
        <p:spPr>
          <a:xfrm>
            <a:off x="6858000" y="2542032"/>
            <a:ext cx="2194560" cy="320040"/>
          </a:xfrm>
          <a:prstGeom prst="rect">
            <a:avLst/>
          </a:prstGeom>
          <a:solidFill>
            <a:srgbClr val="FFF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885432" y="2578608"/>
            <a:ext cx="21396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1E2761"/>
                </a:solidFill>
              </a:rPr>
              <a:t>● Reforçar combo obrig.</a:t>
            </a:r>
          </a:p>
        </p:txBody>
      </p:sp>
      <p:sp>
        <p:nvSpPr>
          <p:cNvPr id="77" name="Rectangle 76"/>
          <p:cNvSpPr/>
          <p:nvPr/>
        </p:nvSpPr>
        <p:spPr>
          <a:xfrm>
            <a:off x="457200" y="2889504"/>
            <a:ext cx="320040" cy="320040"/>
          </a:xfrm>
          <a:prstGeom prst="rect">
            <a:avLst/>
          </a:prstGeom>
          <a:solidFill>
            <a:srgbClr val="D5D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484632" y="2926080"/>
            <a:ext cx="2651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1E2761"/>
                </a:solidFill>
              </a:rPr>
              <a:t>6</a:t>
            </a:r>
          </a:p>
        </p:txBody>
      </p:sp>
      <p:sp>
        <p:nvSpPr>
          <p:cNvPr id="79" name="Rectangle 78"/>
          <p:cNvSpPr/>
          <p:nvPr/>
        </p:nvSpPr>
        <p:spPr>
          <a:xfrm>
            <a:off x="813816" y="2889504"/>
            <a:ext cx="2468880" cy="320040"/>
          </a:xfrm>
          <a:prstGeom prst="rect">
            <a:avLst/>
          </a:prstGeom>
          <a:solidFill>
            <a:srgbClr val="141C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841248" y="2926080"/>
            <a:ext cx="24140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CADCFC"/>
                </a:solidFill>
              </a:rPr>
              <a:t>Teixeira — Junior Dias</a:t>
            </a:r>
          </a:p>
        </p:txBody>
      </p:sp>
      <p:sp>
        <p:nvSpPr>
          <p:cNvPr id="81" name="Rectangle 80"/>
          <p:cNvSpPr/>
          <p:nvPr/>
        </p:nvSpPr>
        <p:spPr>
          <a:xfrm>
            <a:off x="3319272" y="2889504"/>
            <a:ext cx="1371600" cy="320040"/>
          </a:xfrm>
          <a:prstGeom prst="rect">
            <a:avLst/>
          </a:prstGeom>
          <a:solidFill>
            <a:srgbClr val="D5D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3346704" y="2926080"/>
            <a:ext cx="13167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1E2761"/>
                </a:solidFill>
              </a:rPr>
              <a:t>R$ 7,158.01</a:t>
            </a:r>
          </a:p>
        </p:txBody>
      </p:sp>
      <p:sp>
        <p:nvSpPr>
          <p:cNvPr id="83" name="Rectangle 82"/>
          <p:cNvSpPr/>
          <p:nvPr/>
        </p:nvSpPr>
        <p:spPr>
          <a:xfrm>
            <a:off x="4727448" y="2889504"/>
            <a:ext cx="1371600" cy="320040"/>
          </a:xfrm>
          <a:prstGeom prst="rect">
            <a:avLst/>
          </a:prstGeom>
          <a:solidFill>
            <a:srgbClr val="D5D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4754880" y="2926080"/>
            <a:ext cx="13167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1E2761"/>
                </a:solidFill>
              </a:rPr>
              <a:t>R$ 8,000</a:t>
            </a:r>
          </a:p>
        </p:txBody>
      </p:sp>
      <p:sp>
        <p:nvSpPr>
          <p:cNvPr id="85" name="Rectangle 84"/>
          <p:cNvSpPr/>
          <p:nvPr/>
        </p:nvSpPr>
        <p:spPr>
          <a:xfrm>
            <a:off x="6135624" y="2889504"/>
            <a:ext cx="685800" cy="320040"/>
          </a:xfrm>
          <a:prstGeom prst="rect">
            <a:avLst/>
          </a:prstGeom>
          <a:solidFill>
            <a:srgbClr val="E8ED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6163056" y="2926080"/>
            <a:ext cx="6309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1E2761"/>
                </a:solidFill>
              </a:rPr>
              <a:t>89.5%</a:t>
            </a:r>
          </a:p>
        </p:txBody>
      </p:sp>
      <p:sp>
        <p:nvSpPr>
          <p:cNvPr id="87" name="Rectangle 86"/>
          <p:cNvSpPr/>
          <p:nvPr/>
        </p:nvSpPr>
        <p:spPr>
          <a:xfrm>
            <a:off x="6858000" y="2889504"/>
            <a:ext cx="2194560" cy="320040"/>
          </a:xfrm>
          <a:prstGeom prst="rect">
            <a:avLst/>
          </a:prstGeom>
          <a:solidFill>
            <a:srgbClr val="E8ED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6885432" y="2926080"/>
            <a:ext cx="21396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1E2761"/>
                </a:solidFill>
              </a:rPr>
              <a:t>▲ Attach em evolução</a:t>
            </a:r>
          </a:p>
        </p:txBody>
      </p:sp>
      <p:sp>
        <p:nvSpPr>
          <p:cNvPr id="89" name="Rectangle 88"/>
          <p:cNvSpPr/>
          <p:nvPr/>
        </p:nvSpPr>
        <p:spPr>
          <a:xfrm>
            <a:off x="457200" y="3236976"/>
            <a:ext cx="320040" cy="320040"/>
          </a:xfrm>
          <a:prstGeom prst="rect">
            <a:avLst/>
          </a:prstGeom>
          <a:solidFill>
            <a:srgbClr val="E8ED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484632" y="3273552"/>
            <a:ext cx="2651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1E2761"/>
                </a:solidFill>
              </a:rPr>
              <a:t>7</a:t>
            </a:r>
          </a:p>
        </p:txBody>
      </p:sp>
      <p:sp>
        <p:nvSpPr>
          <p:cNvPr id="91" name="Rectangle 90"/>
          <p:cNvSpPr/>
          <p:nvPr/>
        </p:nvSpPr>
        <p:spPr>
          <a:xfrm>
            <a:off x="813816" y="3236976"/>
            <a:ext cx="2468880" cy="320040"/>
          </a:xfrm>
          <a:prstGeom prst="rect">
            <a:avLst/>
          </a:prstGeom>
          <a:solidFill>
            <a:srgbClr val="141C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841248" y="3273552"/>
            <a:ext cx="24140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CADCFC"/>
                </a:solidFill>
              </a:rPr>
              <a:t>Itabuna — Reinan</a:t>
            </a:r>
          </a:p>
        </p:txBody>
      </p:sp>
      <p:sp>
        <p:nvSpPr>
          <p:cNvPr id="93" name="Rectangle 92"/>
          <p:cNvSpPr/>
          <p:nvPr/>
        </p:nvSpPr>
        <p:spPr>
          <a:xfrm>
            <a:off x="3319272" y="3236976"/>
            <a:ext cx="1371600" cy="320040"/>
          </a:xfrm>
          <a:prstGeom prst="rect">
            <a:avLst/>
          </a:prstGeom>
          <a:solidFill>
            <a:srgbClr val="E8ED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3346704" y="3273552"/>
            <a:ext cx="13167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1E2761"/>
                </a:solidFill>
              </a:rPr>
              <a:t>R$ 6,620.92</a:t>
            </a:r>
          </a:p>
        </p:txBody>
      </p:sp>
      <p:sp>
        <p:nvSpPr>
          <p:cNvPr id="95" name="Rectangle 94"/>
          <p:cNvSpPr/>
          <p:nvPr/>
        </p:nvSpPr>
        <p:spPr>
          <a:xfrm>
            <a:off x="4727448" y="3236976"/>
            <a:ext cx="1371600" cy="320040"/>
          </a:xfrm>
          <a:prstGeom prst="rect">
            <a:avLst/>
          </a:prstGeom>
          <a:solidFill>
            <a:srgbClr val="E8ED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4754880" y="3273552"/>
            <a:ext cx="13167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1E2761"/>
                </a:solidFill>
              </a:rPr>
              <a:t>R$ 15,000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135624" y="3236976"/>
            <a:ext cx="685800" cy="320040"/>
          </a:xfrm>
          <a:prstGeom prst="rect">
            <a:avLst/>
          </a:prstGeom>
          <a:solidFill>
            <a:srgbClr val="FFF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163056" y="3273552"/>
            <a:ext cx="6309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1E2761"/>
                </a:solidFill>
              </a:rPr>
              <a:t>44.1%</a:t>
            </a:r>
          </a:p>
        </p:txBody>
      </p:sp>
      <p:sp>
        <p:nvSpPr>
          <p:cNvPr id="99" name="Rectangle 98"/>
          <p:cNvSpPr/>
          <p:nvPr/>
        </p:nvSpPr>
        <p:spPr>
          <a:xfrm>
            <a:off x="6858000" y="3236976"/>
            <a:ext cx="2194560" cy="320040"/>
          </a:xfrm>
          <a:prstGeom prst="rect">
            <a:avLst/>
          </a:prstGeom>
          <a:solidFill>
            <a:srgbClr val="FFF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6885432" y="3273552"/>
            <a:ext cx="21396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1E2761"/>
                </a:solidFill>
              </a:rPr>
              <a:t>● Reforçar combo obrig.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457200" y="3584448"/>
            <a:ext cx="320040" cy="320040"/>
          </a:xfrm>
          <a:prstGeom prst="rect">
            <a:avLst/>
          </a:prstGeom>
          <a:solidFill>
            <a:srgbClr val="D5D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484632" y="3621024"/>
            <a:ext cx="2651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1E2761"/>
                </a:solidFill>
              </a:rPr>
              <a:t>8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813816" y="3584448"/>
            <a:ext cx="2468880" cy="320040"/>
          </a:xfrm>
          <a:prstGeom prst="rect">
            <a:avLst/>
          </a:prstGeom>
          <a:solidFill>
            <a:srgbClr val="141C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841248" y="3621024"/>
            <a:ext cx="24140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CADCFC"/>
                </a:solidFill>
              </a:rPr>
              <a:t>Barreiras — Daniela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3319272" y="3584448"/>
            <a:ext cx="1371600" cy="320040"/>
          </a:xfrm>
          <a:prstGeom prst="rect">
            <a:avLst/>
          </a:prstGeom>
          <a:solidFill>
            <a:srgbClr val="D5D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3346704" y="3621024"/>
            <a:ext cx="13167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1E2761"/>
                </a:solidFill>
              </a:rPr>
              <a:t>R$ 4,814.08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4727448" y="3584448"/>
            <a:ext cx="1371600" cy="320040"/>
          </a:xfrm>
          <a:prstGeom prst="rect">
            <a:avLst/>
          </a:prstGeom>
          <a:solidFill>
            <a:srgbClr val="D5D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4754880" y="3621024"/>
            <a:ext cx="13167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1E2761"/>
                </a:solidFill>
              </a:rPr>
              <a:t>R$ 10,000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6135624" y="3584448"/>
            <a:ext cx="685800" cy="320040"/>
          </a:xfrm>
          <a:prstGeom prst="rect">
            <a:avLst/>
          </a:prstGeom>
          <a:solidFill>
            <a:srgbClr val="FFF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6163056" y="3621024"/>
            <a:ext cx="6309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1E2761"/>
                </a:solidFill>
              </a:rPr>
              <a:t>48.1%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858000" y="3584448"/>
            <a:ext cx="2194560" cy="320040"/>
          </a:xfrm>
          <a:prstGeom prst="rect">
            <a:avLst/>
          </a:prstGeom>
          <a:solidFill>
            <a:srgbClr val="FFF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885432" y="3621024"/>
            <a:ext cx="21396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1E2761"/>
                </a:solidFill>
              </a:rPr>
              <a:t>● Reforçar combo obrig.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457200" y="3931920"/>
            <a:ext cx="320040" cy="320040"/>
          </a:xfrm>
          <a:prstGeom prst="rect">
            <a:avLst/>
          </a:prstGeom>
          <a:solidFill>
            <a:srgbClr val="E8ED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484632" y="3968496"/>
            <a:ext cx="2651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1E2761"/>
                </a:solidFill>
              </a:rPr>
              <a:t>9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813816" y="3931920"/>
            <a:ext cx="2468880" cy="320040"/>
          </a:xfrm>
          <a:prstGeom prst="rect">
            <a:avLst/>
          </a:prstGeom>
          <a:solidFill>
            <a:srgbClr val="141C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841248" y="3968496"/>
            <a:ext cx="24140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CADCFC"/>
                </a:solidFill>
              </a:rPr>
              <a:t>Praia da Costa — Renato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3319272" y="3931920"/>
            <a:ext cx="1371600" cy="320040"/>
          </a:xfrm>
          <a:prstGeom prst="rect">
            <a:avLst/>
          </a:prstGeom>
          <a:solidFill>
            <a:srgbClr val="E8ED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3346704" y="3968496"/>
            <a:ext cx="13167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1E2761"/>
                </a:solidFill>
              </a:rPr>
              <a:t>R$ 3,270.00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4727448" y="3931920"/>
            <a:ext cx="1371600" cy="320040"/>
          </a:xfrm>
          <a:prstGeom prst="rect">
            <a:avLst/>
          </a:prstGeom>
          <a:solidFill>
            <a:srgbClr val="E8ED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4754880" y="3968496"/>
            <a:ext cx="13167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1E2761"/>
                </a:solidFill>
              </a:rPr>
              <a:t>R$ 5,000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6135624" y="3931920"/>
            <a:ext cx="685800" cy="320040"/>
          </a:xfrm>
          <a:prstGeom prst="rect">
            <a:avLst/>
          </a:prstGeom>
          <a:solidFill>
            <a:srgbClr val="FFF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6163056" y="3968496"/>
            <a:ext cx="6309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1E2761"/>
                </a:solidFill>
              </a:rPr>
              <a:t>65.4%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6858000" y="3931920"/>
            <a:ext cx="2194560" cy="320040"/>
          </a:xfrm>
          <a:prstGeom prst="rect">
            <a:avLst/>
          </a:prstGeom>
          <a:solidFill>
            <a:srgbClr val="FFF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6885432" y="3968496"/>
            <a:ext cx="21396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1E2761"/>
                </a:solidFill>
              </a:rPr>
              <a:t>● Reforçar combo obrig.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457200" y="4279392"/>
            <a:ext cx="320040" cy="320040"/>
          </a:xfrm>
          <a:prstGeom prst="rect">
            <a:avLst/>
          </a:prstGeom>
          <a:solidFill>
            <a:srgbClr val="D5D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484632" y="4315968"/>
            <a:ext cx="2651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1E2761"/>
                </a:solidFill>
              </a:rPr>
              <a:t>10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813816" y="4279392"/>
            <a:ext cx="2468880" cy="320040"/>
          </a:xfrm>
          <a:prstGeom prst="rect">
            <a:avLst/>
          </a:prstGeom>
          <a:solidFill>
            <a:srgbClr val="141C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841248" y="4315968"/>
            <a:ext cx="24140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CADCFC"/>
                </a:solidFill>
              </a:rPr>
              <a:t>Linhares — Kristian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3319272" y="4279392"/>
            <a:ext cx="1371600" cy="320040"/>
          </a:xfrm>
          <a:prstGeom prst="rect">
            <a:avLst/>
          </a:prstGeom>
          <a:solidFill>
            <a:srgbClr val="D5D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3346704" y="4315968"/>
            <a:ext cx="13167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1E2761"/>
                </a:solidFill>
              </a:rPr>
              <a:t>R$ 2,649.99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4727448" y="4279392"/>
            <a:ext cx="1371600" cy="320040"/>
          </a:xfrm>
          <a:prstGeom prst="rect">
            <a:avLst/>
          </a:prstGeom>
          <a:solidFill>
            <a:srgbClr val="D5D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4754880" y="4315968"/>
            <a:ext cx="13167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1E2761"/>
                </a:solidFill>
              </a:rPr>
              <a:t>R$ 15,000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6135624" y="4279392"/>
            <a:ext cx="685800" cy="32004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6163056" y="4315968"/>
            <a:ext cx="6309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FFFFFF"/>
                </a:solidFill>
              </a:rPr>
              <a:t>17.7%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6858000" y="4279392"/>
            <a:ext cx="2194560" cy="32004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6885432" y="4315968"/>
            <a:ext cx="21396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FFFFFF"/>
                </a:solidFill>
              </a:rPr>
              <a:t>🔴 Attach crítico — ação!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457200" y="4626864"/>
            <a:ext cx="320040" cy="320040"/>
          </a:xfrm>
          <a:prstGeom prst="rect">
            <a:avLst/>
          </a:prstGeom>
          <a:solidFill>
            <a:srgbClr val="E8ED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484632" y="4663440"/>
            <a:ext cx="2651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1E2761"/>
                </a:solidFill>
              </a:rPr>
              <a:t>11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813816" y="4626864"/>
            <a:ext cx="2468880" cy="320040"/>
          </a:xfrm>
          <a:prstGeom prst="rect">
            <a:avLst/>
          </a:prstGeom>
          <a:solidFill>
            <a:srgbClr val="141C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841248" y="4663440"/>
            <a:ext cx="24140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CADCFC"/>
                </a:solidFill>
              </a:rPr>
              <a:t>Laranjeiras — Jhenifer E.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3319272" y="4626864"/>
            <a:ext cx="1371600" cy="320040"/>
          </a:xfrm>
          <a:prstGeom prst="rect">
            <a:avLst/>
          </a:prstGeom>
          <a:solidFill>
            <a:srgbClr val="E8ED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3346704" y="4663440"/>
            <a:ext cx="13167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1E2761"/>
                </a:solidFill>
              </a:rPr>
              <a:t>R$ 2,219.00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4727448" y="4626864"/>
            <a:ext cx="1371600" cy="320040"/>
          </a:xfrm>
          <a:prstGeom prst="rect">
            <a:avLst/>
          </a:prstGeom>
          <a:solidFill>
            <a:srgbClr val="E8ED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4754880" y="4663440"/>
            <a:ext cx="13167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1E2761"/>
                </a:solidFill>
              </a:rPr>
              <a:t>R$ 10,000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6135624" y="4626864"/>
            <a:ext cx="685800" cy="32004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6163056" y="4663440"/>
            <a:ext cx="6309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FFFFFF"/>
                </a:solidFill>
              </a:rPr>
              <a:t>22.2%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6858000" y="4626864"/>
            <a:ext cx="2194560" cy="32004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TextBox 147"/>
          <p:cNvSpPr txBox="1"/>
          <p:nvPr/>
        </p:nvSpPr>
        <p:spPr>
          <a:xfrm>
            <a:off x="6885432" y="4663440"/>
            <a:ext cx="21396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FFFFFF"/>
                </a:solidFill>
              </a:rPr>
              <a:t>🔴 Attach crítico — ação!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457200" y="4974336"/>
            <a:ext cx="320040" cy="34747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493776" y="5029200"/>
            <a:ext cx="24688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1E2761"/>
                </a:solidFill>
              </a:rPr>
              <a:t>—</a:t>
            </a:r>
          </a:p>
        </p:txBody>
      </p:sp>
      <p:sp>
        <p:nvSpPr>
          <p:cNvPr id="151" name="Rectangle 150"/>
          <p:cNvSpPr/>
          <p:nvPr/>
        </p:nvSpPr>
        <p:spPr>
          <a:xfrm>
            <a:off x="813816" y="4974336"/>
            <a:ext cx="2468880" cy="34747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TextBox 151"/>
          <p:cNvSpPr txBox="1"/>
          <p:nvPr/>
        </p:nvSpPr>
        <p:spPr>
          <a:xfrm>
            <a:off x="850392" y="5029200"/>
            <a:ext cx="23957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1E2761"/>
                </a:solidFill>
              </a:rPr>
              <a:t>TOTAL REDE — 11 LOJAS</a:t>
            </a:r>
          </a:p>
        </p:txBody>
      </p:sp>
      <p:sp>
        <p:nvSpPr>
          <p:cNvPr id="153" name="Rectangle 152"/>
          <p:cNvSpPr/>
          <p:nvPr/>
        </p:nvSpPr>
        <p:spPr>
          <a:xfrm>
            <a:off x="3319272" y="4974336"/>
            <a:ext cx="1371600" cy="34747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TextBox 153"/>
          <p:cNvSpPr txBox="1"/>
          <p:nvPr/>
        </p:nvSpPr>
        <p:spPr>
          <a:xfrm>
            <a:off x="3355848" y="5029200"/>
            <a:ext cx="12984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1E2761"/>
                </a:solidFill>
              </a:rPr>
              <a:t>R$ 86,580.03</a:t>
            </a:r>
          </a:p>
        </p:txBody>
      </p:sp>
      <p:sp>
        <p:nvSpPr>
          <p:cNvPr id="155" name="Rectangle 154"/>
          <p:cNvSpPr/>
          <p:nvPr/>
        </p:nvSpPr>
        <p:spPr>
          <a:xfrm>
            <a:off x="4727448" y="4974336"/>
            <a:ext cx="1371600" cy="34747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4764024" y="5029200"/>
            <a:ext cx="12984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1E2761"/>
                </a:solidFill>
              </a:rPr>
              <a:t>R$ 158,000</a:t>
            </a:r>
          </a:p>
        </p:txBody>
      </p:sp>
      <p:sp>
        <p:nvSpPr>
          <p:cNvPr id="157" name="Rectangle 156"/>
          <p:cNvSpPr/>
          <p:nvPr/>
        </p:nvSpPr>
        <p:spPr>
          <a:xfrm>
            <a:off x="6135624" y="4974336"/>
            <a:ext cx="685800" cy="34747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TextBox 157"/>
          <p:cNvSpPr txBox="1"/>
          <p:nvPr/>
        </p:nvSpPr>
        <p:spPr>
          <a:xfrm>
            <a:off x="6172200" y="5029200"/>
            <a:ext cx="6126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1E2761"/>
                </a:solidFill>
              </a:rPr>
              <a:t>54.8%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6858000" y="4974336"/>
            <a:ext cx="2194560" cy="34747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6894576" y="5029200"/>
            <a:ext cx="21214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1E2761"/>
                </a:solidFill>
              </a:rPr>
              <a:t>54,8% — Attach rate: PRIORIDADE MAI</a:t>
            </a:r>
          </a:p>
        </p:txBody>
      </p:sp>
      <p:sp>
        <p:nvSpPr>
          <p:cNvPr id="161" name="Rectangle 160"/>
          <p:cNvSpPr/>
          <p:nvPr/>
        </p:nvSpPr>
        <p:spPr>
          <a:xfrm>
            <a:off x="0" y="4800600"/>
            <a:ext cx="9144000" cy="320040"/>
          </a:xfrm>
          <a:prstGeom prst="rect">
            <a:avLst/>
          </a:prstGeom>
          <a:solidFill>
            <a:srgbClr val="141C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TextBox 161"/>
          <p:cNvSpPr txBox="1"/>
          <p:nvPr/>
        </p:nvSpPr>
        <p:spPr>
          <a:xfrm>
            <a:off x="548640" y="4846320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CADCFC"/>
                </a:solidFill>
              </a:rPr>
              <a:t>REDE TITÃS  ·  RESULTADO FINAL ABRIL 2026  ·  PLANEJAMENTO Q2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Planejamento Estratégico Q2 2026 — Rede Titãs</dc:title>
  <dc:subject>PptxGenJS Presentation</dc:subject>
  <dc:creator>Melo e Neto</dc:creator>
  <cp:lastModifiedBy>Melo e Neto</cp:lastModifiedBy>
  <cp:revision>1</cp:revision>
  <dcterms:created xsi:type="dcterms:W3CDTF">2026-04-01T02:11:19Z</dcterms:created>
  <dcterms:modified xsi:type="dcterms:W3CDTF">2026-04-01T02:11:19Z</dcterms:modified>
</cp:coreProperties>
</file>